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($)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9AA4C7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XGBoost</c:v>
                  </c:pt>
                  <c:pt idx="1">
                    <c:v>Extra Trees</c:v>
                  </c:pt>
                  <c:pt idx="2">
                    <c:v>Random Forest</c:v>
                  </c:pt>
                  <c:pt idx="3">
                    <c:v>Gradient
Boosting</c:v>
                  </c:pt>
                  <c:pt idx="4">
                    <c:v>MLP</c:v>
                  </c:pt>
                  <c:pt idx="5">
                    <c:v>KNN</c:v>
                  </c:pt>
                  <c:pt idx="6">
                    <c:v>SVR</c:v>
                  </c:pt>
                  <c:pt idx="7">
                    <c:v>Decision
Tree</c:v>
                  </c:pt>
                  <c:pt idx="8">
                    <c:v>Linear Reg.</c:v>
                  </c:pt>
                  <c:pt idx="9">
                    <c:v>Ridge</c:v>
                  </c:pt>
                  <c:pt idx="10">
                    <c:v>Lasso</c:v>
                  </c:pt>
                  <c:pt idx="11">
                    <c:v>ElasticNet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85.05</c:v>
                </c:pt>
                <c:pt idx="1">
                  <c:v>85.07</c:v>
                </c:pt>
                <c:pt idx="2">
                  <c:v>85.64</c:v>
                </c:pt>
                <c:pt idx="3">
                  <c:v>87.55</c:v>
                </c:pt>
                <c:pt idx="4">
                  <c:v>88.46</c:v>
                </c:pt>
                <c:pt idx="5">
                  <c:v>89.22</c:v>
                </c:pt>
                <c:pt idx="6">
                  <c:v>93.2</c:v>
                </c:pt>
                <c:pt idx="7">
                  <c:v>93.59</c:v>
                </c:pt>
                <c:pt idx="8">
                  <c:v>93.65</c:v>
                </c:pt>
                <c:pt idx="9">
                  <c:v>93.65</c:v>
                </c:pt>
                <c:pt idx="10">
                  <c:v>93.95</c:v>
                </c:pt>
                <c:pt idx="11">
                  <c:v>98.08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F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8EA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7280"/>
                    </a:solidFill>
                    <a:latin typeface="Arial"/>
                  </a:rPr>
                  <a:t>RMSE ($) - plus bas = meilleur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754880"/>
            <a:ext cx="4572000" cy="45720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MACHINE LEARNING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 des prix de location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Airbnb a New York City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12 algorithmes de regression, optimisation des hyperparametres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application interactive d'aide a la decision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120640"/>
            <a:ext cx="2926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349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Ines Kasdi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- Donnees Kaggle NYC Airbnb Open Data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github.com/kasdiines/airbnb-nyc-price-prediction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SOUTENANCE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problematique et objectifs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32304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42032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542032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scientifique et choix technologiques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55264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255264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et analyse exploratoire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968496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68496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Methodologie : pretraitement, features, pipeline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828800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828800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12 modeles et optimisation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2432304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72200" y="2542032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542032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Resultats, analyse critique et demonstration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3145536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3255264"/>
            <a:ext cx="822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255264"/>
            <a:ext cx="4206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Difficultes, conclusion et perspectives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3858768"/>
            <a:ext cx="5074920" cy="0"/>
          </a:xfrm>
          <a:prstGeom prst="line">
            <a:avLst/>
          </a:prstGeom>
          <a:noFill/>
          <a:ln w="12700">
            <a:solidFill>
              <a:srgbClr val="E2E4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. INTRODUCTION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problematique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800"/>
              </a:spcAft>
              <a:buSzPct val="100000"/>
              <a:buChar char="●"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 : des dizaines de milliers d'annonces a New York, des prix tres heterogenes selon le quartier, le type de logement et la popularite de l'hote.</a:t>
            </a:r>
            <a:endParaRPr lang="en-US" sz="1500" dirty="0"/>
          </a:p>
          <a:p>
            <a:pPr marL="228600" indent="-228600">
              <a:spcAft>
                <a:spcPts val="1800"/>
              </a:spcAft>
              <a:buSzPct val="100000"/>
              <a:buChar char="●"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hote fixe son prix sans reference objective ; un voyageur ne sait pas si le tarif propose est coherent avec le marche local.</a:t>
            </a:r>
            <a:endParaRPr lang="en-US" sz="1500" dirty="0"/>
          </a:p>
          <a:p>
            <a:pPr marL="228600" indent="-228600">
              <a:spcAft>
                <a:spcPts val="1800"/>
              </a:spcAft>
              <a:buSzPct val="100000"/>
              <a:buChar char="●"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centrale : peut-on predire le prix d'une annonce a partir de ses seules caracteristiques structurelles et geographiques 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8745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Cardinalite elevee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3134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221 quartiers (neighbourhood) a encoder sans exploser la dimension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0" y="320040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0" y="3291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Non-linearite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363931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n'evolue pas lineairement avec la distance ou le nombre d'avis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0" y="452628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0" y="4617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manquante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496519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photos ni de texte : une partie du prix reste inexpliquee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. INTRODUCTION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64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Pretraiter rigoureusement les donnees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76479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aberrantes, valeurs manquantes, feature engineering, encodage adapte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606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au moins 10 algorithmes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60604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modeles testes : lineaires, ensembles d'arbres, SVR, reseau de neurones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47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 les hyperparametres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44728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sur les 3 meilleurs modeles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28853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Evaluer avec au moins 4 metriques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28853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RMSE, MAE, R2, MAPE + validation croisee a 5 plis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48072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12978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interface graphique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512978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exploration, entrainement, prediction en temps reel avec carte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. VEILLE SCIENTIFIQUE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Etat de l'art et choix technologiques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Revue de littérature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hédonique classique : simple mais ne capture pas les interactions (ex. l'effet du quartier dépend du type de logement).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Breiman (2001, Random Forest) et Chen &amp; Guestrin (2016, XGBoost) : les ensembles d'arbres dominent sur données tabulaires.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Littérature sur ce même dataset : R² généralement entre 0,5 et 0,65 sans variables textuelles/visuelles — confirme la limite structurelle attendue.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retenues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12280" y="207568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23774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pipelines, 12 modeles, validation croisee — standard du secteur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30632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30358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3375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boosting, etat de l'art sur donnees tabulaires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402336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39959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4297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interactive en pur Python, rapide a developper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498348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49560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 librairie testee permettant de capter un clic utilisateur sur la carte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. DONNEES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jeu de donnees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City Airbnb Open Data - Kaggle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48 895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358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brutes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1945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23317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0358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21945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23317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0358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arrondissements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6817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quartiers distincts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43400" y="3840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48 389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6817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apres nettoyage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38160" y="3840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C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1,01 %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6817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prix aberrants retires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. DONNEES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exploratoire : deux variables dominantes</a:t>
            </a:r>
            <a:endParaRPr lang="en-US" sz="3200" dirty="0"/>
          </a:p>
        </p:txBody>
      </p:sp>
      <p:pic>
        <p:nvPicPr>
          <p:cNvPr id="4" name="Image 0" descr="C:\Users\Asus\Downloads\Airbnb\reports\figures\02_boxplot_prix_arrondiss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3200400"/>
          </a:xfrm>
          <a:prstGeom prst="rect">
            <a:avLst/>
          </a:prstGeom>
        </p:spPr>
      </p:pic>
      <p:pic>
        <p:nvPicPr>
          <p:cNvPr id="5" name="Image 1" descr="C:\Users\Asus\Downloads\Airbnb\reports\figures\03_boxplot_prix_room_ty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39496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74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Arrondissement 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(149,5 $ median) domine largement le Bronx (68 $).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de logement 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logement entier coute 2 a 3 fois plus qu'une chambre privee ou partagee.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. METHODOLOGIE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Pretraitement et feature engineering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126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prix nuls et extremes (percentiles 0,5% / 99,5%) : 492 lignes retirees.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: reviews_per_month a 0, ancienneté du dernier avis imputee pour les annonces sans avis.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distance_center_km : distance haversine au centre de Manhattan (feature la plus correlee au prix apres le type de logement).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neighbourhood_freq : encodage par frequence pour la variable a 221 modalites (evite l'explosion du one-hot).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sur neighbourhood_group et room_type ; StandardScaler sur les variables numeriques.</a:t>
            </a:r>
            <a:endParaRPr lang="en-US" sz="1350" dirty="0"/>
          </a:p>
        </p:txBody>
      </p:sp>
      <p:pic>
        <p:nvPicPr>
          <p:cNvPr id="5" name="Image 0" descr="C:\Users\Asus\Downloads\Airbnb\reports\figures\04_heatmap_corre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691640"/>
            <a:ext cx="4663440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. METHODOLOGIE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23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394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AB_NYC_2019.csv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394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brutes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(Kaggle)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71216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741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12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preprocessing.py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encodage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843016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3459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830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eda.py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train_models.py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modeles compares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814816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9317736" y="265176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F96167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454896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(Streamlit)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454896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E8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Meme protocole pour tous les modeles : 80/20 train-test, validation croisee a 5 plis, graine fixee (42)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. RESULTATS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Comparaison de 12 algorithmes (RMSE test)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37360"/>
          <a:ext cx="11247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methodes d'ensemble a base d'arbres (coral) dominent nettement les modeles lineaires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. RESULTATS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Modele final : XGBoost optimise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84708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84,49 $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(test)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20440" y="173736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57600" y="184708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48,35 $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45059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(test)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317296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0,453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7647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(test)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20440" y="30632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657600" y="3172968"/>
            <a:ext cx="25146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36,1 %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76472"/>
            <a:ext cx="251460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(test)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805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Hyperparametres retenus (RandomizedSearchCV, cv=3) :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463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= 400, max_depth = 6, learning_rate = 0,03, subsample = 0,7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vs version par defaut : RMSE 85,05 $ → 84,49 $ (-0,66 %)</a:t>
            </a:r>
            <a:endParaRPr lang="en-US" sz="1250" dirty="0"/>
          </a:p>
        </p:txBody>
      </p:sp>
      <p:pic>
        <p:nvPicPr>
          <p:cNvPr id="18" name="Image 0" descr="C:\Users\Asus\Downloads\Airbnb\reports\figures\07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37360"/>
            <a:ext cx="5029200" cy="45262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. ANALYSE CRITIQUE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forts et limites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EAF6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7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 complete : donnees -&gt; pretraitement -&gt; 12 modeles -&gt; optimisation -&gt; app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identique et reproductible pour tous les modeles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geographique original (distance haversine)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 fonctionnelle au-dela du simple notebook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DEC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assumees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≈ 0,45 : pas de photos/texte -&gt; variance structurellement inexpliquee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 entraine sur un sous-echantillon (6000 lignes) pour le temps de calcul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de 2019 : prix absolus non actualises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base de donnees persistante pour l'app (limite de portee du TP)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. DEMONSTRATION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Streamlit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476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des donnees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Statistiques, distribution des prix, carte des annonces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5F6FA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6596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9476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Entrainement / choix du modele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modeles parametrables, metriques en temps reel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5F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6596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19476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/ Prediction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utilisateur, prediction, carte, comparaison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reel de prediction (onglet Test)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2F3C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Bronx, Entire home/apt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Logement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166 $ / nuit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predit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87 $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moyen (Bronx)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1540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+79 $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4800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vs moyenne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. BILAN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Difficultes rencontrees et solutions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de neighbourhood (221 modalites)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8288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par frequence plutot que one-hot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7432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d'entrainement du SVR (O(n²)-O(n³))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27432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7432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Entrainement sur un sous-echantillon de 6000 lignes, documente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657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alpha : numpy/scikit-learn casses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3657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657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virtuel dedie en Python 3.12 (stable)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5720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interactive d'un point sur la carte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45720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5720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streamlit-folium pour capter l'evenement de clic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5F6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4864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du module src/ depuis l'app Streamlit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54864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54864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explicite de la racine du projet a sys.path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 et perspectives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objectifs du cahier des charges ont ete atteints ou depasses :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modeles compares (objectif : 10) avec un protocole identique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metriques + validation croisee a 5 plis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Hyperparametres optimises, modele final XGBoost (R² = 0,453)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 complete (exploration, entrainement, prediction + carte)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4231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avec les avis textuels et les photos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avec validation croisee imbriquee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XGBoost + Extra Trees + Random Forest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 cloud avec base de donnees persistante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232C5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pour votre attention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?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github.com/kasdiines/airbnb-nyc-price-prediction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Ines Kasdi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Universite - Projet Machine Learning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Ines Kasdi</dc:creator>
  <cp:lastModifiedBy>Ines Kasdi</cp:lastModifiedBy>
  <cp:revision>1</cp:revision>
  <dcterms:created xsi:type="dcterms:W3CDTF">2026-09-07T06:34:58Z</dcterms:created>
  <dcterms:modified xsi:type="dcterms:W3CDTF">2026-09-07T06:34:58Z</dcterms:modified>
</cp:coreProperties>
</file>