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RMSE ($)</c:v>
                </c:pt>
              </c:strCache>
            </c:strRef>
          </c:tx>
          <c:spPr>
            <a:solidFill>
              <a:srgbClr val="F96167"/>
            </a:solidFill>
            <a:effectLst/>
          </c:spPr>
          <c:invertIfNegative val="0"/>
          <c:dLbls>
            <c:numFmt formatCode="0.0" sourceLinked="0"/>
            <c:txPr>
              <a:bodyPr/>
              <a:lstStyle/>
              <a:p>
                <a:pPr>
                  <a:defRPr b="0" i="0" strike="noStrike" sz="1000" u="none">
                    <a:solidFill>
                      <a:srgbClr val="1B1F3B"/>
                    </a:solidFill>
                    <a:latin typeface="Arial"/>
                  </a:defRPr>
                </a:pPr>
              </a:p>
            </c:txPr>
            <c:showLegendKey val="0"/>
            <c:showVal val="1"/>
            <c:showCatName val="0"/>
            <c:showSerName val="0"/>
            <c:showPercent val="0"/>
            <c:showBubbleSize val="0"/>
            <c:showLeaderLines val="0"/>
          </c:dLbls>
          <c:dPt>
            <c:idx val="0"/>
            <c:invertIfNegative val="0"/>
            <c:bubble3D val="0"/>
            <c:spPr>
              <a:solidFill>
                <a:srgbClr val="F96167"/>
              </a:solidFill>
              <a:effectLst/>
            </c:spPr>
          </c:dPt>
          <c:dPt>
            <c:idx val="1"/>
            <c:invertIfNegative val="0"/>
            <c:bubble3D val="0"/>
            <c:spPr>
              <a:solidFill>
                <a:srgbClr val="F96167"/>
              </a:solidFill>
              <a:effectLst/>
            </c:spPr>
          </c:dPt>
          <c:dPt>
            <c:idx val="2"/>
            <c:invertIfNegative val="0"/>
            <c:bubble3D val="0"/>
            <c:spPr>
              <a:solidFill>
                <a:srgbClr val="F96167"/>
              </a:solidFill>
              <a:effectLst/>
            </c:spPr>
          </c:dPt>
          <c:dPt>
            <c:idx val="3"/>
            <c:invertIfNegative val="0"/>
            <c:bubble3D val="0"/>
            <c:spPr>
              <a:solidFill>
                <a:srgbClr val="9AA4C7"/>
              </a:solidFill>
              <a:effectLst/>
            </c:spPr>
          </c:dPt>
          <c:dPt>
            <c:idx val="4"/>
            <c:invertIfNegative val="0"/>
            <c:bubble3D val="0"/>
            <c:spPr>
              <a:solidFill>
                <a:srgbClr val="9AA4C7"/>
              </a:solidFill>
              <a:effectLst/>
            </c:spPr>
          </c:dPt>
          <c:dPt>
            <c:idx val="5"/>
            <c:invertIfNegative val="0"/>
            <c:bubble3D val="0"/>
            <c:spPr>
              <a:solidFill>
                <a:srgbClr val="9AA4C7"/>
              </a:solidFill>
              <a:effectLst/>
            </c:spPr>
          </c:dPt>
          <c:dPt>
            <c:idx val="6"/>
            <c:invertIfNegative val="0"/>
            <c:bubble3D val="0"/>
            <c:spPr>
              <a:solidFill>
                <a:srgbClr val="9AA4C7"/>
              </a:solidFill>
              <a:effectLst/>
            </c:spPr>
          </c:dPt>
          <c:dPt>
            <c:idx val="7"/>
            <c:invertIfNegative val="0"/>
            <c:bubble3D val="0"/>
            <c:spPr>
              <a:solidFill>
                <a:srgbClr val="9AA4C7"/>
              </a:solidFill>
              <a:effectLst/>
            </c:spPr>
          </c:dPt>
          <c:dPt>
            <c:idx val="8"/>
            <c:invertIfNegative val="0"/>
            <c:bubble3D val="0"/>
            <c:spPr>
              <a:solidFill>
                <a:srgbClr val="9AA4C7"/>
              </a:solidFill>
              <a:effectLst/>
            </c:spPr>
          </c:dPt>
          <c:dPt>
            <c:idx val="9"/>
            <c:invertIfNegative val="0"/>
            <c:bubble3D val="0"/>
            <c:spPr>
              <a:solidFill>
                <a:srgbClr val="9AA4C7"/>
              </a:solidFill>
              <a:effectLst/>
            </c:spPr>
          </c:dPt>
          <c:dPt>
            <c:idx val="10"/>
            <c:invertIfNegative val="0"/>
            <c:bubble3D val="0"/>
            <c:spPr>
              <a:solidFill>
                <a:srgbClr val="9AA4C7"/>
              </a:solidFill>
              <a:effectLst/>
            </c:spPr>
          </c:dPt>
          <c:dPt>
            <c:idx val="11"/>
            <c:invertIfNegative val="0"/>
            <c:bubble3D val="0"/>
            <c:spPr>
              <a:solidFill>
                <a:srgbClr val="9AA4C7"/>
              </a:solidFill>
              <a:effectLst/>
            </c:spPr>
          </c:dPt>
          <c:cat>
            <c:multiLvlStrRef>
              <c:f>Sheet1!$A$2:$A$13</c:f>
              <c:multiLvlStrCache>
                <c:ptCount val="12"/>
                <c:lvl>
                  <c:pt idx="0">
                    <c:v>XGBoost</c:v>
                  </c:pt>
                  <c:pt idx="1">
                    <c:v>Extra Trees</c:v>
                  </c:pt>
                  <c:pt idx="2">
                    <c:v>Random Forest</c:v>
                  </c:pt>
                  <c:pt idx="3">
                    <c:v>Gradient
Boosting</c:v>
                  </c:pt>
                  <c:pt idx="4">
                    <c:v>MLP</c:v>
                  </c:pt>
                  <c:pt idx="5">
                    <c:v>KNN</c:v>
                  </c:pt>
                  <c:pt idx="6">
                    <c:v>SVR</c:v>
                  </c:pt>
                  <c:pt idx="7">
                    <c:v>Decision
Tree</c:v>
                  </c:pt>
                  <c:pt idx="8">
                    <c:v>Linear Reg.</c:v>
                  </c:pt>
                  <c:pt idx="9">
                    <c:v>Ridge</c:v>
                  </c:pt>
                  <c:pt idx="10">
                    <c:v>Lasso</c:v>
                  </c:pt>
                  <c:pt idx="11">
                    <c:v>ElasticNet</c:v>
                  </c:pt>
                </c:lvl>
              </c:multiLvlStrCache>
            </c:multiLvlStrRef>
          </c:cat>
          <c:val>
            <c:numRef>
              <c:f>Sheet1!$B$2:$B$13</c:f>
              <c:numCache>
                <c:formatCode>General</c:formatCode>
                <c:ptCount val="12"/>
                <c:pt idx="0">
                  <c:v>85.05</c:v>
                </c:pt>
                <c:pt idx="1">
                  <c:v>85.07</c:v>
                </c:pt>
                <c:pt idx="2">
                  <c:v>85.64</c:v>
                </c:pt>
                <c:pt idx="3">
                  <c:v>87.55</c:v>
                </c:pt>
                <c:pt idx="4">
                  <c:v>88.46</c:v>
                </c:pt>
                <c:pt idx="5">
                  <c:v>89.22</c:v>
                </c:pt>
                <c:pt idx="6">
                  <c:v>93.2</c:v>
                </c:pt>
                <c:pt idx="7">
                  <c:v>93.59</c:v>
                </c:pt>
                <c:pt idx="8">
                  <c:v>93.65</c:v>
                </c:pt>
                <c:pt idx="9">
                  <c:v>93.65</c:v>
                </c:pt>
                <c:pt idx="10">
                  <c:v>93.95</c:v>
                </c:pt>
                <c:pt idx="11">
                  <c:v>98.08</c:v>
                </c:pt>
              </c:numCache>
            </c:numRef>
          </c:val>
        </c:ser>
        <c:dLbls>
          <c:numFmt formatCode="0.0" sourceLinked="0"/>
          <c:txPr>
            <a:bodyPr/>
            <a:lstStyle/>
            <a:p>
              <a:pPr>
                <a:defRPr b="0" i="0" strike="noStrike" sz="1000" u="none">
                  <a:solidFill>
                    <a:srgbClr val="1B1F3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1B1F3B"/>
                </a:solidFill>
                <a:latin typeface="Arial"/>
              </a:defRPr>
            </a:pPr>
            <a:endParaRPr lang="en-US"/>
          </a:p>
        </c:txPr>
        <c:crossAx val="2094734552"/>
        <c:crosses val="autoZero"/>
        <c:auto val="1"/>
        <c:lblAlgn val="ctr"/>
        <c:noMultiLvlLbl val="1"/>
      </c:catAx>
      <c:valAx>
        <c:axId val="2094734552"/>
        <c:scaling>
          <c:orientation val="minMax"/>
          <c:min val="0"/>
        </c:scaling>
        <c:delete val="0"/>
        <c:axPos val="l"/>
        <c:majorGridlines>
          <c:spPr>
            <a:ln w="12700" cap="flat">
              <a:solidFill>
                <a:srgbClr val="E8EAF0"/>
              </a:solidFill>
              <a:prstDash val="solid"/>
              <a:round/>
            </a:ln>
          </c:spPr>
        </c:majorGridlines>
        <c:title>
          <c:tx>
            <c:rich>
              <a:bodyPr/>
              <a:lstStyle/>
              <a:p>
                <a:pPr>
                  <a:defRPr sz="1100" b="0" i="0" u="none" strike="noStrike">
                    <a:solidFill>
                      <a:srgbClr val="6B7280"/>
                    </a:solidFill>
                    <a:latin typeface="Arial"/>
                  </a:defRPr>
                </a:pPr>
                <a:r>
                  <a:rPr sz="1100" b="0" i="0" u="none" strike="noStrike">
                    <a:solidFill>
                      <a:srgbClr val="6B7280"/>
                    </a:solidFill>
                    <a:latin typeface="Arial"/>
                  </a:rPr>
                  <a:t>RMSE ($) - plus bas = meilleur</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728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[~35s] Bonjour, je m'appelle Ines Kasdi. Mon projet predit le prix d'une nuit sur Airbnb a New York, a partir de caracteristiques comme le type de logement, la localisation et la popularite de l'annonce -- sans utiliser ni photos ni texte. J'ai compare douze algorithmes de Machine Learning avec un protocole rigoureux et identique pour tous, optimise les hyperparametres des trois meilleurs, et developpe une application interactive qui permet d'explorer les donnees, d'entrainer un modele au choix, et de tester une prediction en temps reel sur une carte. Le meilleur modele, XGBoost optimise, explique 45% de la variation du prix avec une erreur moyenne d'environ 48 dollars par nuit.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[~25s] Je vais presenter le contexte et la problematique, un point de veille scientifique sur les technologies choisies, les donnees et l'analyse exploratoire, ma methodologie de pretraitement et de modelisation, la comparaison de douze algorithmes et son optimisation, les resultats avec une analyse critique honnete et une demonstration de l'application, puis je terminerai sur les difficultes rencontrees et les perspectives.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[~45s] Airbnb compte des dizaines de milliers d'annonces a New York, avec des prix tres heterogenes selon le quartier, le type de logement et la popularite de l'hote. Un hote fixe generalement son prix sans reference objective, et un voyageur ne sait pas si le tarif propose est coherent avec le marche local. Ma question centrale : peut-on predire le prix d'une annonce a partir de ses seules caracteristiques structurelles et geographiques ? Trois defis principaux : la variable quartier a 221 modalites differentes, la relation entre prix et caracteristiques n'est pas lineaire, et surtout -- il faut le dire soi-meme avant qu'on me le reproche -- je n'ai ni photos ni texte, donc une partie du prix restera structurellement inexpliquee.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[~35s] Cinq objectifs concrets : pretraiter rigoureusement les donnees -- valeurs aberrantes, valeurs manquantes, feature engineering ; comparer au moins dix algorithmes -- j'en ai teste douze ; optimiser les hyperparametres des meilleurs modeles ; evaluer avec au moins quatre metriques et une validation croisee -- j'en ai utilise quatre plus la validation croisee a cinq plis ; et enfin construire une interface graphique complete permettant l'exploration, l'entrainement et la prediction en temps reel avec une carte.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[~35s] Avant de coder, j'ai situe mon projet par rapport a l'existant. La litterature confirme que les methodes a base d'arbres combines -- Random Forest de Breiman, XGBoost de Chen et Guestrin -- dominent sur ce type de donnees, avec un R2 qui plafonne generalement entre 0,5 et 0,65 sans texte ni photos : c'est exactement ce que je retrouve dans mes propres resultats, ce qui valide a la fois mon protocole et la litterature. Cote outils, j'ai choisi scikit-learn et XGBoost pour le Machine Learning -- standards du secteur --, Streamlit pour l'interface -- developpement rapide en pur Python --, et Folium specifiquement parce que c'est la seule librairie testee qui permette de capter un clic utilisateur sur la carte.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[~30s] Le dataset New York City Airbnb Open Data, sur Kaggle -- exactement celui demande dans mon sujet -- contient 48 895 annonces brutes et 16 variables : localisation, type de logement, prix, avis, disponibilite. Apres nettoyage -- suppression des prix aberrants, environ 1% des lignes -- il reste 48 389 annonces, reparties sur 5 arrondissements et 221 quartiers differents. Je le repete : pas de photos, pas de texte de description, pas de note moyenne des avis -- ca limite volontairement ce qu'un modele peut deviner, j'y reviendrai dans l'analyse critique.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[~50s] Avant de modeliser, j'ai explore les donnees a l'oeil. Deux constats dominent tout le reste. Premierement, l'arrondissement : le prix median a Manhattan, 149 dollars 50, est nettement superieur a celui du Bronx, 68 dollars -- pres du double. Deuxiemement, et c'est encore plus marque : le type de logement. Un logement entier coute 2 a 3 fois plus cher qu'une chambre privee ou une chambre partagee. Ces deux constats visuels, tres simples, se retrouveront confirmes plus tard de facon quantitative dans l'importance des variables du modele final -- c'est deja un premier indice fort de ce qui va suivre.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[~45s] Quatre etapes de pretraitement. D'abord, j'ai supprime les prix nuls et extremes avec des percentiles -- 0,5% de chaque cote -- soit 492 lignes retirees sur 48 895. Ensuite, j'ai cree de nouvelles variables : la plus importante est distance_center_km, la distance a vol d'oiseau -- calculee avec la formule de haversine, qui tient compte de la courbure de la Terre -- entre chaque annonce et le centre de Manhattan. Pour le quartier, qui a 221 valeurs differentes, j'ai utilise un encodage par frequence plutot qu'un one-hot classique, pour eviter d'exploser le nombre de colonnes. Le type de logement et l'arrondissement, eux, ont peu de categories donc sont encodes classiquement en one-hot.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[~25s] Voici le pipeline complet : les donnees brutes de Kaggle passent par le script de pretraitement, puis par l'analyse exploratoire et la comparaison des douze modeles, et enfin par l'application Streamlit. Point important a mentionner : le meme protocole s'applique a tous les modeles -- decoupage 80/20 train-test, validation croisee a 5 plis, graine aleatoire fixee a 42 -- pour garantir une comparaison honnete et reproductible.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[~75s] C'est la slide la plus importante de ma soutenance. J'ai teste douze algorithmes avec un protocole strictement identique : regression lineaire et ses variantes regularisees, KNN, arbre de decision, les ensembles Random Forest et Extra Trees, le boosting avec Gradient Boosting et XGBoost, un SVR, et un reseau de neurones. Regardez le graphique : les trois meilleurs modeles, en corail, sont XGBoost, Extra Trees et Random Forest -- tous des methodes a base d'arbres combines, avec des RMSE tres proches, autour de 85 dollars. Ils devancent nettement les modeles lineaires, a droite, autour de 93 a 98 dollars. Pourquoi ? Parce que la relation entre le prix et les caracteristiques n'est pas une simple addition : il y a des interactions, par exemple l'effet de la distance au centre ne joue pas pareil selon le type de logement, et seuls les modeles a base d'arbres peuvent capturer ca. Meme le reseau de neurones ne fait pas mieux que les arbres ici : sur ce volume de donnees tabulaires, les arbres restent l'etat de l'art.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[~60s] J'ai ensuite optimise les hyperparametres des trois meilleurs modeles avec une recherche aleatoire, RandomizedSearchCV. Le modele final est XGBoost, avec 400 arbres, une profondeur maximale de 6, un taux d'apprentissage de 0,03 et un sous-echantillonnage de 0,7. En dollars concrets : mon modele se trompe en moyenne de 48 dollars 35 par nuit -- c'est la MAE -- et explique 45,3% de la variation du prix -- c'est le R2. Le gain de l'optimisation est modeste, moins de 1%, ce qui montre que le vrai levier de performance est le choix de la famille d'algorithme, pas le reglage fin. Dernier point tres important : sur ce modele final, la variable 'logement entier' represente a elle seule 59,5% de l'importance totale -- tres loin devant la localisation. Le type de logement compte donc bien plus que l'endroit ou il se trouve.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[~40s] Rapidement sur les points forts : une chaine complete de bout en bout, un protocole reproductible identique pour tous les modeles, un feature engineering geographique original, et une vraie interface graphique. Mais j'insiste davantage sur les limites, parce que c'est ca qui montre la maturite d'une analyse : un R2 de 0,45 s'explique par l'absence de photos et de texte dans les donnees -- ce n'est pas un defaut de modelisation, c'est une limite structurelle de l'information disponible. Le SVR a ete entraine sur un sous-echantillon pour des raisons de temps de calcul. Et les donnees datent de 2019, donc les prix absolus ne sont plus forcement d'actualite en 2026, meme si les relations structurelles restent valables.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[~75s] Si possible, je bascule maintenant sur l'application en direct plutot que de rester sur cette slide -- une vraie demo est bien plus parlante. Trois onglets : Exploration des donnees, avec les statistiques et les graphiques ; Entrainement, ou je choisis un modele parmi neuf et je regle ses parametres avec des curseurs ; et Test/Prediction, ou je clique sur une carte pour choisir un emplacement -- l'arrondissement et le quartier sont deduits automatiquement du point clique -- je remplis quelques caracteristiques, et j'obtiens une prediction en temps reel comparee au prix moyen de l'arrondissement. Exemple reel : pour un logement entier dans le Bronx, le modele predit 166 dollars la nuit, contre 87 dollars de moyenne dans cet arrondissement -- un ecart de plus 79 dollars, coherent avec le poids tres fort du type de logement qu'on a vu dans l'importance des variables.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[~30s] Je ne raconte que 2 ou 3 difficultes a l'oral, le reste sert de reserve pour les questions. Par exemple : le SVR etait beaucoup trop lent sur les 38 700 lignes du jeu d'entrainement, sa complexite augmente au carre voire au cube avec le nombre de lignes -- je l'ai donc entraine sur un sous-echantillon de 6000 lignes, en le documentant clairement plutot que de le cacher. Et l'application a d'abord plante avec une erreur d'import, parce que Streamlit n'ajoute pas automatiquement la racine du projet au chemin Python -- j'ai corrige ca en une ligne.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[~55s] Pour conclure : tous les objectifs du cahier des charges ont ete atteints ou depasses. Douze modeles compares au lieu de dix demandes, quatre metriques avec validation croisee a cinq plis, des hyperparametres optimises pour un modele final XGBoost a 0,453 de R2, et une interface graphique complete couvrant exploration, entrainement et prediction geolocalisee. Comme perspectives : enrichir le dataset avec les avis textuels et les photos, utiliser un encodage cible plus sophistique pour le quartier, tester du stacking entre les meilleurs modeles, et deployer l'application sur une infrastructure cloud avec une base de donnees persistante pour un usage reel.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[~20s] Merci pour votre attention, je suis prete a repondre a vos questions. (Rappel pour toi : si tu bloques sur une question, dis honnetement 'c'est une limite que j'ai identifiee mais pas approfondie dans le temps imparti, une piste serait de...' plutot que d'inventer une reponse.)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F3C7E"/>
        </a:solidFill>
      </p:bgPr>
    </p:bg>
    <p:spTree>
      <p:nvGrpSpPr>
        <p:cNvPr id="1" name=""/>
        <p:cNvGrpSpPr/>
        <p:nvPr/>
      </p:nvGrpSpPr>
      <p:grpSpPr>
        <a:xfrm>
          <a:off x="0" y="0"/>
          <a:ext cx="0" cy="0"/>
          <a:chOff x="0" y="0"/>
          <a:chExt cx="0" cy="0"/>
        </a:xfrm>
      </p:grpSpPr>
      <p:sp>
        <p:nvSpPr>
          <p:cNvPr id="2" name="Shape 0"/>
          <p:cNvSpPr/>
          <p:nvPr/>
        </p:nvSpPr>
        <p:spPr>
          <a:xfrm>
            <a:off x="9692640" y="-2011680"/>
            <a:ext cx="5486400" cy="5486400"/>
          </a:xfrm>
          <a:prstGeom prst="ellipse">
            <a:avLst/>
          </a:prstGeom>
          <a:solidFill>
            <a:srgbClr val="232C5E"/>
          </a:solidFill>
          <a:ln/>
        </p:spPr>
      </p:sp>
      <p:sp>
        <p:nvSpPr>
          <p:cNvPr id="3" name="Shape 1"/>
          <p:cNvSpPr/>
          <p:nvPr/>
        </p:nvSpPr>
        <p:spPr>
          <a:xfrm>
            <a:off x="-2286000" y="4754880"/>
            <a:ext cx="4572000" cy="4572000"/>
          </a:xfrm>
          <a:prstGeom prst="ellipse">
            <a:avLst/>
          </a:prstGeom>
          <a:solidFill>
            <a:srgbClr val="232C5E"/>
          </a:solidFill>
          <a:ln/>
        </p:spPr>
      </p:sp>
      <p:sp>
        <p:nvSpPr>
          <p:cNvPr id="4" name="Shape 2"/>
          <p:cNvSpPr/>
          <p:nvPr/>
        </p:nvSpPr>
        <p:spPr>
          <a:xfrm>
            <a:off x="548640" y="548640"/>
            <a:ext cx="640080" cy="640080"/>
          </a:xfrm>
          <a:prstGeom prst="ellipse">
            <a:avLst/>
          </a:prstGeom>
          <a:solidFill>
            <a:srgbClr val="F96167"/>
          </a:solidFill>
          <a:ln/>
        </p:spPr>
      </p:sp>
      <p:sp>
        <p:nvSpPr>
          <p:cNvPr id="5" name="Text 3"/>
          <p:cNvSpPr txBox="1"/>
          <p:nvPr/>
        </p:nvSpPr>
        <p:spPr>
          <a:xfrm>
            <a:off x="548640" y="548640"/>
            <a:ext cx="640080" cy="640080"/>
          </a:xfrm>
          <a:prstGeom prst="rect">
            <a:avLst/>
          </a:prstGeom>
          <a:noFill/>
          <a:ln/>
        </p:spPr>
        <p:txBody>
          <a:bodyPr wrap="square" lIns="0" tIns="0" rIns="0" bIns="0"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a:t>
            </a:r>
            <a:endParaRPr lang="en-US" sz="2600" dirty="0"/>
          </a:p>
        </p:txBody>
      </p:sp>
      <p:sp>
        <p:nvSpPr>
          <p:cNvPr id="6" name="Text 4"/>
          <p:cNvSpPr txBox="1"/>
          <p:nvPr/>
        </p:nvSpPr>
        <p:spPr>
          <a:xfrm>
            <a:off x="548640" y="2148840"/>
            <a:ext cx="9144000" cy="365760"/>
          </a:xfrm>
          <a:prstGeom prst="rect">
            <a:avLst/>
          </a:prstGeom>
          <a:noFill/>
          <a:ln/>
        </p:spPr>
        <p:txBody>
          <a:bodyPr wrap="square" lIns="0" tIns="0" rIns="0" bIns="0" rtlCol="0" anchor="ctr"/>
          <a:lstStyle/>
          <a:p>
            <a:pPr indent="0" marL="0">
              <a:buNone/>
            </a:pPr>
            <a:r>
              <a:rPr lang="en-US" sz="1400" b="1" spc="300" kern="0" dirty="0">
                <a:solidFill>
                  <a:srgbClr val="F9E795"/>
                </a:solidFill>
                <a:latin typeface="Calibri" pitchFamily="34" charset="0"/>
                <a:ea typeface="Calibri" pitchFamily="34" charset="-122"/>
                <a:cs typeface="Calibri" pitchFamily="34" charset="-120"/>
              </a:rPr>
              <a:t>PROJET DE MACHINE LEARNING</a:t>
            </a:r>
            <a:endParaRPr lang="en-US" sz="1400" dirty="0"/>
          </a:p>
        </p:txBody>
      </p:sp>
      <p:sp>
        <p:nvSpPr>
          <p:cNvPr id="7" name="Text 5"/>
          <p:cNvSpPr txBox="1"/>
          <p:nvPr/>
        </p:nvSpPr>
        <p:spPr>
          <a:xfrm>
            <a:off x="548640" y="2560320"/>
            <a:ext cx="10515600" cy="1828800"/>
          </a:xfrm>
          <a:prstGeom prst="rect">
            <a:avLst/>
          </a:prstGeom>
          <a:noFill/>
          <a:ln/>
        </p:spPr>
        <p:txBody>
          <a:bodyPr wrap="square" lIns="0" tIns="0" rIns="0" bIns="0" rtlCol="0" anchor="ctr"/>
          <a:lstStyle/>
          <a:p>
            <a:pPr indent="0" marL="0">
              <a:lnSpc>
                <a:spcPts val="4600"/>
              </a:lnSpc>
              <a:buNone/>
            </a:pPr>
            <a:r>
              <a:rPr lang="en-US" sz="4200" b="1" dirty="0">
                <a:solidFill>
                  <a:srgbClr val="FFFFFF"/>
                </a:solidFill>
                <a:latin typeface="Cambria" pitchFamily="34" charset="0"/>
                <a:ea typeface="Cambria" pitchFamily="34" charset="-122"/>
                <a:cs typeface="Cambria" pitchFamily="34" charset="-120"/>
              </a:rPr>
              <a:t>Prediction des prix de location</a:t>
            </a:r>
            <a:endParaRPr lang="en-US" sz="4200" dirty="0"/>
          </a:p>
          <a:p>
            <a:pPr indent="0" marL="0">
              <a:lnSpc>
                <a:spcPts val="4600"/>
              </a:lnSpc>
              <a:buNone/>
            </a:pPr>
            <a:r>
              <a:rPr lang="en-US" sz="4200" b="1" dirty="0">
                <a:solidFill>
                  <a:srgbClr val="FFFFFF"/>
                </a:solidFill>
                <a:latin typeface="Cambria" pitchFamily="34" charset="0"/>
                <a:ea typeface="Cambria" pitchFamily="34" charset="-122"/>
                <a:cs typeface="Cambria" pitchFamily="34" charset="-120"/>
              </a:rPr>
              <a:t>Airbnb a New York City</a:t>
            </a:r>
            <a:endParaRPr lang="en-US" sz="4200" dirty="0"/>
          </a:p>
        </p:txBody>
      </p:sp>
      <p:sp>
        <p:nvSpPr>
          <p:cNvPr id="8" name="Text 6"/>
          <p:cNvSpPr txBox="1"/>
          <p:nvPr/>
        </p:nvSpPr>
        <p:spPr>
          <a:xfrm>
            <a:off x="548640" y="4160520"/>
            <a:ext cx="9601200" cy="731520"/>
          </a:xfrm>
          <a:prstGeom prst="rect">
            <a:avLst/>
          </a:prstGeom>
          <a:noFill/>
          <a:ln/>
        </p:spPr>
        <p:txBody>
          <a:bodyPr wrap="square" lIns="0" tIns="0" rIns="0" bIns="0" rtlCol="0" anchor="ctr"/>
          <a:lstStyle/>
          <a:p>
            <a:pPr indent="0" marL="0">
              <a:buNone/>
            </a:pPr>
            <a:r>
              <a:rPr lang="en-US" sz="1600" i="1" dirty="0">
                <a:solidFill>
                  <a:srgbClr val="CFD5EE"/>
                </a:solidFill>
                <a:latin typeface="Calibri" pitchFamily="34" charset="0"/>
                <a:ea typeface="Calibri" pitchFamily="34" charset="-122"/>
                <a:cs typeface="Calibri" pitchFamily="34" charset="-120"/>
              </a:rPr>
              <a:t>Comparaison de 12 algorithmes de regression, optimisation des hyperparametres</a:t>
            </a:r>
            <a:endParaRPr lang="en-US" sz="1600" dirty="0"/>
          </a:p>
          <a:p>
            <a:pPr indent="0" marL="0">
              <a:buNone/>
            </a:pPr>
            <a:r>
              <a:rPr lang="en-US" sz="1600" i="1" dirty="0">
                <a:solidFill>
                  <a:srgbClr val="CFD5EE"/>
                </a:solidFill>
                <a:latin typeface="Calibri" pitchFamily="34" charset="0"/>
                <a:ea typeface="Calibri" pitchFamily="34" charset="-122"/>
                <a:cs typeface="Calibri" pitchFamily="34" charset="-120"/>
              </a:rPr>
              <a:t>et application interactive d'aide a la decision</a:t>
            </a:r>
            <a:endParaRPr lang="en-US" sz="1600" dirty="0"/>
          </a:p>
        </p:txBody>
      </p:sp>
      <p:sp>
        <p:nvSpPr>
          <p:cNvPr id="9" name="Shape 7"/>
          <p:cNvSpPr/>
          <p:nvPr/>
        </p:nvSpPr>
        <p:spPr>
          <a:xfrm>
            <a:off x="548640" y="5120640"/>
            <a:ext cx="2926080" cy="0"/>
          </a:xfrm>
          <a:prstGeom prst="line">
            <a:avLst/>
          </a:prstGeom>
          <a:noFill/>
          <a:ln w="25400">
            <a:solidFill>
              <a:srgbClr val="F96167"/>
            </a:solidFill>
            <a:prstDash val="solid"/>
          </a:ln>
        </p:spPr>
      </p:sp>
      <p:sp>
        <p:nvSpPr>
          <p:cNvPr id="10" name="Text 8"/>
          <p:cNvSpPr txBox="1"/>
          <p:nvPr/>
        </p:nvSpPr>
        <p:spPr>
          <a:xfrm>
            <a:off x="548640" y="5349240"/>
            <a:ext cx="8229600" cy="109728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Ines Kasdi</a:t>
            </a:r>
            <a:endParaRPr lang="en-US" sz="1600" dirty="0"/>
          </a:p>
          <a:p>
            <a:pPr indent="0" marL="0">
              <a:buNone/>
            </a:pPr>
            <a:r>
              <a:rPr lang="en-US" sz="1200" dirty="0">
                <a:solidFill>
                  <a:srgbClr val="CFD5EE"/>
                </a:solidFill>
                <a:latin typeface="Calibri" pitchFamily="34" charset="0"/>
                <a:ea typeface="Calibri" pitchFamily="34" charset="-122"/>
                <a:cs typeface="Calibri" pitchFamily="34" charset="-120"/>
              </a:rPr>
              <a:t>Projet Machine Learning - Donnees Kaggle NYC Airbnb Open Data</a:t>
            </a:r>
            <a:endParaRPr lang="en-US" sz="1600" dirty="0"/>
          </a:p>
          <a:p>
            <a:pPr indent="0" marL="0">
              <a:buNone/>
            </a:pPr>
            <a:r>
              <a:rPr lang="en-US" sz="1200" dirty="0">
                <a:solidFill>
                  <a:srgbClr val="F9E795"/>
                </a:solidFill>
                <a:latin typeface="Calibri" pitchFamily="34" charset="0"/>
                <a:ea typeface="Calibri" pitchFamily="34" charset="-122"/>
                <a:cs typeface="Calibri" pitchFamily="34" charset="-120"/>
              </a:rPr>
              <a:t>github.com/kasdiines/airbnb-nyc-price-prediction</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7315200" cy="320040"/>
          </a:xfrm>
          <a:prstGeom prst="rect">
            <a:avLst/>
          </a:prstGeom>
          <a:noFill/>
          <a:ln/>
        </p:spPr>
        <p:txBody>
          <a:bodyPr wrap="square" lIns="0" tIns="0" rIns="0" bIns="0" rtlCol="0" anchor="ctr"/>
          <a:lstStyle/>
          <a:p>
            <a:pPr indent="0" marL="0">
              <a:buNone/>
            </a:pPr>
            <a:r>
              <a:rPr lang="en-US" sz="1300" b="1" spc="200" kern="0" dirty="0">
                <a:solidFill>
                  <a:srgbClr val="F96167"/>
                </a:solidFill>
                <a:latin typeface="Calibri" pitchFamily="34" charset="0"/>
                <a:ea typeface="Calibri" pitchFamily="34" charset="-122"/>
                <a:cs typeface="Calibri" pitchFamily="34" charset="-120"/>
              </a:rPr>
              <a:t>PLAN DE LA SOUTENANCE</a:t>
            </a:r>
            <a:endParaRPr lang="en-US" sz="1300" dirty="0"/>
          </a:p>
        </p:txBody>
      </p:sp>
      <p:sp>
        <p:nvSpPr>
          <p:cNvPr id="3" name="Text 1"/>
          <p:cNvSpPr txBox="1"/>
          <p:nvPr/>
        </p:nvSpPr>
        <p:spPr>
          <a:xfrm>
            <a:off x="548640" y="685800"/>
            <a:ext cx="10515600" cy="822960"/>
          </a:xfrm>
          <a:prstGeom prst="rect">
            <a:avLst/>
          </a:prstGeom>
          <a:noFill/>
          <a:ln/>
        </p:spPr>
        <p:txBody>
          <a:bodyPr wrap="square" lIns="0" tIns="0" rIns="0" bIns="0" rtlCol="0" anchor="ctr"/>
          <a:lstStyle/>
          <a:p>
            <a:pPr indent="0" marL="0">
              <a:buNone/>
            </a:pPr>
            <a:r>
              <a:rPr lang="en-US" sz="3200" b="1" dirty="0">
                <a:solidFill>
                  <a:srgbClr val="1B1F3B"/>
                </a:solidFill>
                <a:latin typeface="Cambria" pitchFamily="34" charset="0"/>
                <a:ea typeface="Cambria" pitchFamily="34" charset="-122"/>
                <a:cs typeface="Cambria" pitchFamily="34" charset="-120"/>
              </a:rPr>
              <a:t>Sommaire</a:t>
            </a:r>
            <a:endParaRPr lang="en-US" sz="3200" dirty="0"/>
          </a:p>
        </p:txBody>
      </p:sp>
      <p:sp>
        <p:nvSpPr>
          <p:cNvPr id="4" name="Text 2"/>
          <p:cNvSpPr txBox="1"/>
          <p:nvPr/>
        </p:nvSpPr>
        <p:spPr>
          <a:xfrm>
            <a:off x="548640" y="1828800"/>
            <a:ext cx="822960" cy="576072"/>
          </a:xfrm>
          <a:prstGeom prst="rect">
            <a:avLst/>
          </a:prstGeom>
          <a:noFill/>
          <a:ln/>
        </p:spPr>
        <p:txBody>
          <a:bodyPr wrap="square" lIns="0" tIns="0" rIns="0" bIns="0" rtlCol="0" anchor="ctr"/>
          <a:lstStyle/>
          <a:p>
            <a:pPr indent="0" marL="0">
              <a:buNone/>
            </a:pPr>
            <a:r>
              <a:rPr lang="en-US" sz="2600" b="1" dirty="0">
                <a:solidFill>
                  <a:srgbClr val="F96167"/>
                </a:solidFill>
                <a:latin typeface="Cambria" pitchFamily="34" charset="0"/>
                <a:ea typeface="Cambria" pitchFamily="34" charset="-122"/>
                <a:cs typeface="Cambria" pitchFamily="34" charset="-120"/>
              </a:rPr>
              <a:t>01</a:t>
            </a:r>
            <a:endParaRPr lang="en-US" sz="2600" dirty="0"/>
          </a:p>
        </p:txBody>
      </p:sp>
      <p:sp>
        <p:nvSpPr>
          <p:cNvPr id="5" name="Text 3"/>
          <p:cNvSpPr txBox="1"/>
          <p:nvPr/>
        </p:nvSpPr>
        <p:spPr>
          <a:xfrm>
            <a:off x="1417320" y="1828800"/>
            <a:ext cx="4206240" cy="576072"/>
          </a:xfrm>
          <a:prstGeom prst="rect">
            <a:avLst/>
          </a:prstGeom>
          <a:noFill/>
          <a:ln/>
        </p:spPr>
        <p:txBody>
          <a:bodyPr wrap="square" lIns="0" tIns="0" rIns="0" bIns="0" rtlCol="0" anchor="ctr"/>
          <a:lstStyle/>
          <a:p>
            <a:pPr indent="0" marL="0">
              <a:buNone/>
            </a:pPr>
            <a:r>
              <a:rPr lang="en-US" sz="1500" dirty="0">
                <a:solidFill>
                  <a:srgbClr val="1B1F3B"/>
                </a:solidFill>
                <a:latin typeface="Calibri" pitchFamily="34" charset="0"/>
                <a:ea typeface="Calibri" pitchFamily="34" charset="-122"/>
                <a:cs typeface="Calibri" pitchFamily="34" charset="-120"/>
              </a:rPr>
              <a:t>Contexte, problematique et objectifs</a:t>
            </a:r>
            <a:endParaRPr lang="en-US" sz="1500" dirty="0"/>
          </a:p>
        </p:txBody>
      </p:sp>
      <p:sp>
        <p:nvSpPr>
          <p:cNvPr id="6" name="Shape 4"/>
          <p:cNvSpPr/>
          <p:nvPr/>
        </p:nvSpPr>
        <p:spPr>
          <a:xfrm>
            <a:off x="548640" y="2432304"/>
            <a:ext cx="5074920" cy="0"/>
          </a:xfrm>
          <a:prstGeom prst="line">
            <a:avLst/>
          </a:prstGeom>
          <a:noFill/>
          <a:ln w="12700">
            <a:solidFill>
              <a:srgbClr val="E2E4EE"/>
            </a:solidFill>
            <a:prstDash val="solid"/>
          </a:ln>
        </p:spPr>
      </p:sp>
      <p:sp>
        <p:nvSpPr>
          <p:cNvPr id="7" name="Text 5"/>
          <p:cNvSpPr txBox="1"/>
          <p:nvPr/>
        </p:nvSpPr>
        <p:spPr>
          <a:xfrm>
            <a:off x="548640" y="2542032"/>
            <a:ext cx="822960" cy="576072"/>
          </a:xfrm>
          <a:prstGeom prst="rect">
            <a:avLst/>
          </a:prstGeom>
          <a:noFill/>
          <a:ln/>
        </p:spPr>
        <p:txBody>
          <a:bodyPr wrap="square" lIns="0" tIns="0" rIns="0" bIns="0" rtlCol="0" anchor="ctr"/>
          <a:lstStyle/>
          <a:p>
            <a:pPr indent="0" marL="0">
              <a:buNone/>
            </a:pPr>
            <a:r>
              <a:rPr lang="en-US" sz="2600" b="1" dirty="0">
                <a:solidFill>
                  <a:srgbClr val="F96167"/>
                </a:solidFill>
                <a:latin typeface="Cambria" pitchFamily="34" charset="0"/>
                <a:ea typeface="Cambria" pitchFamily="34" charset="-122"/>
                <a:cs typeface="Cambria" pitchFamily="34" charset="-120"/>
              </a:rPr>
              <a:t>02</a:t>
            </a:r>
            <a:endParaRPr lang="en-US" sz="2600" dirty="0"/>
          </a:p>
        </p:txBody>
      </p:sp>
      <p:sp>
        <p:nvSpPr>
          <p:cNvPr id="8" name="Text 6"/>
          <p:cNvSpPr txBox="1"/>
          <p:nvPr/>
        </p:nvSpPr>
        <p:spPr>
          <a:xfrm>
            <a:off x="1417320" y="2542032"/>
            <a:ext cx="4206240" cy="576072"/>
          </a:xfrm>
          <a:prstGeom prst="rect">
            <a:avLst/>
          </a:prstGeom>
          <a:noFill/>
          <a:ln/>
        </p:spPr>
        <p:txBody>
          <a:bodyPr wrap="square" lIns="0" tIns="0" rIns="0" bIns="0" rtlCol="0" anchor="ctr"/>
          <a:lstStyle/>
          <a:p>
            <a:pPr indent="0" marL="0">
              <a:buNone/>
            </a:pPr>
            <a:r>
              <a:rPr lang="en-US" sz="1500" dirty="0">
                <a:solidFill>
                  <a:srgbClr val="1B1F3B"/>
                </a:solidFill>
                <a:latin typeface="Calibri" pitchFamily="34" charset="0"/>
                <a:ea typeface="Calibri" pitchFamily="34" charset="-122"/>
                <a:cs typeface="Calibri" pitchFamily="34" charset="-120"/>
              </a:rPr>
              <a:t>Veille scientifique et choix technologiques</a:t>
            </a:r>
            <a:endParaRPr lang="en-US" sz="1500" dirty="0"/>
          </a:p>
        </p:txBody>
      </p:sp>
      <p:sp>
        <p:nvSpPr>
          <p:cNvPr id="9" name="Shape 7"/>
          <p:cNvSpPr/>
          <p:nvPr/>
        </p:nvSpPr>
        <p:spPr>
          <a:xfrm>
            <a:off x="548640" y="3145536"/>
            <a:ext cx="5074920" cy="0"/>
          </a:xfrm>
          <a:prstGeom prst="line">
            <a:avLst/>
          </a:prstGeom>
          <a:noFill/>
          <a:ln w="12700">
            <a:solidFill>
              <a:srgbClr val="E2E4EE"/>
            </a:solidFill>
            <a:prstDash val="solid"/>
          </a:ln>
        </p:spPr>
      </p:sp>
      <p:sp>
        <p:nvSpPr>
          <p:cNvPr id="10" name="Text 8"/>
          <p:cNvSpPr txBox="1"/>
          <p:nvPr/>
        </p:nvSpPr>
        <p:spPr>
          <a:xfrm>
            <a:off x="548640" y="3255264"/>
            <a:ext cx="822960" cy="576072"/>
          </a:xfrm>
          <a:prstGeom prst="rect">
            <a:avLst/>
          </a:prstGeom>
          <a:noFill/>
          <a:ln/>
        </p:spPr>
        <p:txBody>
          <a:bodyPr wrap="square" lIns="0" tIns="0" rIns="0" bIns="0" rtlCol="0" anchor="ctr"/>
          <a:lstStyle/>
          <a:p>
            <a:pPr indent="0" marL="0">
              <a:buNone/>
            </a:pPr>
            <a:r>
              <a:rPr lang="en-US" sz="2600" b="1" dirty="0">
                <a:solidFill>
                  <a:srgbClr val="F96167"/>
                </a:solidFill>
                <a:latin typeface="Cambria" pitchFamily="34" charset="0"/>
                <a:ea typeface="Cambria" pitchFamily="34" charset="-122"/>
                <a:cs typeface="Cambria" pitchFamily="34" charset="-120"/>
              </a:rPr>
              <a:t>03</a:t>
            </a:r>
            <a:endParaRPr lang="en-US" sz="2600" dirty="0"/>
          </a:p>
        </p:txBody>
      </p:sp>
      <p:sp>
        <p:nvSpPr>
          <p:cNvPr id="11" name="Text 9"/>
          <p:cNvSpPr txBox="1"/>
          <p:nvPr/>
        </p:nvSpPr>
        <p:spPr>
          <a:xfrm>
            <a:off x="1417320" y="3255264"/>
            <a:ext cx="4206240" cy="576072"/>
          </a:xfrm>
          <a:prstGeom prst="rect">
            <a:avLst/>
          </a:prstGeom>
          <a:noFill/>
          <a:ln/>
        </p:spPr>
        <p:txBody>
          <a:bodyPr wrap="square" lIns="0" tIns="0" rIns="0" bIns="0" rtlCol="0" anchor="ctr"/>
          <a:lstStyle/>
          <a:p>
            <a:pPr indent="0" marL="0">
              <a:buNone/>
            </a:pPr>
            <a:r>
              <a:rPr lang="en-US" sz="1500" dirty="0">
                <a:solidFill>
                  <a:srgbClr val="1B1F3B"/>
                </a:solidFill>
                <a:latin typeface="Calibri" pitchFamily="34" charset="0"/>
                <a:ea typeface="Calibri" pitchFamily="34" charset="-122"/>
                <a:cs typeface="Calibri" pitchFamily="34" charset="-120"/>
              </a:rPr>
              <a:t>Donnees et analyse exploratoire</a:t>
            </a:r>
            <a:endParaRPr lang="en-US" sz="1500" dirty="0"/>
          </a:p>
        </p:txBody>
      </p:sp>
      <p:sp>
        <p:nvSpPr>
          <p:cNvPr id="12" name="Shape 10"/>
          <p:cNvSpPr/>
          <p:nvPr/>
        </p:nvSpPr>
        <p:spPr>
          <a:xfrm>
            <a:off x="548640" y="3858768"/>
            <a:ext cx="5074920" cy="0"/>
          </a:xfrm>
          <a:prstGeom prst="line">
            <a:avLst/>
          </a:prstGeom>
          <a:noFill/>
          <a:ln w="12700">
            <a:solidFill>
              <a:srgbClr val="E2E4EE"/>
            </a:solidFill>
            <a:prstDash val="solid"/>
          </a:ln>
        </p:spPr>
      </p:sp>
      <p:sp>
        <p:nvSpPr>
          <p:cNvPr id="13" name="Text 11"/>
          <p:cNvSpPr txBox="1"/>
          <p:nvPr/>
        </p:nvSpPr>
        <p:spPr>
          <a:xfrm>
            <a:off x="548640" y="3968496"/>
            <a:ext cx="822960" cy="576072"/>
          </a:xfrm>
          <a:prstGeom prst="rect">
            <a:avLst/>
          </a:prstGeom>
          <a:noFill/>
          <a:ln/>
        </p:spPr>
        <p:txBody>
          <a:bodyPr wrap="square" lIns="0" tIns="0" rIns="0" bIns="0" rtlCol="0" anchor="ctr"/>
          <a:lstStyle/>
          <a:p>
            <a:pPr indent="0" marL="0">
              <a:buNone/>
            </a:pPr>
            <a:r>
              <a:rPr lang="en-US" sz="2600" b="1" dirty="0">
                <a:solidFill>
                  <a:srgbClr val="F96167"/>
                </a:solidFill>
                <a:latin typeface="Cambria" pitchFamily="34" charset="0"/>
                <a:ea typeface="Cambria" pitchFamily="34" charset="-122"/>
                <a:cs typeface="Cambria" pitchFamily="34" charset="-120"/>
              </a:rPr>
              <a:t>04</a:t>
            </a:r>
            <a:endParaRPr lang="en-US" sz="2600" dirty="0"/>
          </a:p>
        </p:txBody>
      </p:sp>
      <p:sp>
        <p:nvSpPr>
          <p:cNvPr id="14" name="Text 12"/>
          <p:cNvSpPr txBox="1"/>
          <p:nvPr/>
        </p:nvSpPr>
        <p:spPr>
          <a:xfrm>
            <a:off x="1417320" y="3968496"/>
            <a:ext cx="4206240" cy="576072"/>
          </a:xfrm>
          <a:prstGeom prst="rect">
            <a:avLst/>
          </a:prstGeom>
          <a:noFill/>
          <a:ln/>
        </p:spPr>
        <p:txBody>
          <a:bodyPr wrap="square" lIns="0" tIns="0" rIns="0" bIns="0" rtlCol="0" anchor="ctr"/>
          <a:lstStyle/>
          <a:p>
            <a:pPr indent="0" marL="0">
              <a:buNone/>
            </a:pPr>
            <a:r>
              <a:rPr lang="en-US" sz="1500" dirty="0">
                <a:solidFill>
                  <a:srgbClr val="1B1F3B"/>
                </a:solidFill>
                <a:latin typeface="Calibri" pitchFamily="34" charset="0"/>
                <a:ea typeface="Calibri" pitchFamily="34" charset="-122"/>
                <a:cs typeface="Calibri" pitchFamily="34" charset="-120"/>
              </a:rPr>
              <a:t>Methodologie : pretraitement, features, pipeline</a:t>
            </a:r>
            <a:endParaRPr lang="en-US" sz="1500" dirty="0"/>
          </a:p>
        </p:txBody>
      </p:sp>
      <p:sp>
        <p:nvSpPr>
          <p:cNvPr id="15" name="Shape 13"/>
          <p:cNvSpPr/>
          <p:nvPr/>
        </p:nvSpPr>
        <p:spPr>
          <a:xfrm>
            <a:off x="548640" y="4572000"/>
            <a:ext cx="5074920" cy="0"/>
          </a:xfrm>
          <a:prstGeom prst="line">
            <a:avLst/>
          </a:prstGeom>
          <a:noFill/>
          <a:ln w="12700">
            <a:solidFill>
              <a:srgbClr val="E2E4EE"/>
            </a:solidFill>
            <a:prstDash val="solid"/>
          </a:ln>
        </p:spPr>
      </p:sp>
      <p:sp>
        <p:nvSpPr>
          <p:cNvPr id="16" name="Text 14"/>
          <p:cNvSpPr txBox="1"/>
          <p:nvPr/>
        </p:nvSpPr>
        <p:spPr>
          <a:xfrm>
            <a:off x="6172200" y="1828800"/>
            <a:ext cx="822960" cy="576072"/>
          </a:xfrm>
          <a:prstGeom prst="rect">
            <a:avLst/>
          </a:prstGeom>
          <a:noFill/>
          <a:ln/>
        </p:spPr>
        <p:txBody>
          <a:bodyPr wrap="square" lIns="0" tIns="0" rIns="0" bIns="0" rtlCol="0" anchor="ctr"/>
          <a:lstStyle/>
          <a:p>
            <a:pPr indent="0" marL="0">
              <a:buNone/>
            </a:pPr>
            <a:r>
              <a:rPr lang="en-US" sz="2600" b="1" dirty="0">
                <a:solidFill>
                  <a:srgbClr val="F96167"/>
                </a:solidFill>
                <a:latin typeface="Cambria" pitchFamily="34" charset="0"/>
                <a:ea typeface="Cambria" pitchFamily="34" charset="-122"/>
                <a:cs typeface="Cambria" pitchFamily="34" charset="-120"/>
              </a:rPr>
              <a:t>05</a:t>
            </a:r>
            <a:endParaRPr lang="en-US" sz="2600" dirty="0"/>
          </a:p>
        </p:txBody>
      </p:sp>
      <p:sp>
        <p:nvSpPr>
          <p:cNvPr id="17" name="Text 15"/>
          <p:cNvSpPr txBox="1"/>
          <p:nvPr/>
        </p:nvSpPr>
        <p:spPr>
          <a:xfrm>
            <a:off x="7040880" y="1828800"/>
            <a:ext cx="4206240" cy="576072"/>
          </a:xfrm>
          <a:prstGeom prst="rect">
            <a:avLst/>
          </a:prstGeom>
          <a:noFill/>
          <a:ln/>
        </p:spPr>
        <p:txBody>
          <a:bodyPr wrap="square" lIns="0" tIns="0" rIns="0" bIns="0" rtlCol="0" anchor="ctr"/>
          <a:lstStyle/>
          <a:p>
            <a:pPr indent="0" marL="0">
              <a:buNone/>
            </a:pPr>
            <a:r>
              <a:rPr lang="en-US" sz="1500" dirty="0">
                <a:solidFill>
                  <a:srgbClr val="1B1F3B"/>
                </a:solidFill>
                <a:latin typeface="Calibri" pitchFamily="34" charset="0"/>
                <a:ea typeface="Calibri" pitchFamily="34" charset="-122"/>
                <a:cs typeface="Calibri" pitchFamily="34" charset="-120"/>
              </a:rPr>
              <a:t>Comparaison de 12 modeles et optimisation</a:t>
            </a:r>
            <a:endParaRPr lang="en-US" sz="1500" dirty="0"/>
          </a:p>
        </p:txBody>
      </p:sp>
      <p:sp>
        <p:nvSpPr>
          <p:cNvPr id="18" name="Shape 16"/>
          <p:cNvSpPr/>
          <p:nvPr/>
        </p:nvSpPr>
        <p:spPr>
          <a:xfrm>
            <a:off x="6172200" y="2432304"/>
            <a:ext cx="5074920" cy="0"/>
          </a:xfrm>
          <a:prstGeom prst="line">
            <a:avLst/>
          </a:prstGeom>
          <a:noFill/>
          <a:ln w="12700">
            <a:solidFill>
              <a:srgbClr val="E2E4EE"/>
            </a:solidFill>
            <a:prstDash val="solid"/>
          </a:ln>
        </p:spPr>
      </p:sp>
      <p:sp>
        <p:nvSpPr>
          <p:cNvPr id="19" name="Text 17"/>
          <p:cNvSpPr txBox="1"/>
          <p:nvPr/>
        </p:nvSpPr>
        <p:spPr>
          <a:xfrm>
            <a:off x="6172200" y="2542032"/>
            <a:ext cx="822960" cy="576072"/>
          </a:xfrm>
          <a:prstGeom prst="rect">
            <a:avLst/>
          </a:prstGeom>
          <a:noFill/>
          <a:ln/>
        </p:spPr>
        <p:txBody>
          <a:bodyPr wrap="square" lIns="0" tIns="0" rIns="0" bIns="0" rtlCol="0" anchor="ctr"/>
          <a:lstStyle/>
          <a:p>
            <a:pPr indent="0" marL="0">
              <a:buNone/>
            </a:pPr>
            <a:r>
              <a:rPr lang="en-US" sz="2600" b="1" dirty="0">
                <a:solidFill>
                  <a:srgbClr val="F96167"/>
                </a:solidFill>
                <a:latin typeface="Cambria" pitchFamily="34" charset="0"/>
                <a:ea typeface="Cambria" pitchFamily="34" charset="-122"/>
                <a:cs typeface="Cambria" pitchFamily="34" charset="-120"/>
              </a:rPr>
              <a:t>06</a:t>
            </a:r>
            <a:endParaRPr lang="en-US" sz="2600" dirty="0"/>
          </a:p>
        </p:txBody>
      </p:sp>
      <p:sp>
        <p:nvSpPr>
          <p:cNvPr id="20" name="Text 18"/>
          <p:cNvSpPr txBox="1"/>
          <p:nvPr/>
        </p:nvSpPr>
        <p:spPr>
          <a:xfrm>
            <a:off x="7040880" y="2542032"/>
            <a:ext cx="4206240" cy="576072"/>
          </a:xfrm>
          <a:prstGeom prst="rect">
            <a:avLst/>
          </a:prstGeom>
          <a:noFill/>
          <a:ln/>
        </p:spPr>
        <p:txBody>
          <a:bodyPr wrap="square" lIns="0" tIns="0" rIns="0" bIns="0" rtlCol="0" anchor="ctr"/>
          <a:lstStyle/>
          <a:p>
            <a:pPr indent="0" marL="0">
              <a:buNone/>
            </a:pPr>
            <a:r>
              <a:rPr lang="en-US" sz="1500" dirty="0">
                <a:solidFill>
                  <a:srgbClr val="1B1F3B"/>
                </a:solidFill>
                <a:latin typeface="Calibri" pitchFamily="34" charset="0"/>
                <a:ea typeface="Calibri" pitchFamily="34" charset="-122"/>
                <a:cs typeface="Calibri" pitchFamily="34" charset="-120"/>
              </a:rPr>
              <a:t>Resultats, analyse critique et demonstration</a:t>
            </a:r>
            <a:endParaRPr lang="en-US" sz="1500" dirty="0"/>
          </a:p>
        </p:txBody>
      </p:sp>
      <p:sp>
        <p:nvSpPr>
          <p:cNvPr id="21" name="Shape 19"/>
          <p:cNvSpPr/>
          <p:nvPr/>
        </p:nvSpPr>
        <p:spPr>
          <a:xfrm>
            <a:off x="6172200" y="3145536"/>
            <a:ext cx="5074920" cy="0"/>
          </a:xfrm>
          <a:prstGeom prst="line">
            <a:avLst/>
          </a:prstGeom>
          <a:noFill/>
          <a:ln w="12700">
            <a:solidFill>
              <a:srgbClr val="E2E4EE"/>
            </a:solidFill>
            <a:prstDash val="solid"/>
          </a:ln>
        </p:spPr>
      </p:sp>
      <p:sp>
        <p:nvSpPr>
          <p:cNvPr id="22" name="Text 20"/>
          <p:cNvSpPr txBox="1"/>
          <p:nvPr/>
        </p:nvSpPr>
        <p:spPr>
          <a:xfrm>
            <a:off x="6172200" y="3255264"/>
            <a:ext cx="822960" cy="576072"/>
          </a:xfrm>
          <a:prstGeom prst="rect">
            <a:avLst/>
          </a:prstGeom>
          <a:noFill/>
          <a:ln/>
        </p:spPr>
        <p:txBody>
          <a:bodyPr wrap="square" lIns="0" tIns="0" rIns="0" bIns="0" rtlCol="0" anchor="ctr"/>
          <a:lstStyle/>
          <a:p>
            <a:pPr indent="0" marL="0">
              <a:buNone/>
            </a:pPr>
            <a:r>
              <a:rPr lang="en-US" sz="2600" b="1" dirty="0">
                <a:solidFill>
                  <a:srgbClr val="F96167"/>
                </a:solidFill>
                <a:latin typeface="Cambria" pitchFamily="34" charset="0"/>
                <a:ea typeface="Cambria" pitchFamily="34" charset="-122"/>
                <a:cs typeface="Cambria" pitchFamily="34" charset="-120"/>
              </a:rPr>
              <a:t>07</a:t>
            </a:r>
            <a:endParaRPr lang="en-US" sz="2600" dirty="0"/>
          </a:p>
        </p:txBody>
      </p:sp>
      <p:sp>
        <p:nvSpPr>
          <p:cNvPr id="23" name="Text 21"/>
          <p:cNvSpPr txBox="1"/>
          <p:nvPr/>
        </p:nvSpPr>
        <p:spPr>
          <a:xfrm>
            <a:off x="7040880" y="3255264"/>
            <a:ext cx="4206240" cy="576072"/>
          </a:xfrm>
          <a:prstGeom prst="rect">
            <a:avLst/>
          </a:prstGeom>
          <a:noFill/>
          <a:ln/>
        </p:spPr>
        <p:txBody>
          <a:bodyPr wrap="square" lIns="0" tIns="0" rIns="0" bIns="0" rtlCol="0" anchor="ctr"/>
          <a:lstStyle/>
          <a:p>
            <a:pPr indent="0" marL="0">
              <a:buNone/>
            </a:pPr>
            <a:r>
              <a:rPr lang="en-US" sz="1500" dirty="0">
                <a:solidFill>
                  <a:srgbClr val="1B1F3B"/>
                </a:solidFill>
                <a:latin typeface="Calibri" pitchFamily="34" charset="0"/>
                <a:ea typeface="Calibri" pitchFamily="34" charset="-122"/>
                <a:cs typeface="Calibri" pitchFamily="34" charset="-120"/>
              </a:rPr>
              <a:t>Difficultes, conclusion et perspectives</a:t>
            </a:r>
            <a:endParaRPr lang="en-US" sz="1500" dirty="0"/>
          </a:p>
        </p:txBody>
      </p:sp>
      <p:sp>
        <p:nvSpPr>
          <p:cNvPr id="24" name="Shape 22"/>
          <p:cNvSpPr/>
          <p:nvPr/>
        </p:nvSpPr>
        <p:spPr>
          <a:xfrm>
            <a:off x="6172200" y="3858768"/>
            <a:ext cx="5074920" cy="0"/>
          </a:xfrm>
          <a:prstGeom prst="line">
            <a:avLst/>
          </a:prstGeom>
          <a:noFill/>
          <a:ln w="12700">
            <a:solidFill>
              <a:srgbClr val="E2E4EE"/>
            </a:solidFill>
            <a:prstDash val="solid"/>
          </a:ln>
        </p:spPr>
      </p:sp>
      <p:sp>
        <p:nvSpPr>
          <p:cNvPr id="25" name="Text 23"/>
          <p:cNvSpPr txBox="1"/>
          <p:nvPr/>
        </p:nvSpPr>
        <p:spPr>
          <a:xfrm>
            <a:off x="11475720" y="6446520"/>
            <a:ext cx="548640" cy="32004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7315200" cy="320040"/>
          </a:xfrm>
          <a:prstGeom prst="rect">
            <a:avLst/>
          </a:prstGeom>
          <a:noFill/>
          <a:ln/>
        </p:spPr>
        <p:txBody>
          <a:bodyPr wrap="square" lIns="0" tIns="0" rIns="0" bIns="0" rtlCol="0" anchor="ctr"/>
          <a:lstStyle/>
          <a:p>
            <a:pPr indent="0" marL="0">
              <a:buNone/>
            </a:pPr>
            <a:r>
              <a:rPr lang="en-US" sz="1300" b="1" spc="200" kern="0" dirty="0">
                <a:solidFill>
                  <a:srgbClr val="F96167"/>
                </a:solidFill>
                <a:latin typeface="Calibri" pitchFamily="34" charset="0"/>
                <a:ea typeface="Calibri" pitchFamily="34" charset="-122"/>
                <a:cs typeface="Calibri" pitchFamily="34" charset="-120"/>
              </a:rPr>
              <a:t>01 . INTRODUCTION</a:t>
            </a:r>
            <a:endParaRPr lang="en-US" sz="1300" dirty="0"/>
          </a:p>
        </p:txBody>
      </p:sp>
      <p:sp>
        <p:nvSpPr>
          <p:cNvPr id="3" name="Text 1"/>
          <p:cNvSpPr txBox="1"/>
          <p:nvPr/>
        </p:nvSpPr>
        <p:spPr>
          <a:xfrm>
            <a:off x="548640" y="685800"/>
            <a:ext cx="10515600" cy="822960"/>
          </a:xfrm>
          <a:prstGeom prst="rect">
            <a:avLst/>
          </a:prstGeom>
          <a:noFill/>
          <a:ln/>
        </p:spPr>
        <p:txBody>
          <a:bodyPr wrap="square" lIns="0" tIns="0" rIns="0" bIns="0" rtlCol="0" anchor="ctr"/>
          <a:lstStyle/>
          <a:p>
            <a:pPr indent="0" marL="0">
              <a:buNone/>
            </a:pPr>
            <a:r>
              <a:rPr lang="en-US" sz="3200" b="1" dirty="0">
                <a:solidFill>
                  <a:srgbClr val="1B1F3B"/>
                </a:solidFill>
                <a:latin typeface="Cambria" pitchFamily="34" charset="0"/>
                <a:ea typeface="Cambria" pitchFamily="34" charset="-122"/>
                <a:cs typeface="Cambria" pitchFamily="34" charset="-120"/>
              </a:rPr>
              <a:t>Contexte et problematique</a:t>
            </a:r>
            <a:endParaRPr lang="en-US" sz="3200" dirty="0"/>
          </a:p>
        </p:txBody>
      </p:sp>
      <p:sp>
        <p:nvSpPr>
          <p:cNvPr id="4" name="Text 2"/>
          <p:cNvSpPr txBox="1"/>
          <p:nvPr/>
        </p:nvSpPr>
        <p:spPr>
          <a:xfrm>
            <a:off x="548640" y="1874520"/>
            <a:ext cx="6035040" cy="3931920"/>
          </a:xfrm>
          <a:prstGeom prst="rect">
            <a:avLst/>
          </a:prstGeom>
          <a:noFill/>
          <a:ln/>
        </p:spPr>
        <p:txBody>
          <a:bodyPr wrap="square" lIns="0" tIns="0" rIns="0" bIns="0" rtlCol="0" anchor="t"/>
          <a:lstStyle/>
          <a:p>
            <a:pPr marL="228600" indent="-228600">
              <a:spcAft>
                <a:spcPts val="1800"/>
              </a:spcAft>
              <a:buSzPct val="100000"/>
              <a:buChar char="●"/>
            </a:pPr>
            <a:r>
              <a:rPr lang="en-US" sz="1500" dirty="0">
                <a:solidFill>
                  <a:srgbClr val="1B1F3B"/>
                </a:solidFill>
                <a:latin typeface="Calibri" pitchFamily="34" charset="0"/>
                <a:ea typeface="Calibri" pitchFamily="34" charset="-122"/>
                <a:cs typeface="Calibri" pitchFamily="34" charset="-120"/>
              </a:rPr>
              <a:t>Airbnb : des dizaines de milliers d'annonces a New York, des prix tres heterogenes selon le quartier, le type de logement et la popularite de l'hote.</a:t>
            </a:r>
            <a:endParaRPr lang="en-US" sz="1500" dirty="0"/>
          </a:p>
          <a:p>
            <a:pPr marL="228600" indent="-228600">
              <a:spcAft>
                <a:spcPts val="1800"/>
              </a:spcAft>
              <a:buSzPct val="100000"/>
              <a:buChar char="●"/>
            </a:pPr>
            <a:r>
              <a:rPr lang="en-US" sz="1500" dirty="0">
                <a:solidFill>
                  <a:srgbClr val="1B1F3B"/>
                </a:solidFill>
                <a:latin typeface="Calibri" pitchFamily="34" charset="0"/>
                <a:ea typeface="Calibri" pitchFamily="34" charset="-122"/>
                <a:cs typeface="Calibri" pitchFamily="34" charset="-120"/>
              </a:rPr>
              <a:t>Un hote fixe son prix sans reference objective ; un voyageur ne sait pas si le tarif propose est coherent avec le marche local.</a:t>
            </a:r>
            <a:endParaRPr lang="en-US" sz="1500" dirty="0"/>
          </a:p>
          <a:p>
            <a:pPr marL="228600" indent="-228600">
              <a:spcAft>
                <a:spcPts val="1800"/>
              </a:spcAft>
              <a:buSzPct val="100000"/>
              <a:buChar char="●"/>
            </a:pPr>
            <a:r>
              <a:rPr lang="en-US" sz="1500" dirty="0">
                <a:solidFill>
                  <a:srgbClr val="1B1F3B"/>
                </a:solidFill>
                <a:latin typeface="Calibri" pitchFamily="34" charset="0"/>
                <a:ea typeface="Calibri" pitchFamily="34" charset="-122"/>
                <a:cs typeface="Calibri" pitchFamily="34" charset="-120"/>
              </a:rPr>
              <a:t>Question centrale : peut-on predire le prix d'une annonce a partir de ses seules caracteristiques structurelles et geographiques ?</a:t>
            </a:r>
            <a:endParaRPr lang="en-US" sz="1500" dirty="0"/>
          </a:p>
        </p:txBody>
      </p:sp>
      <p:sp>
        <p:nvSpPr>
          <p:cNvPr id="5" name="Shape 3"/>
          <p:cNvSpPr/>
          <p:nvPr/>
        </p:nvSpPr>
        <p:spPr>
          <a:xfrm>
            <a:off x="6858000" y="1874520"/>
            <a:ext cx="4754880" cy="1143000"/>
          </a:xfrm>
          <a:prstGeom prst="roundRect">
            <a:avLst>
              <a:gd name="adj" fmla="val 4800"/>
            </a:avLst>
          </a:prstGeom>
          <a:solidFill>
            <a:srgbClr val="F5F6FA"/>
          </a:solidFill>
          <a:ln/>
        </p:spPr>
      </p:sp>
      <p:sp>
        <p:nvSpPr>
          <p:cNvPr id="6" name="Text 4"/>
          <p:cNvSpPr txBox="1"/>
          <p:nvPr/>
        </p:nvSpPr>
        <p:spPr>
          <a:xfrm>
            <a:off x="7040880" y="1965960"/>
            <a:ext cx="4389120" cy="320040"/>
          </a:xfrm>
          <a:prstGeom prst="rect">
            <a:avLst/>
          </a:prstGeom>
          <a:noFill/>
          <a:ln/>
        </p:spPr>
        <p:txBody>
          <a:bodyPr wrap="square" lIns="0" tIns="0" rIns="0" bIns="0" rtlCol="0" anchor="ctr"/>
          <a:lstStyle/>
          <a:p>
            <a:pPr indent="0" marL="0">
              <a:buNone/>
            </a:pPr>
            <a:r>
              <a:rPr lang="en-US" sz="1400" b="1" dirty="0">
                <a:solidFill>
                  <a:srgbClr val="2F3C7E"/>
                </a:solidFill>
                <a:latin typeface="Calibri" pitchFamily="34" charset="0"/>
                <a:ea typeface="Calibri" pitchFamily="34" charset="-122"/>
                <a:cs typeface="Calibri" pitchFamily="34" charset="-120"/>
              </a:rPr>
              <a:t>Cardinalite elevee</a:t>
            </a:r>
            <a:endParaRPr lang="en-US" sz="1400" dirty="0"/>
          </a:p>
        </p:txBody>
      </p:sp>
      <p:sp>
        <p:nvSpPr>
          <p:cNvPr id="7" name="Text 5"/>
          <p:cNvSpPr txBox="1"/>
          <p:nvPr/>
        </p:nvSpPr>
        <p:spPr>
          <a:xfrm>
            <a:off x="7040880" y="2313432"/>
            <a:ext cx="4389120" cy="64008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221 quartiers (neighbourhood) a encoder sans exploser la dimension</a:t>
            </a:r>
            <a:endParaRPr lang="en-US" sz="1200" dirty="0"/>
          </a:p>
        </p:txBody>
      </p:sp>
      <p:sp>
        <p:nvSpPr>
          <p:cNvPr id="8" name="Shape 6"/>
          <p:cNvSpPr/>
          <p:nvPr/>
        </p:nvSpPr>
        <p:spPr>
          <a:xfrm>
            <a:off x="6858000" y="3200400"/>
            <a:ext cx="4754880" cy="1143000"/>
          </a:xfrm>
          <a:prstGeom prst="roundRect">
            <a:avLst>
              <a:gd name="adj" fmla="val 4800"/>
            </a:avLst>
          </a:prstGeom>
          <a:solidFill>
            <a:srgbClr val="F5F6FA"/>
          </a:solidFill>
          <a:ln/>
        </p:spPr>
      </p:sp>
      <p:sp>
        <p:nvSpPr>
          <p:cNvPr id="9" name="Text 7"/>
          <p:cNvSpPr txBox="1"/>
          <p:nvPr/>
        </p:nvSpPr>
        <p:spPr>
          <a:xfrm>
            <a:off x="7040880" y="3291840"/>
            <a:ext cx="4389120" cy="320040"/>
          </a:xfrm>
          <a:prstGeom prst="rect">
            <a:avLst/>
          </a:prstGeom>
          <a:noFill/>
          <a:ln/>
        </p:spPr>
        <p:txBody>
          <a:bodyPr wrap="square" lIns="0" tIns="0" rIns="0" bIns="0" rtlCol="0" anchor="ctr"/>
          <a:lstStyle/>
          <a:p>
            <a:pPr indent="0" marL="0">
              <a:buNone/>
            </a:pPr>
            <a:r>
              <a:rPr lang="en-US" sz="1400" b="1" dirty="0">
                <a:solidFill>
                  <a:srgbClr val="2F3C7E"/>
                </a:solidFill>
                <a:latin typeface="Calibri" pitchFamily="34" charset="0"/>
                <a:ea typeface="Calibri" pitchFamily="34" charset="-122"/>
                <a:cs typeface="Calibri" pitchFamily="34" charset="-120"/>
              </a:rPr>
              <a:t>Non-linearite</a:t>
            </a:r>
            <a:endParaRPr lang="en-US" sz="1400" dirty="0"/>
          </a:p>
        </p:txBody>
      </p:sp>
      <p:sp>
        <p:nvSpPr>
          <p:cNvPr id="10" name="Text 8"/>
          <p:cNvSpPr txBox="1"/>
          <p:nvPr/>
        </p:nvSpPr>
        <p:spPr>
          <a:xfrm>
            <a:off x="7040880" y="3639312"/>
            <a:ext cx="4389120" cy="64008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Le prix n'evolue pas lineairement avec la distance ou le nombre d'avis</a:t>
            </a:r>
            <a:endParaRPr lang="en-US" sz="1200" dirty="0"/>
          </a:p>
        </p:txBody>
      </p:sp>
      <p:sp>
        <p:nvSpPr>
          <p:cNvPr id="11" name="Shape 9"/>
          <p:cNvSpPr/>
          <p:nvPr/>
        </p:nvSpPr>
        <p:spPr>
          <a:xfrm>
            <a:off x="6858000" y="4526280"/>
            <a:ext cx="4754880" cy="1143000"/>
          </a:xfrm>
          <a:prstGeom prst="roundRect">
            <a:avLst>
              <a:gd name="adj" fmla="val 4800"/>
            </a:avLst>
          </a:prstGeom>
          <a:solidFill>
            <a:srgbClr val="F5F6FA"/>
          </a:solidFill>
          <a:ln/>
        </p:spPr>
      </p:sp>
      <p:sp>
        <p:nvSpPr>
          <p:cNvPr id="12" name="Text 10"/>
          <p:cNvSpPr txBox="1"/>
          <p:nvPr/>
        </p:nvSpPr>
        <p:spPr>
          <a:xfrm>
            <a:off x="7040880" y="4617720"/>
            <a:ext cx="4389120" cy="320040"/>
          </a:xfrm>
          <a:prstGeom prst="rect">
            <a:avLst/>
          </a:prstGeom>
          <a:noFill/>
          <a:ln/>
        </p:spPr>
        <p:txBody>
          <a:bodyPr wrap="square" lIns="0" tIns="0" rIns="0" bIns="0" rtlCol="0" anchor="ctr"/>
          <a:lstStyle/>
          <a:p>
            <a:pPr indent="0" marL="0">
              <a:buNone/>
            </a:pPr>
            <a:r>
              <a:rPr lang="en-US" sz="1400" b="1" dirty="0">
                <a:solidFill>
                  <a:srgbClr val="2F3C7E"/>
                </a:solidFill>
                <a:latin typeface="Calibri" pitchFamily="34" charset="0"/>
                <a:ea typeface="Calibri" pitchFamily="34" charset="-122"/>
                <a:cs typeface="Calibri" pitchFamily="34" charset="-120"/>
              </a:rPr>
              <a:t>Information manquante</a:t>
            </a:r>
            <a:endParaRPr lang="en-US" sz="1400" dirty="0"/>
          </a:p>
        </p:txBody>
      </p:sp>
      <p:sp>
        <p:nvSpPr>
          <p:cNvPr id="13" name="Text 11"/>
          <p:cNvSpPr txBox="1"/>
          <p:nvPr/>
        </p:nvSpPr>
        <p:spPr>
          <a:xfrm>
            <a:off x="7040880" y="4965192"/>
            <a:ext cx="4389120" cy="64008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Pas de photos ni de texte : une partie du prix reste inexpliquee</a:t>
            </a:r>
            <a:endParaRPr lang="en-US" sz="1200" dirty="0"/>
          </a:p>
        </p:txBody>
      </p:sp>
      <p:sp>
        <p:nvSpPr>
          <p:cNvPr id="14" name="Text 12"/>
          <p:cNvSpPr txBox="1"/>
          <p:nvPr/>
        </p:nvSpPr>
        <p:spPr>
          <a:xfrm>
            <a:off x="11475720" y="6446520"/>
            <a:ext cx="548640" cy="32004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7315200" cy="320040"/>
          </a:xfrm>
          <a:prstGeom prst="rect">
            <a:avLst/>
          </a:prstGeom>
          <a:noFill/>
          <a:ln/>
        </p:spPr>
        <p:txBody>
          <a:bodyPr wrap="square" lIns="0" tIns="0" rIns="0" bIns="0" rtlCol="0" anchor="ctr"/>
          <a:lstStyle/>
          <a:p>
            <a:pPr indent="0" marL="0">
              <a:buNone/>
            </a:pPr>
            <a:r>
              <a:rPr lang="en-US" sz="1300" b="1" spc="200" kern="0" dirty="0">
                <a:solidFill>
                  <a:srgbClr val="F96167"/>
                </a:solidFill>
                <a:latin typeface="Calibri" pitchFamily="34" charset="0"/>
                <a:ea typeface="Calibri" pitchFamily="34" charset="-122"/>
                <a:cs typeface="Calibri" pitchFamily="34" charset="-120"/>
              </a:rPr>
              <a:t>01 . INTRODUCTION</a:t>
            </a:r>
            <a:endParaRPr lang="en-US" sz="1300" dirty="0"/>
          </a:p>
        </p:txBody>
      </p:sp>
      <p:sp>
        <p:nvSpPr>
          <p:cNvPr id="3" name="Text 1"/>
          <p:cNvSpPr txBox="1"/>
          <p:nvPr/>
        </p:nvSpPr>
        <p:spPr>
          <a:xfrm>
            <a:off x="548640" y="685800"/>
            <a:ext cx="10515600" cy="822960"/>
          </a:xfrm>
          <a:prstGeom prst="rect">
            <a:avLst/>
          </a:prstGeom>
          <a:noFill/>
          <a:ln/>
        </p:spPr>
        <p:txBody>
          <a:bodyPr wrap="square" lIns="0" tIns="0" rIns="0" bIns="0" rtlCol="0" anchor="ctr"/>
          <a:lstStyle/>
          <a:p>
            <a:pPr indent="0" marL="0">
              <a:buNone/>
            </a:pPr>
            <a:r>
              <a:rPr lang="en-US" sz="3200" b="1" dirty="0">
                <a:solidFill>
                  <a:srgbClr val="1B1F3B"/>
                </a:solidFill>
                <a:latin typeface="Cambria" pitchFamily="34" charset="0"/>
                <a:ea typeface="Cambria" pitchFamily="34" charset="-122"/>
                <a:cs typeface="Cambria" pitchFamily="34" charset="-120"/>
              </a:rPr>
              <a:t>Objectifs du projet</a:t>
            </a:r>
            <a:endParaRPr lang="en-US" sz="3200" dirty="0"/>
          </a:p>
        </p:txBody>
      </p:sp>
      <p:sp>
        <p:nvSpPr>
          <p:cNvPr id="4" name="Shape 2"/>
          <p:cNvSpPr/>
          <p:nvPr/>
        </p:nvSpPr>
        <p:spPr>
          <a:xfrm>
            <a:off x="548640" y="1783080"/>
            <a:ext cx="457200" cy="457200"/>
          </a:xfrm>
          <a:prstGeom prst="ellipse">
            <a:avLst/>
          </a:prstGeom>
          <a:solidFill>
            <a:srgbClr val="2F3C7E"/>
          </a:solidFill>
          <a:ln/>
        </p:spPr>
      </p:sp>
      <p:sp>
        <p:nvSpPr>
          <p:cNvPr id="5" name="Text 3"/>
          <p:cNvSpPr txBox="1"/>
          <p:nvPr/>
        </p:nvSpPr>
        <p:spPr>
          <a:xfrm>
            <a:off x="548640" y="17830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6" name="Text 4"/>
          <p:cNvSpPr txBox="1"/>
          <p:nvPr/>
        </p:nvSpPr>
        <p:spPr>
          <a:xfrm>
            <a:off x="1234440" y="1764792"/>
            <a:ext cx="4846320" cy="502920"/>
          </a:xfrm>
          <a:prstGeom prst="rect">
            <a:avLst/>
          </a:prstGeom>
          <a:noFill/>
          <a:ln/>
        </p:spPr>
        <p:txBody>
          <a:bodyPr wrap="square" lIns="0" tIns="0" rIns="0" bIns="0" rtlCol="0" anchor="ctr"/>
          <a:lstStyle/>
          <a:p>
            <a:pPr indent="0" marL="0">
              <a:buNone/>
            </a:pPr>
            <a:r>
              <a:rPr lang="en-US" sz="1400" b="1" dirty="0">
                <a:solidFill>
                  <a:srgbClr val="1B1F3B"/>
                </a:solidFill>
                <a:latin typeface="Calibri" pitchFamily="34" charset="0"/>
                <a:ea typeface="Calibri" pitchFamily="34" charset="-122"/>
                <a:cs typeface="Calibri" pitchFamily="34" charset="-120"/>
              </a:rPr>
              <a:t>Pretraiter rigoureusement les donnees</a:t>
            </a:r>
            <a:endParaRPr lang="en-US" sz="1400" dirty="0"/>
          </a:p>
        </p:txBody>
      </p:sp>
      <p:sp>
        <p:nvSpPr>
          <p:cNvPr id="7" name="Text 5"/>
          <p:cNvSpPr txBox="1"/>
          <p:nvPr/>
        </p:nvSpPr>
        <p:spPr>
          <a:xfrm>
            <a:off x="6263640" y="1764792"/>
            <a:ext cx="5394960" cy="502920"/>
          </a:xfrm>
          <a:prstGeom prst="rect">
            <a:avLst/>
          </a:prstGeom>
          <a:noFill/>
          <a:ln/>
        </p:spPr>
        <p:txBody>
          <a:bodyPr wrap="square" lIns="0" tIns="0" rIns="0" bIns="0" rtlCol="0" anchor="ctr"/>
          <a:lstStyle/>
          <a:p>
            <a:pPr indent="0" marL="0">
              <a:buNone/>
            </a:pPr>
            <a:r>
              <a:rPr lang="en-US" sz="1250" dirty="0">
                <a:solidFill>
                  <a:srgbClr val="6B7280"/>
                </a:solidFill>
                <a:latin typeface="Calibri" pitchFamily="34" charset="0"/>
                <a:ea typeface="Calibri" pitchFamily="34" charset="-122"/>
                <a:cs typeface="Calibri" pitchFamily="34" charset="-120"/>
              </a:rPr>
              <a:t>valeurs aberrantes, valeurs manquantes, feature engineering, encodage adapte</a:t>
            </a:r>
            <a:endParaRPr lang="en-US" sz="1250" dirty="0"/>
          </a:p>
        </p:txBody>
      </p:sp>
      <p:sp>
        <p:nvSpPr>
          <p:cNvPr id="8" name="Shape 6"/>
          <p:cNvSpPr/>
          <p:nvPr/>
        </p:nvSpPr>
        <p:spPr>
          <a:xfrm>
            <a:off x="548640" y="2624328"/>
            <a:ext cx="457200" cy="457200"/>
          </a:xfrm>
          <a:prstGeom prst="ellipse">
            <a:avLst/>
          </a:prstGeom>
          <a:solidFill>
            <a:srgbClr val="2F3C7E"/>
          </a:solidFill>
          <a:ln/>
        </p:spPr>
      </p:sp>
      <p:sp>
        <p:nvSpPr>
          <p:cNvPr id="9" name="Text 7"/>
          <p:cNvSpPr txBox="1"/>
          <p:nvPr/>
        </p:nvSpPr>
        <p:spPr>
          <a:xfrm>
            <a:off x="548640" y="262432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0" name="Text 8"/>
          <p:cNvSpPr txBox="1"/>
          <p:nvPr/>
        </p:nvSpPr>
        <p:spPr>
          <a:xfrm>
            <a:off x="1234440" y="2606040"/>
            <a:ext cx="4846320" cy="502920"/>
          </a:xfrm>
          <a:prstGeom prst="rect">
            <a:avLst/>
          </a:prstGeom>
          <a:noFill/>
          <a:ln/>
        </p:spPr>
        <p:txBody>
          <a:bodyPr wrap="square" lIns="0" tIns="0" rIns="0" bIns="0" rtlCol="0" anchor="ctr"/>
          <a:lstStyle/>
          <a:p>
            <a:pPr indent="0" marL="0">
              <a:buNone/>
            </a:pPr>
            <a:r>
              <a:rPr lang="en-US" sz="1400" b="1" dirty="0">
                <a:solidFill>
                  <a:srgbClr val="1B1F3B"/>
                </a:solidFill>
                <a:latin typeface="Calibri" pitchFamily="34" charset="0"/>
                <a:ea typeface="Calibri" pitchFamily="34" charset="-122"/>
                <a:cs typeface="Calibri" pitchFamily="34" charset="-120"/>
              </a:rPr>
              <a:t>Comparer au moins 10 algorithmes</a:t>
            </a:r>
            <a:endParaRPr lang="en-US" sz="1400" dirty="0"/>
          </a:p>
        </p:txBody>
      </p:sp>
      <p:sp>
        <p:nvSpPr>
          <p:cNvPr id="11" name="Text 9"/>
          <p:cNvSpPr txBox="1"/>
          <p:nvPr/>
        </p:nvSpPr>
        <p:spPr>
          <a:xfrm>
            <a:off x="6263640" y="2606040"/>
            <a:ext cx="5394960" cy="502920"/>
          </a:xfrm>
          <a:prstGeom prst="rect">
            <a:avLst/>
          </a:prstGeom>
          <a:noFill/>
          <a:ln/>
        </p:spPr>
        <p:txBody>
          <a:bodyPr wrap="square" lIns="0" tIns="0" rIns="0" bIns="0" rtlCol="0" anchor="ctr"/>
          <a:lstStyle/>
          <a:p>
            <a:pPr indent="0" marL="0">
              <a:buNone/>
            </a:pPr>
            <a:r>
              <a:rPr lang="en-US" sz="1250" dirty="0">
                <a:solidFill>
                  <a:srgbClr val="6B7280"/>
                </a:solidFill>
                <a:latin typeface="Calibri" pitchFamily="34" charset="0"/>
                <a:ea typeface="Calibri" pitchFamily="34" charset="-122"/>
                <a:cs typeface="Calibri" pitchFamily="34" charset="-120"/>
              </a:rPr>
              <a:t>12 modeles testes : lineaires, ensembles d'arbres, SVR, reseau de neurones</a:t>
            </a:r>
            <a:endParaRPr lang="en-US" sz="1250" dirty="0"/>
          </a:p>
        </p:txBody>
      </p:sp>
      <p:sp>
        <p:nvSpPr>
          <p:cNvPr id="12" name="Shape 10"/>
          <p:cNvSpPr/>
          <p:nvPr/>
        </p:nvSpPr>
        <p:spPr>
          <a:xfrm>
            <a:off x="548640" y="3465576"/>
            <a:ext cx="457200" cy="457200"/>
          </a:xfrm>
          <a:prstGeom prst="ellipse">
            <a:avLst/>
          </a:prstGeom>
          <a:solidFill>
            <a:srgbClr val="2F3C7E"/>
          </a:solidFill>
          <a:ln/>
        </p:spPr>
      </p:sp>
      <p:sp>
        <p:nvSpPr>
          <p:cNvPr id="13" name="Text 11"/>
          <p:cNvSpPr txBox="1"/>
          <p:nvPr/>
        </p:nvSpPr>
        <p:spPr>
          <a:xfrm>
            <a:off x="548640" y="3465576"/>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4" name="Text 12"/>
          <p:cNvSpPr txBox="1"/>
          <p:nvPr/>
        </p:nvSpPr>
        <p:spPr>
          <a:xfrm>
            <a:off x="1234440" y="3447288"/>
            <a:ext cx="4846320" cy="502920"/>
          </a:xfrm>
          <a:prstGeom prst="rect">
            <a:avLst/>
          </a:prstGeom>
          <a:noFill/>
          <a:ln/>
        </p:spPr>
        <p:txBody>
          <a:bodyPr wrap="square" lIns="0" tIns="0" rIns="0" bIns="0" rtlCol="0" anchor="ctr"/>
          <a:lstStyle/>
          <a:p>
            <a:pPr indent="0" marL="0">
              <a:buNone/>
            </a:pPr>
            <a:r>
              <a:rPr lang="en-US" sz="1400" b="1" dirty="0">
                <a:solidFill>
                  <a:srgbClr val="1B1F3B"/>
                </a:solidFill>
                <a:latin typeface="Calibri" pitchFamily="34" charset="0"/>
                <a:ea typeface="Calibri" pitchFamily="34" charset="-122"/>
                <a:cs typeface="Calibri" pitchFamily="34" charset="-120"/>
              </a:rPr>
              <a:t>Optimiser les hyperparametres</a:t>
            </a:r>
            <a:endParaRPr lang="en-US" sz="1400" dirty="0"/>
          </a:p>
        </p:txBody>
      </p:sp>
      <p:sp>
        <p:nvSpPr>
          <p:cNvPr id="15" name="Text 13"/>
          <p:cNvSpPr txBox="1"/>
          <p:nvPr/>
        </p:nvSpPr>
        <p:spPr>
          <a:xfrm>
            <a:off x="6263640" y="3447288"/>
            <a:ext cx="5394960" cy="502920"/>
          </a:xfrm>
          <a:prstGeom prst="rect">
            <a:avLst/>
          </a:prstGeom>
          <a:noFill/>
          <a:ln/>
        </p:spPr>
        <p:txBody>
          <a:bodyPr wrap="square" lIns="0" tIns="0" rIns="0" bIns="0" rtlCol="0" anchor="ctr"/>
          <a:lstStyle/>
          <a:p>
            <a:pPr indent="0" marL="0">
              <a:buNone/>
            </a:pPr>
            <a:r>
              <a:rPr lang="en-US" sz="1250" dirty="0">
                <a:solidFill>
                  <a:srgbClr val="6B7280"/>
                </a:solidFill>
                <a:latin typeface="Calibri" pitchFamily="34" charset="0"/>
                <a:ea typeface="Calibri" pitchFamily="34" charset="-122"/>
                <a:cs typeface="Calibri" pitchFamily="34" charset="-120"/>
              </a:rPr>
              <a:t>RandomizedSearchCV sur les 3 meilleurs modeles</a:t>
            </a:r>
            <a:endParaRPr lang="en-US" sz="1250" dirty="0"/>
          </a:p>
        </p:txBody>
      </p:sp>
      <p:sp>
        <p:nvSpPr>
          <p:cNvPr id="16" name="Shape 14"/>
          <p:cNvSpPr/>
          <p:nvPr/>
        </p:nvSpPr>
        <p:spPr>
          <a:xfrm>
            <a:off x="548640" y="4306824"/>
            <a:ext cx="457200" cy="457200"/>
          </a:xfrm>
          <a:prstGeom prst="ellipse">
            <a:avLst/>
          </a:prstGeom>
          <a:solidFill>
            <a:srgbClr val="2F3C7E"/>
          </a:solidFill>
          <a:ln/>
        </p:spPr>
      </p:sp>
      <p:sp>
        <p:nvSpPr>
          <p:cNvPr id="17" name="Text 15"/>
          <p:cNvSpPr txBox="1"/>
          <p:nvPr/>
        </p:nvSpPr>
        <p:spPr>
          <a:xfrm>
            <a:off x="548640" y="4306824"/>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8" name="Text 16"/>
          <p:cNvSpPr txBox="1"/>
          <p:nvPr/>
        </p:nvSpPr>
        <p:spPr>
          <a:xfrm>
            <a:off x="1234440" y="4288536"/>
            <a:ext cx="4846320" cy="502920"/>
          </a:xfrm>
          <a:prstGeom prst="rect">
            <a:avLst/>
          </a:prstGeom>
          <a:noFill/>
          <a:ln/>
        </p:spPr>
        <p:txBody>
          <a:bodyPr wrap="square" lIns="0" tIns="0" rIns="0" bIns="0" rtlCol="0" anchor="ctr"/>
          <a:lstStyle/>
          <a:p>
            <a:pPr indent="0" marL="0">
              <a:buNone/>
            </a:pPr>
            <a:r>
              <a:rPr lang="en-US" sz="1400" b="1" dirty="0">
                <a:solidFill>
                  <a:srgbClr val="1B1F3B"/>
                </a:solidFill>
                <a:latin typeface="Calibri" pitchFamily="34" charset="0"/>
                <a:ea typeface="Calibri" pitchFamily="34" charset="-122"/>
                <a:cs typeface="Calibri" pitchFamily="34" charset="-120"/>
              </a:rPr>
              <a:t>Evaluer avec au moins 4 metriques</a:t>
            </a:r>
            <a:endParaRPr lang="en-US" sz="1400" dirty="0"/>
          </a:p>
        </p:txBody>
      </p:sp>
      <p:sp>
        <p:nvSpPr>
          <p:cNvPr id="19" name="Text 17"/>
          <p:cNvSpPr txBox="1"/>
          <p:nvPr/>
        </p:nvSpPr>
        <p:spPr>
          <a:xfrm>
            <a:off x="6263640" y="4288536"/>
            <a:ext cx="5394960" cy="502920"/>
          </a:xfrm>
          <a:prstGeom prst="rect">
            <a:avLst/>
          </a:prstGeom>
          <a:noFill/>
          <a:ln/>
        </p:spPr>
        <p:txBody>
          <a:bodyPr wrap="square" lIns="0" tIns="0" rIns="0" bIns="0" rtlCol="0" anchor="ctr"/>
          <a:lstStyle/>
          <a:p>
            <a:pPr indent="0" marL="0">
              <a:buNone/>
            </a:pPr>
            <a:r>
              <a:rPr lang="en-US" sz="1250" dirty="0">
                <a:solidFill>
                  <a:srgbClr val="6B7280"/>
                </a:solidFill>
                <a:latin typeface="Calibri" pitchFamily="34" charset="0"/>
                <a:ea typeface="Calibri" pitchFamily="34" charset="-122"/>
                <a:cs typeface="Calibri" pitchFamily="34" charset="-120"/>
              </a:rPr>
              <a:t>RMSE, MAE, R2, MAPE + validation croisee a 5 plis</a:t>
            </a:r>
            <a:endParaRPr lang="en-US" sz="1250" dirty="0"/>
          </a:p>
        </p:txBody>
      </p:sp>
      <p:sp>
        <p:nvSpPr>
          <p:cNvPr id="20" name="Shape 18"/>
          <p:cNvSpPr/>
          <p:nvPr/>
        </p:nvSpPr>
        <p:spPr>
          <a:xfrm>
            <a:off x="548640" y="5148072"/>
            <a:ext cx="457200" cy="457200"/>
          </a:xfrm>
          <a:prstGeom prst="ellipse">
            <a:avLst/>
          </a:prstGeom>
          <a:solidFill>
            <a:srgbClr val="2F3C7E"/>
          </a:solidFill>
          <a:ln/>
        </p:spPr>
      </p:sp>
      <p:sp>
        <p:nvSpPr>
          <p:cNvPr id="21" name="Text 19"/>
          <p:cNvSpPr txBox="1"/>
          <p:nvPr/>
        </p:nvSpPr>
        <p:spPr>
          <a:xfrm>
            <a:off x="548640" y="514807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22" name="Text 20"/>
          <p:cNvSpPr txBox="1"/>
          <p:nvPr/>
        </p:nvSpPr>
        <p:spPr>
          <a:xfrm>
            <a:off x="1234440" y="5129784"/>
            <a:ext cx="4846320" cy="502920"/>
          </a:xfrm>
          <a:prstGeom prst="rect">
            <a:avLst/>
          </a:prstGeom>
          <a:noFill/>
          <a:ln/>
        </p:spPr>
        <p:txBody>
          <a:bodyPr wrap="square" lIns="0" tIns="0" rIns="0" bIns="0" rtlCol="0" anchor="ctr"/>
          <a:lstStyle/>
          <a:p>
            <a:pPr indent="0" marL="0">
              <a:buNone/>
            </a:pPr>
            <a:r>
              <a:rPr lang="en-US" sz="1400" b="1" dirty="0">
                <a:solidFill>
                  <a:srgbClr val="1B1F3B"/>
                </a:solidFill>
                <a:latin typeface="Calibri" pitchFamily="34" charset="0"/>
                <a:ea typeface="Calibri" pitchFamily="34" charset="-122"/>
                <a:cs typeface="Calibri" pitchFamily="34" charset="-120"/>
              </a:rPr>
              <a:t>Construire une interface graphique</a:t>
            </a:r>
            <a:endParaRPr lang="en-US" sz="1400" dirty="0"/>
          </a:p>
        </p:txBody>
      </p:sp>
      <p:sp>
        <p:nvSpPr>
          <p:cNvPr id="23" name="Text 21"/>
          <p:cNvSpPr txBox="1"/>
          <p:nvPr/>
        </p:nvSpPr>
        <p:spPr>
          <a:xfrm>
            <a:off x="6263640" y="5129784"/>
            <a:ext cx="5394960" cy="502920"/>
          </a:xfrm>
          <a:prstGeom prst="rect">
            <a:avLst/>
          </a:prstGeom>
          <a:noFill/>
          <a:ln/>
        </p:spPr>
        <p:txBody>
          <a:bodyPr wrap="square" lIns="0" tIns="0" rIns="0" bIns="0" rtlCol="0" anchor="ctr"/>
          <a:lstStyle/>
          <a:p>
            <a:pPr indent="0" marL="0">
              <a:buNone/>
            </a:pPr>
            <a:r>
              <a:rPr lang="en-US" sz="1250" dirty="0">
                <a:solidFill>
                  <a:srgbClr val="6B7280"/>
                </a:solidFill>
                <a:latin typeface="Calibri" pitchFamily="34" charset="0"/>
                <a:ea typeface="Calibri" pitchFamily="34" charset="-122"/>
                <a:cs typeface="Calibri" pitchFamily="34" charset="-120"/>
              </a:rPr>
              <a:t>exploration, entrainement, prediction en temps reel avec carte</a:t>
            </a:r>
            <a:endParaRPr lang="en-US" sz="1250" dirty="0"/>
          </a:p>
        </p:txBody>
      </p:sp>
      <p:sp>
        <p:nvSpPr>
          <p:cNvPr id="24" name="Text 22"/>
          <p:cNvSpPr txBox="1"/>
          <p:nvPr/>
        </p:nvSpPr>
        <p:spPr>
          <a:xfrm>
            <a:off x="11475720" y="6446520"/>
            <a:ext cx="548640" cy="32004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7315200" cy="320040"/>
          </a:xfrm>
          <a:prstGeom prst="rect">
            <a:avLst/>
          </a:prstGeom>
          <a:noFill/>
          <a:ln/>
        </p:spPr>
        <p:txBody>
          <a:bodyPr wrap="square" lIns="0" tIns="0" rIns="0" bIns="0" rtlCol="0" anchor="ctr"/>
          <a:lstStyle/>
          <a:p>
            <a:pPr indent="0" marL="0">
              <a:buNone/>
            </a:pPr>
            <a:r>
              <a:rPr lang="en-US" sz="1300" b="1" spc="200" kern="0" dirty="0">
                <a:solidFill>
                  <a:srgbClr val="F96167"/>
                </a:solidFill>
                <a:latin typeface="Calibri" pitchFamily="34" charset="0"/>
                <a:ea typeface="Calibri" pitchFamily="34" charset="-122"/>
                <a:cs typeface="Calibri" pitchFamily="34" charset="-120"/>
              </a:rPr>
              <a:t>02 . VEILLE SCIENTIFIQUE</a:t>
            </a:r>
            <a:endParaRPr lang="en-US" sz="1300" dirty="0"/>
          </a:p>
        </p:txBody>
      </p:sp>
      <p:sp>
        <p:nvSpPr>
          <p:cNvPr id="3" name="Text 1"/>
          <p:cNvSpPr txBox="1"/>
          <p:nvPr/>
        </p:nvSpPr>
        <p:spPr>
          <a:xfrm>
            <a:off x="548640" y="685800"/>
            <a:ext cx="10515600" cy="822960"/>
          </a:xfrm>
          <a:prstGeom prst="rect">
            <a:avLst/>
          </a:prstGeom>
          <a:noFill/>
          <a:ln/>
        </p:spPr>
        <p:txBody>
          <a:bodyPr wrap="square" lIns="0" tIns="0" rIns="0" bIns="0" rtlCol="0" anchor="ctr"/>
          <a:lstStyle/>
          <a:p>
            <a:pPr indent="0" marL="0">
              <a:buNone/>
            </a:pPr>
            <a:r>
              <a:rPr lang="en-US" sz="3200" b="1" dirty="0">
                <a:solidFill>
                  <a:srgbClr val="1B1F3B"/>
                </a:solidFill>
                <a:latin typeface="Cambria" pitchFamily="34" charset="0"/>
                <a:ea typeface="Cambria" pitchFamily="34" charset="-122"/>
                <a:cs typeface="Cambria" pitchFamily="34" charset="-120"/>
              </a:rPr>
              <a:t>Etat de l'art et choix technologiques</a:t>
            </a:r>
            <a:endParaRPr lang="en-US" sz="3200" dirty="0"/>
          </a:p>
        </p:txBody>
      </p:sp>
      <p:sp>
        <p:nvSpPr>
          <p:cNvPr id="4" name="Text 2"/>
          <p:cNvSpPr txBox="1"/>
          <p:nvPr/>
        </p:nvSpPr>
        <p:spPr>
          <a:xfrm>
            <a:off x="548640" y="1691640"/>
            <a:ext cx="5394960" cy="320040"/>
          </a:xfrm>
          <a:prstGeom prst="rect">
            <a:avLst/>
          </a:prstGeom>
          <a:noFill/>
          <a:ln/>
        </p:spPr>
        <p:txBody>
          <a:bodyPr wrap="square" lIns="0" tIns="0" rIns="0" bIns="0" rtlCol="0" anchor="ctr"/>
          <a:lstStyle/>
          <a:p>
            <a:pPr indent="0" marL="0">
              <a:buNone/>
            </a:pPr>
            <a:r>
              <a:rPr lang="en-US" sz="1600" b="1" dirty="0">
                <a:solidFill>
                  <a:srgbClr val="2F3C7E"/>
                </a:solidFill>
                <a:latin typeface="Cambria" pitchFamily="34" charset="0"/>
                <a:ea typeface="Cambria" pitchFamily="34" charset="-122"/>
                <a:cs typeface="Cambria" pitchFamily="34" charset="-120"/>
              </a:rPr>
              <a:t>Revue de littérature</a:t>
            </a:r>
            <a:endParaRPr lang="en-US" sz="1600" dirty="0"/>
          </a:p>
        </p:txBody>
      </p:sp>
      <p:sp>
        <p:nvSpPr>
          <p:cNvPr id="5" name="Text 3"/>
          <p:cNvSpPr txBox="1"/>
          <p:nvPr/>
        </p:nvSpPr>
        <p:spPr>
          <a:xfrm>
            <a:off x="548640" y="2057400"/>
            <a:ext cx="5394960" cy="3931920"/>
          </a:xfrm>
          <a:prstGeom prst="rect">
            <a:avLst/>
          </a:prstGeom>
          <a:noFill/>
          <a:ln/>
        </p:spPr>
        <p:txBody>
          <a:bodyPr wrap="square" lIns="0" tIns="0" rIns="0" bIns="0" rtlCol="0" anchor="t"/>
          <a:lstStyle/>
          <a:p>
            <a:pPr marL="228600" indent="-228600">
              <a:spcAft>
                <a:spcPts val="1400"/>
              </a:spcAft>
              <a:buSzPct val="100000"/>
              <a:buChar char="●"/>
            </a:pPr>
            <a:r>
              <a:rPr lang="en-US" sz="1250" dirty="0">
                <a:solidFill>
                  <a:srgbClr val="1B1F3B"/>
                </a:solidFill>
                <a:latin typeface="Calibri" pitchFamily="34" charset="0"/>
                <a:ea typeface="Calibri" pitchFamily="34" charset="-122"/>
                <a:cs typeface="Calibri" pitchFamily="34" charset="-120"/>
              </a:rPr>
              <a:t>Régression hédonique classique : simple mais ne capture pas les interactions (ex. l'effet du quartier dépend du type de logement).</a:t>
            </a:r>
            <a:endParaRPr lang="en-US" sz="1250" dirty="0"/>
          </a:p>
          <a:p>
            <a:pPr marL="228600" indent="-228600">
              <a:spcAft>
                <a:spcPts val="1400"/>
              </a:spcAft>
              <a:buSzPct val="100000"/>
              <a:buChar char="●"/>
            </a:pPr>
            <a:r>
              <a:rPr lang="en-US" sz="1250" dirty="0">
                <a:solidFill>
                  <a:srgbClr val="1B1F3B"/>
                </a:solidFill>
                <a:latin typeface="Calibri" pitchFamily="34" charset="0"/>
                <a:ea typeface="Calibri" pitchFamily="34" charset="-122"/>
                <a:cs typeface="Calibri" pitchFamily="34" charset="-120"/>
              </a:rPr>
              <a:t>Breiman (2001, Random Forest) et Chen &amp; Guestrin (2016, XGBoost) : les ensembles d'arbres dominent sur données tabulaires.</a:t>
            </a:r>
            <a:endParaRPr lang="en-US" sz="1250" dirty="0"/>
          </a:p>
          <a:p>
            <a:pPr marL="228600" indent="-228600">
              <a:spcAft>
                <a:spcPts val="1400"/>
              </a:spcAft>
              <a:buSzPct val="100000"/>
              <a:buChar char="●"/>
            </a:pPr>
            <a:r>
              <a:rPr lang="en-US" sz="1250" dirty="0">
                <a:solidFill>
                  <a:srgbClr val="1B1F3B"/>
                </a:solidFill>
                <a:latin typeface="Calibri" pitchFamily="34" charset="0"/>
                <a:ea typeface="Calibri" pitchFamily="34" charset="-122"/>
                <a:cs typeface="Calibri" pitchFamily="34" charset="-120"/>
              </a:rPr>
              <a:t>Littérature sur ce même dataset : R² généralement entre 0,5 et 0,65 sans variables textuelles/visuelles — confirme la limite structurelle attendue.</a:t>
            </a:r>
            <a:endParaRPr lang="en-US" sz="1250" dirty="0"/>
          </a:p>
        </p:txBody>
      </p:sp>
      <p:sp>
        <p:nvSpPr>
          <p:cNvPr id="6" name="Text 4"/>
          <p:cNvSpPr txBox="1"/>
          <p:nvPr/>
        </p:nvSpPr>
        <p:spPr>
          <a:xfrm>
            <a:off x="6263640" y="1691640"/>
            <a:ext cx="5394960" cy="320040"/>
          </a:xfrm>
          <a:prstGeom prst="rect">
            <a:avLst/>
          </a:prstGeom>
          <a:noFill/>
          <a:ln/>
        </p:spPr>
        <p:txBody>
          <a:bodyPr wrap="square" lIns="0" tIns="0" rIns="0" bIns="0" rtlCol="0" anchor="ctr"/>
          <a:lstStyle/>
          <a:p>
            <a:pPr indent="0" marL="0">
              <a:buNone/>
            </a:pPr>
            <a:r>
              <a:rPr lang="en-US" sz="1600" b="1" dirty="0">
                <a:solidFill>
                  <a:srgbClr val="2F3C7E"/>
                </a:solidFill>
                <a:latin typeface="Cambria" pitchFamily="34" charset="0"/>
                <a:ea typeface="Cambria" pitchFamily="34" charset="-122"/>
                <a:cs typeface="Cambria" pitchFamily="34" charset="-120"/>
              </a:rPr>
              <a:t>Technologies retenues</a:t>
            </a:r>
            <a:endParaRPr lang="en-US" sz="1600" dirty="0"/>
          </a:p>
        </p:txBody>
      </p:sp>
      <p:sp>
        <p:nvSpPr>
          <p:cNvPr id="7" name="Shape 5"/>
          <p:cNvSpPr/>
          <p:nvPr/>
        </p:nvSpPr>
        <p:spPr>
          <a:xfrm>
            <a:off x="6263640" y="2103120"/>
            <a:ext cx="384048" cy="384048"/>
          </a:xfrm>
          <a:prstGeom prst="ellipse">
            <a:avLst/>
          </a:prstGeom>
          <a:solidFill>
            <a:srgbClr val="F96167"/>
          </a:solidFill>
          <a:ln/>
        </p:spPr>
      </p:sp>
      <p:sp>
        <p:nvSpPr>
          <p:cNvPr id="8" name="Text 6"/>
          <p:cNvSpPr txBox="1"/>
          <p:nvPr/>
        </p:nvSpPr>
        <p:spPr>
          <a:xfrm>
            <a:off x="6263640" y="21031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9" name="Text 7"/>
          <p:cNvSpPr txBox="1"/>
          <p:nvPr/>
        </p:nvSpPr>
        <p:spPr>
          <a:xfrm>
            <a:off x="6812280" y="2075688"/>
            <a:ext cx="4846320" cy="320040"/>
          </a:xfrm>
          <a:prstGeom prst="rect">
            <a:avLst/>
          </a:prstGeom>
          <a:noFill/>
          <a:ln/>
        </p:spPr>
        <p:txBody>
          <a:bodyPr wrap="square" lIns="0" tIns="0" rIns="0" bIns="0" rtlCol="0" anchor="ctr"/>
          <a:lstStyle/>
          <a:p>
            <a:pPr indent="0" marL="0">
              <a:buNone/>
            </a:pPr>
            <a:r>
              <a:rPr lang="en-US" sz="1300" b="1" dirty="0">
                <a:solidFill>
                  <a:srgbClr val="1B1F3B"/>
                </a:solidFill>
                <a:latin typeface="Calibri" pitchFamily="34" charset="0"/>
                <a:ea typeface="Calibri" pitchFamily="34" charset="-122"/>
                <a:cs typeface="Calibri" pitchFamily="34" charset="-120"/>
              </a:rPr>
              <a:t>scikit-learn</a:t>
            </a:r>
            <a:endParaRPr lang="en-US" sz="1300" dirty="0"/>
          </a:p>
        </p:txBody>
      </p:sp>
      <p:sp>
        <p:nvSpPr>
          <p:cNvPr id="10" name="Text 8"/>
          <p:cNvSpPr txBox="1"/>
          <p:nvPr/>
        </p:nvSpPr>
        <p:spPr>
          <a:xfrm>
            <a:off x="6812280" y="2377440"/>
            <a:ext cx="4846320" cy="548640"/>
          </a:xfrm>
          <a:prstGeom prst="rect">
            <a:avLst/>
          </a:prstGeom>
          <a:noFill/>
          <a:ln/>
        </p:spPr>
        <p:txBody>
          <a:bodyPr wrap="square" lIns="0" tIns="0" rIns="0" bIns="0" rtlCol="0" anchor="ctr"/>
          <a:lstStyle/>
          <a:p>
            <a:pPr indent="0" marL="0">
              <a:buNone/>
            </a:pPr>
            <a:r>
              <a:rPr lang="en-US" sz="1150" dirty="0">
                <a:solidFill>
                  <a:srgbClr val="6B7280"/>
                </a:solidFill>
                <a:latin typeface="Calibri" pitchFamily="34" charset="0"/>
                <a:ea typeface="Calibri" pitchFamily="34" charset="-122"/>
                <a:cs typeface="Calibri" pitchFamily="34" charset="-120"/>
              </a:rPr>
              <a:t>pipelines, 12 modeles, validation croisee — standard du secteur</a:t>
            </a:r>
            <a:endParaRPr lang="en-US" sz="1150" dirty="0"/>
          </a:p>
        </p:txBody>
      </p:sp>
      <p:sp>
        <p:nvSpPr>
          <p:cNvPr id="11" name="Shape 9"/>
          <p:cNvSpPr/>
          <p:nvPr/>
        </p:nvSpPr>
        <p:spPr>
          <a:xfrm>
            <a:off x="6263640" y="3063240"/>
            <a:ext cx="384048" cy="384048"/>
          </a:xfrm>
          <a:prstGeom prst="ellipse">
            <a:avLst/>
          </a:prstGeom>
          <a:solidFill>
            <a:srgbClr val="F96167"/>
          </a:solidFill>
          <a:ln/>
        </p:spPr>
      </p:sp>
      <p:sp>
        <p:nvSpPr>
          <p:cNvPr id="12" name="Text 10"/>
          <p:cNvSpPr txBox="1"/>
          <p:nvPr/>
        </p:nvSpPr>
        <p:spPr>
          <a:xfrm>
            <a:off x="6263640" y="306324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3" name="Text 11"/>
          <p:cNvSpPr txBox="1"/>
          <p:nvPr/>
        </p:nvSpPr>
        <p:spPr>
          <a:xfrm>
            <a:off x="6812280" y="3035808"/>
            <a:ext cx="4846320" cy="320040"/>
          </a:xfrm>
          <a:prstGeom prst="rect">
            <a:avLst/>
          </a:prstGeom>
          <a:noFill/>
          <a:ln/>
        </p:spPr>
        <p:txBody>
          <a:bodyPr wrap="square" lIns="0" tIns="0" rIns="0" bIns="0" rtlCol="0" anchor="ctr"/>
          <a:lstStyle/>
          <a:p>
            <a:pPr indent="0" marL="0">
              <a:buNone/>
            </a:pPr>
            <a:r>
              <a:rPr lang="en-US" sz="1300" b="1" dirty="0">
                <a:solidFill>
                  <a:srgbClr val="1B1F3B"/>
                </a:solidFill>
                <a:latin typeface="Calibri" pitchFamily="34" charset="0"/>
                <a:ea typeface="Calibri" pitchFamily="34" charset="-122"/>
                <a:cs typeface="Calibri" pitchFamily="34" charset="-120"/>
              </a:rPr>
              <a:t>XGBoost</a:t>
            </a:r>
            <a:endParaRPr lang="en-US" sz="1300" dirty="0"/>
          </a:p>
        </p:txBody>
      </p:sp>
      <p:sp>
        <p:nvSpPr>
          <p:cNvPr id="14" name="Text 12"/>
          <p:cNvSpPr txBox="1"/>
          <p:nvPr/>
        </p:nvSpPr>
        <p:spPr>
          <a:xfrm>
            <a:off x="6812280" y="3337560"/>
            <a:ext cx="4846320" cy="548640"/>
          </a:xfrm>
          <a:prstGeom prst="rect">
            <a:avLst/>
          </a:prstGeom>
          <a:noFill/>
          <a:ln/>
        </p:spPr>
        <p:txBody>
          <a:bodyPr wrap="square" lIns="0" tIns="0" rIns="0" bIns="0" rtlCol="0" anchor="ctr"/>
          <a:lstStyle/>
          <a:p>
            <a:pPr indent="0" marL="0">
              <a:buNone/>
            </a:pPr>
            <a:r>
              <a:rPr lang="en-US" sz="1150" dirty="0">
                <a:solidFill>
                  <a:srgbClr val="6B7280"/>
                </a:solidFill>
                <a:latin typeface="Calibri" pitchFamily="34" charset="0"/>
                <a:ea typeface="Calibri" pitchFamily="34" charset="-122"/>
                <a:cs typeface="Calibri" pitchFamily="34" charset="-120"/>
              </a:rPr>
              <a:t>boosting, etat de l'art sur donnees tabulaires</a:t>
            </a:r>
            <a:endParaRPr lang="en-US" sz="1150" dirty="0"/>
          </a:p>
        </p:txBody>
      </p:sp>
      <p:sp>
        <p:nvSpPr>
          <p:cNvPr id="15" name="Shape 13"/>
          <p:cNvSpPr/>
          <p:nvPr/>
        </p:nvSpPr>
        <p:spPr>
          <a:xfrm>
            <a:off x="6263640" y="4023360"/>
            <a:ext cx="384048" cy="384048"/>
          </a:xfrm>
          <a:prstGeom prst="ellipse">
            <a:avLst/>
          </a:prstGeom>
          <a:solidFill>
            <a:srgbClr val="F96167"/>
          </a:solidFill>
          <a:ln/>
        </p:spPr>
      </p:sp>
      <p:sp>
        <p:nvSpPr>
          <p:cNvPr id="16" name="Text 14"/>
          <p:cNvSpPr txBox="1"/>
          <p:nvPr/>
        </p:nvSpPr>
        <p:spPr>
          <a:xfrm>
            <a:off x="6263640" y="402336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7" name="Text 15"/>
          <p:cNvSpPr txBox="1"/>
          <p:nvPr/>
        </p:nvSpPr>
        <p:spPr>
          <a:xfrm>
            <a:off x="6812280" y="3995928"/>
            <a:ext cx="4846320" cy="320040"/>
          </a:xfrm>
          <a:prstGeom prst="rect">
            <a:avLst/>
          </a:prstGeom>
          <a:noFill/>
          <a:ln/>
        </p:spPr>
        <p:txBody>
          <a:bodyPr wrap="square" lIns="0" tIns="0" rIns="0" bIns="0" rtlCol="0" anchor="ctr"/>
          <a:lstStyle/>
          <a:p>
            <a:pPr indent="0" marL="0">
              <a:buNone/>
            </a:pPr>
            <a:r>
              <a:rPr lang="en-US" sz="1300" b="1" dirty="0">
                <a:solidFill>
                  <a:srgbClr val="1B1F3B"/>
                </a:solidFill>
                <a:latin typeface="Calibri" pitchFamily="34" charset="0"/>
                <a:ea typeface="Calibri" pitchFamily="34" charset="-122"/>
                <a:cs typeface="Calibri" pitchFamily="34" charset="-120"/>
              </a:rPr>
              <a:t>Streamlit</a:t>
            </a:r>
            <a:endParaRPr lang="en-US" sz="1300" dirty="0"/>
          </a:p>
        </p:txBody>
      </p:sp>
      <p:sp>
        <p:nvSpPr>
          <p:cNvPr id="18" name="Text 16"/>
          <p:cNvSpPr txBox="1"/>
          <p:nvPr/>
        </p:nvSpPr>
        <p:spPr>
          <a:xfrm>
            <a:off x="6812280" y="4297680"/>
            <a:ext cx="4846320" cy="548640"/>
          </a:xfrm>
          <a:prstGeom prst="rect">
            <a:avLst/>
          </a:prstGeom>
          <a:noFill/>
          <a:ln/>
        </p:spPr>
        <p:txBody>
          <a:bodyPr wrap="square" lIns="0" tIns="0" rIns="0" bIns="0" rtlCol="0" anchor="ctr"/>
          <a:lstStyle/>
          <a:p>
            <a:pPr indent="0" marL="0">
              <a:buNone/>
            </a:pPr>
            <a:r>
              <a:rPr lang="en-US" sz="1150" dirty="0">
                <a:solidFill>
                  <a:srgbClr val="6B7280"/>
                </a:solidFill>
                <a:latin typeface="Calibri" pitchFamily="34" charset="0"/>
                <a:ea typeface="Calibri" pitchFamily="34" charset="-122"/>
                <a:cs typeface="Calibri" pitchFamily="34" charset="-120"/>
              </a:rPr>
              <a:t>interface interactive en pur Python, rapide a developper</a:t>
            </a:r>
            <a:endParaRPr lang="en-US" sz="1150" dirty="0"/>
          </a:p>
        </p:txBody>
      </p:sp>
      <p:sp>
        <p:nvSpPr>
          <p:cNvPr id="19" name="Shape 17"/>
          <p:cNvSpPr/>
          <p:nvPr/>
        </p:nvSpPr>
        <p:spPr>
          <a:xfrm>
            <a:off x="6263640" y="4983480"/>
            <a:ext cx="384048" cy="384048"/>
          </a:xfrm>
          <a:prstGeom prst="ellipse">
            <a:avLst/>
          </a:prstGeom>
          <a:solidFill>
            <a:srgbClr val="F96167"/>
          </a:solidFill>
          <a:ln/>
        </p:spPr>
      </p:sp>
      <p:sp>
        <p:nvSpPr>
          <p:cNvPr id="20" name="Text 18"/>
          <p:cNvSpPr txBox="1"/>
          <p:nvPr/>
        </p:nvSpPr>
        <p:spPr>
          <a:xfrm>
            <a:off x="6263640" y="498348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21" name="Text 19"/>
          <p:cNvSpPr txBox="1"/>
          <p:nvPr/>
        </p:nvSpPr>
        <p:spPr>
          <a:xfrm>
            <a:off x="6812280" y="4956048"/>
            <a:ext cx="4846320" cy="320040"/>
          </a:xfrm>
          <a:prstGeom prst="rect">
            <a:avLst/>
          </a:prstGeom>
          <a:noFill/>
          <a:ln/>
        </p:spPr>
        <p:txBody>
          <a:bodyPr wrap="square" lIns="0" tIns="0" rIns="0" bIns="0" rtlCol="0" anchor="ctr"/>
          <a:lstStyle/>
          <a:p>
            <a:pPr indent="0" marL="0">
              <a:buNone/>
            </a:pPr>
            <a:r>
              <a:rPr lang="en-US" sz="1300" b="1" dirty="0">
                <a:solidFill>
                  <a:srgbClr val="1B1F3B"/>
                </a:solidFill>
                <a:latin typeface="Calibri" pitchFamily="34" charset="0"/>
                <a:ea typeface="Calibri" pitchFamily="34" charset="-122"/>
                <a:cs typeface="Calibri" pitchFamily="34" charset="-120"/>
              </a:rPr>
              <a:t>Folium</a:t>
            </a:r>
            <a:endParaRPr lang="en-US" sz="1300" dirty="0"/>
          </a:p>
        </p:txBody>
      </p:sp>
      <p:sp>
        <p:nvSpPr>
          <p:cNvPr id="22" name="Text 20"/>
          <p:cNvSpPr txBox="1"/>
          <p:nvPr/>
        </p:nvSpPr>
        <p:spPr>
          <a:xfrm>
            <a:off x="6812280" y="5257800"/>
            <a:ext cx="4846320" cy="548640"/>
          </a:xfrm>
          <a:prstGeom prst="rect">
            <a:avLst/>
          </a:prstGeom>
          <a:noFill/>
          <a:ln/>
        </p:spPr>
        <p:txBody>
          <a:bodyPr wrap="square" lIns="0" tIns="0" rIns="0" bIns="0" rtlCol="0" anchor="ctr"/>
          <a:lstStyle/>
          <a:p>
            <a:pPr indent="0" marL="0">
              <a:buNone/>
            </a:pPr>
            <a:r>
              <a:rPr lang="en-US" sz="1150" dirty="0">
                <a:solidFill>
                  <a:srgbClr val="6B7280"/>
                </a:solidFill>
                <a:latin typeface="Calibri" pitchFamily="34" charset="0"/>
                <a:ea typeface="Calibri" pitchFamily="34" charset="-122"/>
                <a:cs typeface="Calibri" pitchFamily="34" charset="-120"/>
              </a:rPr>
              <a:t>seule librairie testee permettant de capter un clic utilisateur sur la carte</a:t>
            </a:r>
            <a:endParaRPr lang="en-US" sz="1150" dirty="0"/>
          </a:p>
        </p:txBody>
      </p:sp>
      <p:sp>
        <p:nvSpPr>
          <p:cNvPr id="23" name="Text 21"/>
          <p:cNvSpPr txBox="1"/>
          <p:nvPr/>
        </p:nvSpPr>
        <p:spPr>
          <a:xfrm>
            <a:off x="11475720" y="6446520"/>
            <a:ext cx="548640" cy="32004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2F3C7E"/>
        </a:solidFill>
      </p:bgPr>
    </p:bg>
    <p:spTree>
      <p:nvGrpSpPr>
        <p:cNvPr id="1" name=""/>
        <p:cNvGrpSpPr/>
        <p:nvPr/>
      </p:nvGrpSpPr>
      <p:grpSpPr>
        <a:xfrm>
          <a:off x="0" y="0"/>
          <a:ext cx="0" cy="0"/>
          <a:chOff x="0" y="0"/>
          <a:chExt cx="0" cy="0"/>
        </a:xfrm>
      </p:grpSpPr>
      <p:sp>
        <p:nvSpPr>
          <p:cNvPr id="2" name="Text 0"/>
          <p:cNvSpPr txBox="1"/>
          <p:nvPr/>
        </p:nvSpPr>
        <p:spPr>
          <a:xfrm>
            <a:off x="548640" y="411480"/>
            <a:ext cx="7315200" cy="320040"/>
          </a:xfrm>
          <a:prstGeom prst="rect">
            <a:avLst/>
          </a:prstGeom>
          <a:noFill/>
          <a:ln/>
        </p:spPr>
        <p:txBody>
          <a:bodyPr wrap="square" lIns="0" tIns="0" rIns="0" bIns="0" rtlCol="0" anchor="ctr"/>
          <a:lstStyle/>
          <a:p>
            <a:pPr indent="0" marL="0">
              <a:buNone/>
            </a:pPr>
            <a:r>
              <a:rPr lang="en-US" sz="1300" b="1" spc="200" kern="0" dirty="0">
                <a:solidFill>
                  <a:srgbClr val="F9E795"/>
                </a:solidFill>
                <a:latin typeface="Calibri" pitchFamily="34" charset="0"/>
                <a:ea typeface="Calibri" pitchFamily="34" charset="-122"/>
                <a:cs typeface="Calibri" pitchFamily="34" charset="-120"/>
              </a:rPr>
              <a:t>03 . DONNEES</a:t>
            </a:r>
            <a:endParaRPr lang="en-US" sz="1300" dirty="0"/>
          </a:p>
        </p:txBody>
      </p:sp>
      <p:sp>
        <p:nvSpPr>
          <p:cNvPr id="3" name="Text 1"/>
          <p:cNvSpPr txBox="1"/>
          <p:nvPr/>
        </p:nvSpPr>
        <p:spPr>
          <a:xfrm>
            <a:off x="548640" y="685800"/>
            <a:ext cx="10515600" cy="82296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Le jeu de donnees</a:t>
            </a:r>
            <a:endParaRPr lang="en-US" sz="3200" dirty="0"/>
          </a:p>
        </p:txBody>
      </p:sp>
      <p:sp>
        <p:nvSpPr>
          <p:cNvPr id="4" name="Text 2"/>
          <p:cNvSpPr txBox="1"/>
          <p:nvPr/>
        </p:nvSpPr>
        <p:spPr>
          <a:xfrm>
            <a:off x="548640" y="1417320"/>
            <a:ext cx="7315200" cy="365760"/>
          </a:xfrm>
          <a:prstGeom prst="rect">
            <a:avLst/>
          </a:prstGeom>
          <a:noFill/>
          <a:ln/>
        </p:spPr>
        <p:txBody>
          <a:bodyPr wrap="square" lIns="0" tIns="0" rIns="0" bIns="0" rtlCol="0" anchor="ctr"/>
          <a:lstStyle/>
          <a:p>
            <a:pPr indent="0" marL="0">
              <a:buNone/>
            </a:pPr>
            <a:r>
              <a:rPr lang="en-US" sz="1400" i="1" dirty="0">
                <a:solidFill>
                  <a:srgbClr val="CFD5EE"/>
                </a:solidFill>
                <a:latin typeface="Calibri" pitchFamily="34" charset="0"/>
                <a:ea typeface="Calibri" pitchFamily="34" charset="-122"/>
                <a:cs typeface="Calibri" pitchFamily="34" charset="-120"/>
              </a:rPr>
              <a:t>New York City Airbnb Open Data - Kaggle</a:t>
            </a:r>
            <a:endParaRPr lang="en-US" sz="1400" dirty="0"/>
          </a:p>
        </p:txBody>
      </p:sp>
      <p:sp>
        <p:nvSpPr>
          <p:cNvPr id="5" name="Shape 3"/>
          <p:cNvSpPr/>
          <p:nvPr/>
        </p:nvSpPr>
        <p:spPr>
          <a:xfrm>
            <a:off x="548640" y="2194560"/>
            <a:ext cx="3520440" cy="1371600"/>
          </a:xfrm>
          <a:prstGeom prst="roundRect">
            <a:avLst>
              <a:gd name="adj" fmla="val 5333"/>
            </a:avLst>
          </a:prstGeom>
          <a:solidFill>
            <a:srgbClr val="232C5E"/>
          </a:solidFill>
          <a:ln/>
        </p:spPr>
      </p:sp>
      <p:sp>
        <p:nvSpPr>
          <p:cNvPr id="6" name="Text 4"/>
          <p:cNvSpPr txBox="1"/>
          <p:nvPr/>
        </p:nvSpPr>
        <p:spPr>
          <a:xfrm>
            <a:off x="731520" y="2331720"/>
            <a:ext cx="3154680" cy="685800"/>
          </a:xfrm>
          <a:prstGeom prst="rect">
            <a:avLst/>
          </a:prstGeom>
          <a:noFill/>
          <a:ln/>
        </p:spPr>
        <p:txBody>
          <a:bodyPr wrap="square" lIns="0" tIns="0" rIns="0" bIns="0" rtlCol="0" anchor="ctr"/>
          <a:lstStyle/>
          <a:p>
            <a:pPr indent="0" marL="0">
              <a:buNone/>
            </a:pPr>
            <a:r>
              <a:rPr lang="en-US" sz="3000" b="1" dirty="0">
                <a:solidFill>
                  <a:srgbClr val="F96167"/>
                </a:solidFill>
                <a:latin typeface="Cambria" pitchFamily="34" charset="0"/>
                <a:ea typeface="Cambria" pitchFamily="34" charset="-122"/>
                <a:cs typeface="Cambria" pitchFamily="34" charset="-120"/>
              </a:rPr>
              <a:t>48 895</a:t>
            </a:r>
            <a:endParaRPr lang="en-US" sz="3000" dirty="0"/>
          </a:p>
        </p:txBody>
      </p:sp>
      <p:sp>
        <p:nvSpPr>
          <p:cNvPr id="7" name="Text 5"/>
          <p:cNvSpPr txBox="1"/>
          <p:nvPr/>
        </p:nvSpPr>
        <p:spPr>
          <a:xfrm>
            <a:off x="731520" y="3035808"/>
            <a:ext cx="3154680" cy="45720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annonces brutes</a:t>
            </a:r>
            <a:endParaRPr lang="en-US" sz="1300" dirty="0"/>
          </a:p>
        </p:txBody>
      </p:sp>
      <p:sp>
        <p:nvSpPr>
          <p:cNvPr id="8" name="Shape 6"/>
          <p:cNvSpPr/>
          <p:nvPr/>
        </p:nvSpPr>
        <p:spPr>
          <a:xfrm>
            <a:off x="4343400" y="2194560"/>
            <a:ext cx="3520440" cy="1371600"/>
          </a:xfrm>
          <a:prstGeom prst="roundRect">
            <a:avLst>
              <a:gd name="adj" fmla="val 5333"/>
            </a:avLst>
          </a:prstGeom>
          <a:solidFill>
            <a:srgbClr val="232C5E"/>
          </a:solidFill>
          <a:ln/>
        </p:spPr>
      </p:sp>
      <p:sp>
        <p:nvSpPr>
          <p:cNvPr id="9" name="Text 7"/>
          <p:cNvSpPr txBox="1"/>
          <p:nvPr/>
        </p:nvSpPr>
        <p:spPr>
          <a:xfrm>
            <a:off x="4526280" y="2331720"/>
            <a:ext cx="3154680" cy="685800"/>
          </a:xfrm>
          <a:prstGeom prst="rect">
            <a:avLst/>
          </a:prstGeom>
          <a:noFill/>
          <a:ln/>
        </p:spPr>
        <p:txBody>
          <a:bodyPr wrap="square" lIns="0" tIns="0" rIns="0" bIns="0" rtlCol="0" anchor="ctr"/>
          <a:lstStyle/>
          <a:p>
            <a:pPr indent="0" marL="0">
              <a:buNone/>
            </a:pPr>
            <a:r>
              <a:rPr lang="en-US" sz="3000" b="1" dirty="0">
                <a:solidFill>
                  <a:srgbClr val="F96167"/>
                </a:solidFill>
                <a:latin typeface="Cambria" pitchFamily="34" charset="0"/>
                <a:ea typeface="Cambria" pitchFamily="34" charset="-122"/>
                <a:cs typeface="Cambria" pitchFamily="34" charset="-120"/>
              </a:rPr>
              <a:t>16</a:t>
            </a:r>
            <a:endParaRPr lang="en-US" sz="3000" dirty="0"/>
          </a:p>
        </p:txBody>
      </p:sp>
      <p:sp>
        <p:nvSpPr>
          <p:cNvPr id="10" name="Text 8"/>
          <p:cNvSpPr txBox="1"/>
          <p:nvPr/>
        </p:nvSpPr>
        <p:spPr>
          <a:xfrm>
            <a:off x="4526280" y="3035808"/>
            <a:ext cx="3154680" cy="45720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variables d'origine</a:t>
            </a:r>
            <a:endParaRPr lang="en-US" sz="1300" dirty="0"/>
          </a:p>
        </p:txBody>
      </p:sp>
      <p:sp>
        <p:nvSpPr>
          <p:cNvPr id="11" name="Shape 9"/>
          <p:cNvSpPr/>
          <p:nvPr/>
        </p:nvSpPr>
        <p:spPr>
          <a:xfrm>
            <a:off x="8138160" y="2194560"/>
            <a:ext cx="3520440" cy="1371600"/>
          </a:xfrm>
          <a:prstGeom prst="roundRect">
            <a:avLst>
              <a:gd name="adj" fmla="val 5333"/>
            </a:avLst>
          </a:prstGeom>
          <a:solidFill>
            <a:srgbClr val="232C5E"/>
          </a:solidFill>
          <a:ln/>
        </p:spPr>
      </p:sp>
      <p:sp>
        <p:nvSpPr>
          <p:cNvPr id="12" name="Text 10"/>
          <p:cNvSpPr txBox="1"/>
          <p:nvPr/>
        </p:nvSpPr>
        <p:spPr>
          <a:xfrm>
            <a:off x="8321040" y="2331720"/>
            <a:ext cx="3154680" cy="685800"/>
          </a:xfrm>
          <a:prstGeom prst="rect">
            <a:avLst/>
          </a:prstGeom>
          <a:noFill/>
          <a:ln/>
        </p:spPr>
        <p:txBody>
          <a:bodyPr wrap="square" lIns="0" tIns="0" rIns="0" bIns="0" rtlCol="0" anchor="ctr"/>
          <a:lstStyle/>
          <a:p>
            <a:pPr indent="0" marL="0">
              <a:buNone/>
            </a:pPr>
            <a:r>
              <a:rPr lang="en-US" sz="3000" b="1" dirty="0">
                <a:solidFill>
                  <a:srgbClr val="F96167"/>
                </a:solidFill>
                <a:latin typeface="Cambria" pitchFamily="34" charset="0"/>
                <a:ea typeface="Cambria" pitchFamily="34" charset="-122"/>
                <a:cs typeface="Cambria" pitchFamily="34" charset="-120"/>
              </a:rPr>
              <a:t>5</a:t>
            </a:r>
            <a:endParaRPr lang="en-US" sz="3000" dirty="0"/>
          </a:p>
        </p:txBody>
      </p:sp>
      <p:sp>
        <p:nvSpPr>
          <p:cNvPr id="13" name="Text 11"/>
          <p:cNvSpPr txBox="1"/>
          <p:nvPr/>
        </p:nvSpPr>
        <p:spPr>
          <a:xfrm>
            <a:off x="8321040" y="3035808"/>
            <a:ext cx="3154680" cy="45720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arrondissements</a:t>
            </a:r>
            <a:endParaRPr lang="en-US" sz="1300" dirty="0"/>
          </a:p>
        </p:txBody>
      </p:sp>
      <p:sp>
        <p:nvSpPr>
          <p:cNvPr id="14" name="Shape 12"/>
          <p:cNvSpPr/>
          <p:nvPr/>
        </p:nvSpPr>
        <p:spPr>
          <a:xfrm>
            <a:off x="548640" y="3840480"/>
            <a:ext cx="3520440" cy="1371600"/>
          </a:xfrm>
          <a:prstGeom prst="roundRect">
            <a:avLst>
              <a:gd name="adj" fmla="val 5333"/>
            </a:avLst>
          </a:prstGeom>
          <a:solidFill>
            <a:srgbClr val="232C5E"/>
          </a:solidFill>
          <a:ln/>
        </p:spPr>
      </p:sp>
      <p:sp>
        <p:nvSpPr>
          <p:cNvPr id="15" name="Text 13"/>
          <p:cNvSpPr txBox="1"/>
          <p:nvPr/>
        </p:nvSpPr>
        <p:spPr>
          <a:xfrm>
            <a:off x="731520" y="3977640"/>
            <a:ext cx="3154680" cy="685800"/>
          </a:xfrm>
          <a:prstGeom prst="rect">
            <a:avLst/>
          </a:prstGeom>
          <a:noFill/>
          <a:ln/>
        </p:spPr>
        <p:txBody>
          <a:bodyPr wrap="square" lIns="0" tIns="0" rIns="0" bIns="0" rtlCol="0" anchor="ctr"/>
          <a:lstStyle/>
          <a:p>
            <a:pPr indent="0" marL="0">
              <a:buNone/>
            </a:pPr>
            <a:r>
              <a:rPr lang="en-US" sz="3000" b="1" dirty="0">
                <a:solidFill>
                  <a:srgbClr val="F96167"/>
                </a:solidFill>
                <a:latin typeface="Cambria" pitchFamily="34" charset="0"/>
                <a:ea typeface="Cambria" pitchFamily="34" charset="-122"/>
                <a:cs typeface="Cambria" pitchFamily="34" charset="-120"/>
              </a:rPr>
              <a:t>221</a:t>
            </a:r>
            <a:endParaRPr lang="en-US" sz="3000" dirty="0"/>
          </a:p>
        </p:txBody>
      </p:sp>
      <p:sp>
        <p:nvSpPr>
          <p:cNvPr id="16" name="Text 14"/>
          <p:cNvSpPr txBox="1"/>
          <p:nvPr/>
        </p:nvSpPr>
        <p:spPr>
          <a:xfrm>
            <a:off x="731520" y="4681728"/>
            <a:ext cx="3154680" cy="45720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quartiers distincts</a:t>
            </a:r>
            <a:endParaRPr lang="en-US" sz="1300" dirty="0"/>
          </a:p>
        </p:txBody>
      </p:sp>
      <p:sp>
        <p:nvSpPr>
          <p:cNvPr id="17" name="Shape 15"/>
          <p:cNvSpPr/>
          <p:nvPr/>
        </p:nvSpPr>
        <p:spPr>
          <a:xfrm>
            <a:off x="4343400" y="3840480"/>
            <a:ext cx="3520440" cy="1371600"/>
          </a:xfrm>
          <a:prstGeom prst="roundRect">
            <a:avLst>
              <a:gd name="adj" fmla="val 5333"/>
            </a:avLst>
          </a:prstGeom>
          <a:solidFill>
            <a:srgbClr val="232C5E"/>
          </a:solidFill>
          <a:ln/>
        </p:spPr>
      </p:sp>
      <p:sp>
        <p:nvSpPr>
          <p:cNvPr id="18" name="Text 16"/>
          <p:cNvSpPr txBox="1"/>
          <p:nvPr/>
        </p:nvSpPr>
        <p:spPr>
          <a:xfrm>
            <a:off x="4526280" y="3977640"/>
            <a:ext cx="3154680" cy="685800"/>
          </a:xfrm>
          <a:prstGeom prst="rect">
            <a:avLst/>
          </a:prstGeom>
          <a:noFill/>
          <a:ln/>
        </p:spPr>
        <p:txBody>
          <a:bodyPr wrap="square" lIns="0" tIns="0" rIns="0" bIns="0" rtlCol="0" anchor="ctr"/>
          <a:lstStyle/>
          <a:p>
            <a:pPr indent="0" marL="0">
              <a:buNone/>
            </a:pPr>
            <a:r>
              <a:rPr lang="en-US" sz="3000" b="1" dirty="0">
                <a:solidFill>
                  <a:srgbClr val="F96167"/>
                </a:solidFill>
                <a:latin typeface="Cambria" pitchFamily="34" charset="0"/>
                <a:ea typeface="Cambria" pitchFamily="34" charset="-122"/>
                <a:cs typeface="Cambria" pitchFamily="34" charset="-120"/>
              </a:rPr>
              <a:t>48 389</a:t>
            </a:r>
            <a:endParaRPr lang="en-US" sz="3000" dirty="0"/>
          </a:p>
        </p:txBody>
      </p:sp>
      <p:sp>
        <p:nvSpPr>
          <p:cNvPr id="19" name="Text 17"/>
          <p:cNvSpPr txBox="1"/>
          <p:nvPr/>
        </p:nvSpPr>
        <p:spPr>
          <a:xfrm>
            <a:off x="4526280" y="4681728"/>
            <a:ext cx="3154680" cy="45720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annonces apres nettoyage</a:t>
            </a:r>
            <a:endParaRPr lang="en-US" sz="1300" dirty="0"/>
          </a:p>
        </p:txBody>
      </p:sp>
      <p:sp>
        <p:nvSpPr>
          <p:cNvPr id="20" name="Shape 18"/>
          <p:cNvSpPr/>
          <p:nvPr/>
        </p:nvSpPr>
        <p:spPr>
          <a:xfrm>
            <a:off x="8138160" y="3840480"/>
            <a:ext cx="3520440" cy="1371600"/>
          </a:xfrm>
          <a:prstGeom prst="roundRect">
            <a:avLst>
              <a:gd name="adj" fmla="val 5333"/>
            </a:avLst>
          </a:prstGeom>
          <a:solidFill>
            <a:srgbClr val="232C5E"/>
          </a:solidFill>
          <a:ln/>
        </p:spPr>
      </p:sp>
      <p:sp>
        <p:nvSpPr>
          <p:cNvPr id="21" name="Text 19"/>
          <p:cNvSpPr txBox="1"/>
          <p:nvPr/>
        </p:nvSpPr>
        <p:spPr>
          <a:xfrm>
            <a:off x="8321040" y="3977640"/>
            <a:ext cx="3154680" cy="685800"/>
          </a:xfrm>
          <a:prstGeom prst="rect">
            <a:avLst/>
          </a:prstGeom>
          <a:noFill/>
          <a:ln/>
        </p:spPr>
        <p:txBody>
          <a:bodyPr wrap="square" lIns="0" tIns="0" rIns="0" bIns="0" rtlCol="0" anchor="ctr"/>
          <a:lstStyle/>
          <a:p>
            <a:pPr indent="0" marL="0">
              <a:buNone/>
            </a:pPr>
            <a:r>
              <a:rPr lang="en-US" sz="3000" b="1" dirty="0">
                <a:solidFill>
                  <a:srgbClr val="F96167"/>
                </a:solidFill>
                <a:latin typeface="Cambria" pitchFamily="34" charset="0"/>
                <a:ea typeface="Cambria" pitchFamily="34" charset="-122"/>
                <a:cs typeface="Cambria" pitchFamily="34" charset="-120"/>
              </a:rPr>
              <a:t>1,01 %</a:t>
            </a:r>
            <a:endParaRPr lang="en-US" sz="3000" dirty="0"/>
          </a:p>
        </p:txBody>
      </p:sp>
      <p:sp>
        <p:nvSpPr>
          <p:cNvPr id="22" name="Text 20"/>
          <p:cNvSpPr txBox="1"/>
          <p:nvPr/>
        </p:nvSpPr>
        <p:spPr>
          <a:xfrm>
            <a:off x="8321040" y="4681728"/>
            <a:ext cx="3154680" cy="45720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de prix aberrants retires</a:t>
            </a:r>
            <a:endParaRPr lang="en-US" sz="1300" dirty="0"/>
          </a:p>
        </p:txBody>
      </p:sp>
      <p:sp>
        <p:nvSpPr>
          <p:cNvPr id="23" name="Text 21"/>
          <p:cNvSpPr txBox="1"/>
          <p:nvPr/>
        </p:nvSpPr>
        <p:spPr>
          <a:xfrm>
            <a:off x="11475720" y="6446520"/>
            <a:ext cx="548640" cy="32004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7315200" cy="320040"/>
          </a:xfrm>
          <a:prstGeom prst="rect">
            <a:avLst/>
          </a:prstGeom>
          <a:noFill/>
          <a:ln/>
        </p:spPr>
        <p:txBody>
          <a:bodyPr wrap="square" lIns="0" tIns="0" rIns="0" bIns="0" rtlCol="0" anchor="ctr"/>
          <a:lstStyle/>
          <a:p>
            <a:pPr indent="0" marL="0">
              <a:buNone/>
            </a:pPr>
            <a:r>
              <a:rPr lang="en-US" sz="1300" b="1" spc="200" kern="0" dirty="0">
                <a:solidFill>
                  <a:srgbClr val="F96167"/>
                </a:solidFill>
                <a:latin typeface="Calibri" pitchFamily="34" charset="0"/>
                <a:ea typeface="Calibri" pitchFamily="34" charset="-122"/>
                <a:cs typeface="Calibri" pitchFamily="34" charset="-120"/>
              </a:rPr>
              <a:t>03 . DONNEES</a:t>
            </a:r>
            <a:endParaRPr lang="en-US" sz="1300" dirty="0"/>
          </a:p>
        </p:txBody>
      </p:sp>
      <p:sp>
        <p:nvSpPr>
          <p:cNvPr id="3" name="Text 1"/>
          <p:cNvSpPr txBox="1"/>
          <p:nvPr/>
        </p:nvSpPr>
        <p:spPr>
          <a:xfrm>
            <a:off x="548640" y="685800"/>
            <a:ext cx="10515600" cy="822960"/>
          </a:xfrm>
          <a:prstGeom prst="rect">
            <a:avLst/>
          </a:prstGeom>
          <a:noFill/>
          <a:ln/>
        </p:spPr>
        <p:txBody>
          <a:bodyPr wrap="square" lIns="0" tIns="0" rIns="0" bIns="0" rtlCol="0" anchor="ctr"/>
          <a:lstStyle/>
          <a:p>
            <a:pPr indent="0" marL="0">
              <a:buNone/>
            </a:pPr>
            <a:r>
              <a:rPr lang="en-US" sz="3200" b="1" dirty="0">
                <a:solidFill>
                  <a:srgbClr val="1B1F3B"/>
                </a:solidFill>
                <a:latin typeface="Cambria" pitchFamily="34" charset="0"/>
                <a:ea typeface="Cambria" pitchFamily="34" charset="-122"/>
                <a:cs typeface="Cambria" pitchFamily="34" charset="-120"/>
              </a:rPr>
              <a:t>Analyse exploratoire : deux variables dominantes</a:t>
            </a:r>
            <a:endParaRPr lang="en-US" sz="3200" dirty="0"/>
          </a:p>
        </p:txBody>
      </p:sp>
      <p:pic>
        <p:nvPicPr>
          <p:cNvPr id="4" name="Image 0" descr="C:\Users\Asus\Downloads\Airbnb\reports\figures\02_boxplot_prix_arrondissement.png">    </p:cNvPr>
          <p:cNvPicPr>
            <a:picLocks noChangeAspect="1"/>
          </p:cNvPicPr>
          <p:nvPr/>
        </p:nvPicPr>
        <p:blipFill>
          <a:blip r:embed="rId1"/>
          <a:stretch>
            <a:fillRect/>
          </a:stretch>
        </p:blipFill>
        <p:spPr>
          <a:xfrm>
            <a:off x="548640" y="1691640"/>
            <a:ext cx="5394960" cy="3200400"/>
          </a:xfrm>
          <a:prstGeom prst="rect">
            <a:avLst/>
          </a:prstGeom>
        </p:spPr>
      </p:pic>
      <p:pic>
        <p:nvPicPr>
          <p:cNvPr id="5" name="Image 1" descr="C:\Users\Asus\Downloads\Airbnb\reports\figures\03_boxplot_prix_room_type.png">    </p:cNvPr>
          <p:cNvPicPr>
            <a:picLocks noChangeAspect="1"/>
          </p:cNvPicPr>
          <p:nvPr/>
        </p:nvPicPr>
        <p:blipFill>
          <a:blip r:embed="rId2"/>
          <a:stretch>
            <a:fillRect/>
          </a:stretch>
        </p:blipFill>
        <p:spPr>
          <a:xfrm>
            <a:off x="6172200" y="1691640"/>
            <a:ext cx="5394960" cy="3200400"/>
          </a:xfrm>
          <a:prstGeom prst="rect">
            <a:avLst/>
          </a:prstGeom>
        </p:spPr>
      </p:pic>
      <p:sp>
        <p:nvSpPr>
          <p:cNvPr id="6" name="Text 2"/>
          <p:cNvSpPr txBox="1"/>
          <p:nvPr/>
        </p:nvSpPr>
        <p:spPr>
          <a:xfrm>
            <a:off x="548640" y="5074920"/>
            <a:ext cx="10972800" cy="1097280"/>
          </a:xfrm>
          <a:prstGeom prst="rect">
            <a:avLst/>
          </a:prstGeom>
          <a:noFill/>
          <a:ln/>
        </p:spPr>
        <p:txBody>
          <a:bodyPr wrap="square" lIns="0" tIns="0" rIns="0" bIns="0" rtlCol="0" anchor="ctr"/>
          <a:lstStyle/>
          <a:p>
            <a:pPr indent="0" marL="0">
              <a:lnSpc>
                <a:spcPts val="2200"/>
              </a:lnSpc>
              <a:buNone/>
            </a:pPr>
            <a:r>
              <a:rPr lang="en-US" sz="1400" b="1" dirty="0">
                <a:solidFill>
                  <a:srgbClr val="2F3C7E"/>
                </a:solidFill>
                <a:latin typeface="Calibri" pitchFamily="34" charset="0"/>
                <a:ea typeface="Calibri" pitchFamily="34" charset="-122"/>
                <a:cs typeface="Calibri" pitchFamily="34" charset="-120"/>
              </a:rPr>
              <a:t>Arrondissement : </a:t>
            </a:r>
            <a:pPr indent="0" marL="0">
              <a:lnSpc>
                <a:spcPts val="2200"/>
              </a:lnSpc>
              <a:buNone/>
            </a:pPr>
            <a:r>
              <a:rPr lang="en-US" sz="1400" dirty="0">
                <a:solidFill>
                  <a:srgbClr val="1B1F3B"/>
                </a:solidFill>
                <a:latin typeface="Calibri" pitchFamily="34" charset="0"/>
                <a:ea typeface="Calibri" pitchFamily="34" charset="-122"/>
                <a:cs typeface="Calibri" pitchFamily="34" charset="-120"/>
              </a:rPr>
              <a:t>Manhattan (149,5 $ median) domine largement le Bronx (68 $).</a:t>
            </a:r>
            <a:endParaRPr lang="en-US" sz="1400" dirty="0"/>
          </a:p>
          <a:p>
            <a:pPr indent="0" marL="0">
              <a:lnSpc>
                <a:spcPts val="2200"/>
              </a:lnSpc>
              <a:buNone/>
            </a:pPr>
            <a:r>
              <a:rPr lang="en-US" sz="1400" b="1" dirty="0">
                <a:solidFill>
                  <a:srgbClr val="2F3C7E"/>
                </a:solidFill>
                <a:latin typeface="Calibri" pitchFamily="34" charset="0"/>
                <a:ea typeface="Calibri" pitchFamily="34" charset="-122"/>
                <a:cs typeface="Calibri" pitchFamily="34" charset="-120"/>
              </a:rPr>
              <a:t>Type de logement : </a:t>
            </a:r>
            <a:pPr indent="0" marL="0">
              <a:lnSpc>
                <a:spcPts val="2200"/>
              </a:lnSpc>
              <a:buNone/>
            </a:pPr>
            <a:r>
              <a:rPr lang="en-US" sz="1400" dirty="0">
                <a:solidFill>
                  <a:srgbClr val="1B1F3B"/>
                </a:solidFill>
                <a:latin typeface="Calibri" pitchFamily="34" charset="0"/>
                <a:ea typeface="Calibri" pitchFamily="34" charset="-122"/>
                <a:cs typeface="Calibri" pitchFamily="34" charset="-120"/>
              </a:rPr>
              <a:t>un logement entier coute 2 a 3 fois plus qu'une chambre privee ou partagee.</a:t>
            </a:r>
            <a:endParaRPr lang="en-US" sz="1400" dirty="0"/>
          </a:p>
        </p:txBody>
      </p:sp>
      <p:sp>
        <p:nvSpPr>
          <p:cNvPr id="7" name="Text 3"/>
          <p:cNvSpPr txBox="1"/>
          <p:nvPr/>
        </p:nvSpPr>
        <p:spPr>
          <a:xfrm>
            <a:off x="11475720" y="6446520"/>
            <a:ext cx="548640" cy="32004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7315200" cy="320040"/>
          </a:xfrm>
          <a:prstGeom prst="rect">
            <a:avLst/>
          </a:prstGeom>
          <a:noFill/>
          <a:ln/>
        </p:spPr>
        <p:txBody>
          <a:bodyPr wrap="square" lIns="0" tIns="0" rIns="0" bIns="0" rtlCol="0" anchor="ctr"/>
          <a:lstStyle/>
          <a:p>
            <a:pPr indent="0" marL="0">
              <a:buNone/>
            </a:pPr>
            <a:r>
              <a:rPr lang="en-US" sz="1300" b="1" spc="200" kern="0" dirty="0">
                <a:solidFill>
                  <a:srgbClr val="F96167"/>
                </a:solidFill>
                <a:latin typeface="Calibri" pitchFamily="34" charset="0"/>
                <a:ea typeface="Calibri" pitchFamily="34" charset="-122"/>
                <a:cs typeface="Calibri" pitchFamily="34" charset="-120"/>
              </a:rPr>
              <a:t>04 . METHODOLOGIE</a:t>
            </a:r>
            <a:endParaRPr lang="en-US" sz="1300" dirty="0"/>
          </a:p>
        </p:txBody>
      </p:sp>
      <p:sp>
        <p:nvSpPr>
          <p:cNvPr id="3" name="Text 1"/>
          <p:cNvSpPr txBox="1"/>
          <p:nvPr/>
        </p:nvSpPr>
        <p:spPr>
          <a:xfrm>
            <a:off x="548640" y="685800"/>
            <a:ext cx="10515600" cy="822960"/>
          </a:xfrm>
          <a:prstGeom prst="rect">
            <a:avLst/>
          </a:prstGeom>
          <a:noFill/>
          <a:ln/>
        </p:spPr>
        <p:txBody>
          <a:bodyPr wrap="square" lIns="0" tIns="0" rIns="0" bIns="0" rtlCol="0" anchor="ctr"/>
          <a:lstStyle/>
          <a:p>
            <a:pPr indent="0" marL="0">
              <a:buNone/>
            </a:pPr>
            <a:r>
              <a:rPr lang="en-US" sz="3200" b="1" dirty="0">
                <a:solidFill>
                  <a:srgbClr val="1B1F3B"/>
                </a:solidFill>
                <a:latin typeface="Cambria" pitchFamily="34" charset="0"/>
                <a:ea typeface="Cambria" pitchFamily="34" charset="-122"/>
                <a:cs typeface="Cambria" pitchFamily="34" charset="-120"/>
              </a:rPr>
              <a:t>Pretraitement et feature engineering</a:t>
            </a:r>
            <a:endParaRPr lang="en-US" sz="3200" dirty="0"/>
          </a:p>
        </p:txBody>
      </p:sp>
      <p:sp>
        <p:nvSpPr>
          <p:cNvPr id="4" name="Text 2"/>
          <p:cNvSpPr txBox="1"/>
          <p:nvPr/>
        </p:nvSpPr>
        <p:spPr>
          <a:xfrm>
            <a:off x="548640" y="1828800"/>
            <a:ext cx="6126480" cy="3931920"/>
          </a:xfrm>
          <a:prstGeom prst="rect">
            <a:avLst/>
          </a:prstGeom>
          <a:noFill/>
          <a:ln/>
        </p:spPr>
        <p:txBody>
          <a:bodyPr wrap="square" lIns="0" tIns="0" rIns="0" bIns="0" rtlCol="0" anchor="t"/>
          <a:lstStyle/>
          <a:p>
            <a:pPr marL="228600" indent="-228600">
              <a:spcAft>
                <a:spcPts val="1400"/>
              </a:spcAft>
              <a:buSzPct val="100000"/>
              <a:buChar char="●"/>
            </a:pPr>
            <a:r>
              <a:rPr lang="en-US" sz="1350" dirty="0">
                <a:solidFill>
                  <a:srgbClr val="1B1F3B"/>
                </a:solidFill>
                <a:latin typeface="Calibri" pitchFamily="34" charset="0"/>
                <a:ea typeface="Calibri" pitchFamily="34" charset="-122"/>
                <a:cs typeface="Calibri" pitchFamily="34" charset="-120"/>
              </a:rPr>
              <a:t>Suppression des prix nuls et extremes (percentiles 0,5% / 99,5%) : 492 lignes retirees.</a:t>
            </a:r>
            <a:endParaRPr lang="en-US" sz="1350" dirty="0"/>
          </a:p>
          <a:p>
            <a:pPr marL="228600" indent="-228600">
              <a:spcAft>
                <a:spcPts val="1400"/>
              </a:spcAft>
              <a:buSzPct val="100000"/>
              <a:buChar char="●"/>
            </a:pPr>
            <a:r>
              <a:rPr lang="en-US" sz="1350" dirty="0">
                <a:solidFill>
                  <a:srgbClr val="1B1F3B"/>
                </a:solidFill>
                <a:latin typeface="Calibri" pitchFamily="34" charset="0"/>
                <a:ea typeface="Calibri" pitchFamily="34" charset="-122"/>
                <a:cs typeface="Calibri" pitchFamily="34" charset="-120"/>
              </a:rPr>
              <a:t>Imputation : reviews_per_month a 0, ancienneté du dernier avis imputee pour les annonces sans avis.</a:t>
            </a:r>
            <a:endParaRPr lang="en-US" sz="1350" dirty="0"/>
          </a:p>
          <a:p>
            <a:pPr marL="228600" indent="-228600">
              <a:spcAft>
                <a:spcPts val="1400"/>
              </a:spcAft>
              <a:buSzPct val="100000"/>
              <a:buChar char="●"/>
            </a:pPr>
            <a:r>
              <a:rPr lang="en-US" sz="1350" dirty="0">
                <a:solidFill>
                  <a:srgbClr val="1B1F3B"/>
                </a:solidFill>
                <a:latin typeface="Calibri" pitchFamily="34" charset="0"/>
                <a:ea typeface="Calibri" pitchFamily="34" charset="-122"/>
                <a:cs typeface="Calibri" pitchFamily="34" charset="-120"/>
              </a:rPr>
              <a:t>distance_center_km : distance haversine au centre de Manhattan (feature la plus correlee au prix apres le type de logement).</a:t>
            </a:r>
            <a:endParaRPr lang="en-US" sz="1350" dirty="0"/>
          </a:p>
          <a:p>
            <a:pPr marL="228600" indent="-228600">
              <a:spcAft>
                <a:spcPts val="1400"/>
              </a:spcAft>
              <a:buSzPct val="100000"/>
              <a:buChar char="●"/>
            </a:pPr>
            <a:r>
              <a:rPr lang="en-US" sz="1350" dirty="0">
                <a:solidFill>
                  <a:srgbClr val="1B1F3B"/>
                </a:solidFill>
                <a:latin typeface="Calibri" pitchFamily="34" charset="0"/>
                <a:ea typeface="Calibri" pitchFamily="34" charset="-122"/>
                <a:cs typeface="Calibri" pitchFamily="34" charset="-120"/>
              </a:rPr>
              <a:t>neighbourhood_freq : encodage par frequence pour la variable a 221 modalites (evite l'explosion du one-hot).</a:t>
            </a:r>
            <a:endParaRPr lang="en-US" sz="1350" dirty="0"/>
          </a:p>
          <a:p>
            <a:pPr marL="228600" indent="-228600">
              <a:spcAft>
                <a:spcPts val="1400"/>
              </a:spcAft>
              <a:buSzPct val="100000"/>
              <a:buChar char="●"/>
            </a:pPr>
            <a:r>
              <a:rPr lang="en-US" sz="1350" dirty="0">
                <a:solidFill>
                  <a:srgbClr val="1B1F3B"/>
                </a:solidFill>
                <a:latin typeface="Calibri" pitchFamily="34" charset="0"/>
                <a:ea typeface="Calibri" pitchFamily="34" charset="-122"/>
                <a:cs typeface="Calibri" pitchFamily="34" charset="-120"/>
              </a:rPr>
              <a:t>one-hot sur neighbourhood_group et room_type ; StandardScaler sur les variables numeriques.</a:t>
            </a:r>
            <a:endParaRPr lang="en-US" sz="1350" dirty="0"/>
          </a:p>
        </p:txBody>
      </p:sp>
      <p:pic>
        <p:nvPicPr>
          <p:cNvPr id="5" name="Image 0" descr="C:\Users\Asus\Downloads\Airbnb\reports\figures\04_heatmap_correlations.png">    </p:cNvPr>
          <p:cNvPicPr>
            <a:picLocks noChangeAspect="1"/>
          </p:cNvPicPr>
          <p:nvPr/>
        </p:nvPicPr>
        <p:blipFill>
          <a:blip r:embed="rId1"/>
          <a:stretch>
            <a:fillRect/>
          </a:stretch>
        </p:blipFill>
        <p:spPr>
          <a:xfrm>
            <a:off x="6949440" y="1691640"/>
            <a:ext cx="4663440" cy="4480560"/>
          </a:xfrm>
          <a:prstGeom prst="rect">
            <a:avLst/>
          </a:prstGeom>
        </p:spPr>
      </p:pic>
      <p:sp>
        <p:nvSpPr>
          <p:cNvPr id="6" name="Text 3"/>
          <p:cNvSpPr txBox="1"/>
          <p:nvPr/>
        </p:nvSpPr>
        <p:spPr>
          <a:xfrm>
            <a:off x="11475720" y="6446520"/>
            <a:ext cx="548640" cy="32004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7315200" cy="320040"/>
          </a:xfrm>
          <a:prstGeom prst="rect">
            <a:avLst/>
          </a:prstGeom>
          <a:noFill/>
          <a:ln/>
        </p:spPr>
        <p:txBody>
          <a:bodyPr wrap="square" lIns="0" tIns="0" rIns="0" bIns="0" rtlCol="0" anchor="ctr"/>
          <a:lstStyle/>
          <a:p>
            <a:pPr indent="0" marL="0">
              <a:buNone/>
            </a:pPr>
            <a:r>
              <a:rPr lang="en-US" sz="1300" b="1" spc="200" kern="0" dirty="0">
                <a:solidFill>
                  <a:srgbClr val="F96167"/>
                </a:solidFill>
                <a:latin typeface="Calibri" pitchFamily="34" charset="0"/>
                <a:ea typeface="Calibri" pitchFamily="34" charset="-122"/>
                <a:cs typeface="Calibri" pitchFamily="34" charset="-120"/>
              </a:rPr>
              <a:t>04 . METHODOLOGIE</a:t>
            </a:r>
            <a:endParaRPr lang="en-US" sz="1300" dirty="0"/>
          </a:p>
        </p:txBody>
      </p:sp>
      <p:sp>
        <p:nvSpPr>
          <p:cNvPr id="3" name="Text 1"/>
          <p:cNvSpPr txBox="1"/>
          <p:nvPr/>
        </p:nvSpPr>
        <p:spPr>
          <a:xfrm>
            <a:off x="548640" y="685800"/>
            <a:ext cx="10515600" cy="822960"/>
          </a:xfrm>
          <a:prstGeom prst="rect">
            <a:avLst/>
          </a:prstGeom>
          <a:noFill/>
          <a:ln/>
        </p:spPr>
        <p:txBody>
          <a:bodyPr wrap="square" lIns="0" tIns="0" rIns="0" bIns="0" rtlCol="0" anchor="ctr"/>
          <a:lstStyle/>
          <a:p>
            <a:pPr indent="0" marL="0">
              <a:buNone/>
            </a:pPr>
            <a:r>
              <a:rPr lang="en-US" sz="3200" b="1" dirty="0">
                <a:solidFill>
                  <a:srgbClr val="1B1F3B"/>
                </a:solidFill>
                <a:latin typeface="Cambria" pitchFamily="34" charset="0"/>
                <a:ea typeface="Cambria" pitchFamily="34" charset="-122"/>
                <a:cs typeface="Cambria" pitchFamily="34" charset="-120"/>
              </a:rPr>
              <a:t>Architecture du pipeline</a:t>
            </a:r>
            <a:endParaRPr lang="en-US" sz="3200" dirty="0"/>
          </a:p>
        </p:txBody>
      </p:sp>
      <p:sp>
        <p:nvSpPr>
          <p:cNvPr id="4" name="Shape 2"/>
          <p:cNvSpPr/>
          <p:nvPr/>
        </p:nvSpPr>
        <p:spPr>
          <a:xfrm>
            <a:off x="402336" y="2651760"/>
            <a:ext cx="2468880" cy="1554480"/>
          </a:xfrm>
          <a:prstGeom prst="roundRect">
            <a:avLst>
              <a:gd name="adj" fmla="val 5882"/>
            </a:avLst>
          </a:prstGeom>
          <a:solidFill>
            <a:srgbClr val="2F3C7E"/>
          </a:solidFill>
          <a:ln/>
          <a:effectLst>
            <a:outerShdw sx="100000" sy="100000" kx="0" ky="0" algn="bl" rotWithShape="0" blurRad="101600" dist="38100" dir="5400000">
              <a:srgbClr val="000000">
                <a:alpha val="15000"/>
              </a:srgbClr>
            </a:outerShdw>
          </a:effectLst>
        </p:spPr>
      </p:sp>
      <p:sp>
        <p:nvSpPr>
          <p:cNvPr id="5" name="Text 3"/>
          <p:cNvSpPr txBox="1"/>
          <p:nvPr/>
        </p:nvSpPr>
        <p:spPr>
          <a:xfrm>
            <a:off x="539496" y="2834640"/>
            <a:ext cx="2194560" cy="594360"/>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AB_NYC_2019.csv</a:t>
            </a:r>
            <a:endParaRPr lang="en-US" sz="1300" dirty="0"/>
          </a:p>
        </p:txBody>
      </p:sp>
      <p:sp>
        <p:nvSpPr>
          <p:cNvPr id="6" name="Text 4"/>
          <p:cNvSpPr txBox="1"/>
          <p:nvPr/>
        </p:nvSpPr>
        <p:spPr>
          <a:xfrm>
            <a:off x="539496" y="3429000"/>
            <a:ext cx="2194560" cy="685800"/>
          </a:xfrm>
          <a:prstGeom prst="rect">
            <a:avLst/>
          </a:prstGeom>
          <a:noFill/>
          <a:ln/>
        </p:spPr>
        <p:txBody>
          <a:bodyPr wrap="square" lIns="0" tIns="0" rIns="0" bIns="0" rtlCol="0" anchor="ctr"/>
          <a:lstStyle/>
          <a:p>
            <a:pPr algn="ctr" indent="0" marL="0">
              <a:buNone/>
            </a:pPr>
            <a:r>
              <a:rPr lang="en-US" sz="1150" dirty="0">
                <a:solidFill>
                  <a:srgbClr val="E8EAF5"/>
                </a:solidFill>
                <a:latin typeface="Calibri" pitchFamily="34" charset="0"/>
                <a:ea typeface="Calibri" pitchFamily="34" charset="-122"/>
                <a:cs typeface="Calibri" pitchFamily="34" charset="-120"/>
              </a:rPr>
              <a:t>Donnees brutes</a:t>
            </a:r>
            <a:endParaRPr lang="en-US" sz="1150" dirty="0"/>
          </a:p>
          <a:p>
            <a:pPr algn="ctr" indent="0" marL="0">
              <a:buNone/>
            </a:pPr>
            <a:r>
              <a:rPr lang="en-US" sz="1150" dirty="0">
                <a:solidFill>
                  <a:srgbClr val="E8EAF5"/>
                </a:solidFill>
                <a:latin typeface="Calibri" pitchFamily="34" charset="0"/>
                <a:ea typeface="Calibri" pitchFamily="34" charset="-122"/>
                <a:cs typeface="Calibri" pitchFamily="34" charset="-120"/>
              </a:rPr>
              <a:t>(Kaggle)</a:t>
            </a:r>
            <a:endParaRPr lang="en-US" sz="1150" dirty="0"/>
          </a:p>
        </p:txBody>
      </p:sp>
      <p:sp>
        <p:nvSpPr>
          <p:cNvPr id="7" name="Text 5"/>
          <p:cNvSpPr txBox="1"/>
          <p:nvPr/>
        </p:nvSpPr>
        <p:spPr>
          <a:xfrm>
            <a:off x="2871216" y="3108960"/>
            <a:ext cx="502920" cy="640080"/>
          </a:xfrm>
          <a:prstGeom prst="rect">
            <a:avLst/>
          </a:prstGeom>
          <a:noFill/>
          <a:ln/>
        </p:spPr>
        <p:txBody>
          <a:bodyPr wrap="square" lIns="0" tIns="0" rIns="0" bIns="0" rtlCol="0" anchor="ctr"/>
          <a:lstStyle/>
          <a:p>
            <a:pPr algn="ctr" indent="0" marL="0">
              <a:buNone/>
            </a:pPr>
            <a:r>
              <a:rPr lang="en-US" sz="2800" b="1" dirty="0">
                <a:solidFill>
                  <a:srgbClr val="6B7280"/>
                </a:solidFill>
                <a:latin typeface="Calibri" pitchFamily="34" charset="0"/>
                <a:ea typeface="Calibri" pitchFamily="34" charset="-122"/>
                <a:cs typeface="Calibri" pitchFamily="34" charset="-120"/>
              </a:rPr>
              <a:t>→</a:t>
            </a:r>
            <a:endParaRPr lang="en-US" sz="2800" dirty="0"/>
          </a:p>
        </p:txBody>
      </p:sp>
      <p:sp>
        <p:nvSpPr>
          <p:cNvPr id="8" name="Shape 6"/>
          <p:cNvSpPr/>
          <p:nvPr/>
        </p:nvSpPr>
        <p:spPr>
          <a:xfrm>
            <a:off x="3374136" y="2651760"/>
            <a:ext cx="2468880" cy="1554480"/>
          </a:xfrm>
          <a:prstGeom prst="roundRect">
            <a:avLst>
              <a:gd name="adj" fmla="val 5882"/>
            </a:avLst>
          </a:prstGeom>
          <a:solidFill>
            <a:srgbClr val="2F3C7E"/>
          </a:solidFill>
          <a:ln/>
          <a:effectLst>
            <a:outerShdw sx="100000" sy="100000" kx="0" ky="0" algn="bl" rotWithShape="0" blurRad="101600" dist="38100" dir="5400000">
              <a:srgbClr val="000000">
                <a:alpha val="15000"/>
              </a:srgbClr>
            </a:outerShdw>
          </a:effectLst>
        </p:spPr>
      </p:sp>
      <p:sp>
        <p:nvSpPr>
          <p:cNvPr id="9" name="Text 7"/>
          <p:cNvSpPr txBox="1"/>
          <p:nvPr/>
        </p:nvSpPr>
        <p:spPr>
          <a:xfrm>
            <a:off x="3511296" y="2834640"/>
            <a:ext cx="2194560" cy="594360"/>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preprocessing.py</a:t>
            </a:r>
            <a:endParaRPr lang="en-US" sz="1300" dirty="0"/>
          </a:p>
        </p:txBody>
      </p:sp>
      <p:sp>
        <p:nvSpPr>
          <p:cNvPr id="10" name="Text 8"/>
          <p:cNvSpPr txBox="1"/>
          <p:nvPr/>
        </p:nvSpPr>
        <p:spPr>
          <a:xfrm>
            <a:off x="3511296" y="3429000"/>
            <a:ext cx="2194560" cy="685800"/>
          </a:xfrm>
          <a:prstGeom prst="rect">
            <a:avLst/>
          </a:prstGeom>
          <a:noFill/>
          <a:ln/>
        </p:spPr>
        <p:txBody>
          <a:bodyPr wrap="square" lIns="0" tIns="0" rIns="0" bIns="0" rtlCol="0" anchor="ctr"/>
          <a:lstStyle/>
          <a:p>
            <a:pPr algn="ctr" indent="0" marL="0">
              <a:buNone/>
            </a:pPr>
            <a:r>
              <a:rPr lang="en-US" sz="1150" dirty="0">
                <a:solidFill>
                  <a:srgbClr val="E8EAF5"/>
                </a:solidFill>
                <a:latin typeface="Calibri" pitchFamily="34" charset="0"/>
                <a:ea typeface="Calibri" pitchFamily="34" charset="-122"/>
                <a:cs typeface="Calibri" pitchFamily="34" charset="-120"/>
              </a:rPr>
              <a:t>Nettoyage,</a:t>
            </a:r>
            <a:endParaRPr lang="en-US" sz="1150" dirty="0"/>
          </a:p>
          <a:p>
            <a:pPr algn="ctr" indent="0" marL="0">
              <a:buNone/>
            </a:pPr>
            <a:r>
              <a:rPr lang="en-US" sz="1150" dirty="0">
                <a:solidFill>
                  <a:srgbClr val="E8EAF5"/>
                </a:solidFill>
                <a:latin typeface="Calibri" pitchFamily="34" charset="0"/>
                <a:ea typeface="Calibri" pitchFamily="34" charset="-122"/>
                <a:cs typeface="Calibri" pitchFamily="34" charset="-120"/>
              </a:rPr>
              <a:t>features, encodage</a:t>
            </a:r>
            <a:endParaRPr lang="en-US" sz="1150" dirty="0"/>
          </a:p>
        </p:txBody>
      </p:sp>
      <p:sp>
        <p:nvSpPr>
          <p:cNvPr id="11" name="Text 9"/>
          <p:cNvSpPr txBox="1"/>
          <p:nvPr/>
        </p:nvSpPr>
        <p:spPr>
          <a:xfrm>
            <a:off x="5843016" y="3108960"/>
            <a:ext cx="502920" cy="640080"/>
          </a:xfrm>
          <a:prstGeom prst="rect">
            <a:avLst/>
          </a:prstGeom>
          <a:noFill/>
          <a:ln/>
        </p:spPr>
        <p:txBody>
          <a:bodyPr wrap="square" lIns="0" tIns="0" rIns="0" bIns="0" rtlCol="0" anchor="ctr"/>
          <a:lstStyle/>
          <a:p>
            <a:pPr algn="ctr" indent="0" marL="0">
              <a:buNone/>
            </a:pPr>
            <a:r>
              <a:rPr lang="en-US" sz="2800" b="1" dirty="0">
                <a:solidFill>
                  <a:srgbClr val="6B7280"/>
                </a:solidFill>
                <a:latin typeface="Calibri" pitchFamily="34" charset="0"/>
                <a:ea typeface="Calibri" pitchFamily="34" charset="-122"/>
                <a:cs typeface="Calibri" pitchFamily="34" charset="-120"/>
              </a:rPr>
              <a:t>→</a:t>
            </a:r>
            <a:endParaRPr lang="en-US" sz="2800" dirty="0"/>
          </a:p>
        </p:txBody>
      </p:sp>
      <p:sp>
        <p:nvSpPr>
          <p:cNvPr id="12" name="Shape 10"/>
          <p:cNvSpPr/>
          <p:nvPr/>
        </p:nvSpPr>
        <p:spPr>
          <a:xfrm>
            <a:off x="6345936" y="2651760"/>
            <a:ext cx="2468880" cy="1554480"/>
          </a:xfrm>
          <a:prstGeom prst="roundRect">
            <a:avLst>
              <a:gd name="adj" fmla="val 5882"/>
            </a:avLst>
          </a:prstGeom>
          <a:solidFill>
            <a:srgbClr val="2F3C7E"/>
          </a:solidFill>
          <a:ln/>
          <a:effectLst>
            <a:outerShdw sx="100000" sy="100000" kx="0" ky="0" algn="bl" rotWithShape="0" blurRad="101600" dist="38100" dir="5400000">
              <a:srgbClr val="000000">
                <a:alpha val="15000"/>
              </a:srgbClr>
            </a:outerShdw>
          </a:effectLst>
        </p:spPr>
      </p:sp>
      <p:sp>
        <p:nvSpPr>
          <p:cNvPr id="13" name="Text 11"/>
          <p:cNvSpPr txBox="1"/>
          <p:nvPr/>
        </p:nvSpPr>
        <p:spPr>
          <a:xfrm>
            <a:off x="6483096" y="2834640"/>
            <a:ext cx="2194560" cy="594360"/>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eda.py /</a:t>
            </a:r>
            <a:endParaRPr lang="en-US" sz="1300" dirty="0"/>
          </a:p>
          <a:p>
            <a:pPr algn="ctr" indent="0" marL="0">
              <a:buNone/>
            </a:pPr>
            <a:r>
              <a:rPr lang="en-US" sz="1300" b="1" dirty="0">
                <a:solidFill>
                  <a:srgbClr val="FFFFFF"/>
                </a:solidFill>
                <a:latin typeface="Consolas" pitchFamily="34" charset="0"/>
                <a:ea typeface="Consolas" pitchFamily="34" charset="-122"/>
                <a:cs typeface="Consolas" pitchFamily="34" charset="-120"/>
              </a:rPr>
              <a:t>train_models.py</a:t>
            </a:r>
            <a:endParaRPr lang="en-US" sz="1300" dirty="0"/>
          </a:p>
        </p:txBody>
      </p:sp>
      <p:sp>
        <p:nvSpPr>
          <p:cNvPr id="14" name="Text 12"/>
          <p:cNvSpPr txBox="1"/>
          <p:nvPr/>
        </p:nvSpPr>
        <p:spPr>
          <a:xfrm>
            <a:off x="6483096" y="3429000"/>
            <a:ext cx="2194560" cy="685800"/>
          </a:xfrm>
          <a:prstGeom prst="rect">
            <a:avLst/>
          </a:prstGeom>
          <a:noFill/>
          <a:ln/>
        </p:spPr>
        <p:txBody>
          <a:bodyPr wrap="square" lIns="0" tIns="0" rIns="0" bIns="0" rtlCol="0" anchor="ctr"/>
          <a:lstStyle/>
          <a:p>
            <a:pPr algn="ctr" indent="0" marL="0">
              <a:buNone/>
            </a:pPr>
            <a:r>
              <a:rPr lang="en-US" sz="1150" dirty="0">
                <a:solidFill>
                  <a:srgbClr val="E8EAF5"/>
                </a:solidFill>
                <a:latin typeface="Calibri" pitchFamily="34" charset="0"/>
                <a:ea typeface="Calibri" pitchFamily="34" charset="-122"/>
                <a:cs typeface="Calibri" pitchFamily="34" charset="-120"/>
              </a:rPr>
              <a:t>Analyse +</a:t>
            </a:r>
            <a:endParaRPr lang="en-US" sz="1150" dirty="0"/>
          </a:p>
          <a:p>
            <a:pPr algn="ctr" indent="0" marL="0">
              <a:buNone/>
            </a:pPr>
            <a:r>
              <a:rPr lang="en-US" sz="1150" dirty="0">
                <a:solidFill>
                  <a:srgbClr val="E8EAF5"/>
                </a:solidFill>
                <a:latin typeface="Calibri" pitchFamily="34" charset="0"/>
                <a:ea typeface="Calibri" pitchFamily="34" charset="-122"/>
                <a:cs typeface="Calibri" pitchFamily="34" charset="-120"/>
              </a:rPr>
              <a:t>12 modeles compares</a:t>
            </a:r>
            <a:endParaRPr lang="en-US" sz="1150" dirty="0"/>
          </a:p>
        </p:txBody>
      </p:sp>
      <p:sp>
        <p:nvSpPr>
          <p:cNvPr id="15" name="Text 13"/>
          <p:cNvSpPr txBox="1"/>
          <p:nvPr/>
        </p:nvSpPr>
        <p:spPr>
          <a:xfrm>
            <a:off x="8814816" y="3108960"/>
            <a:ext cx="502920" cy="640080"/>
          </a:xfrm>
          <a:prstGeom prst="rect">
            <a:avLst/>
          </a:prstGeom>
          <a:noFill/>
          <a:ln/>
        </p:spPr>
        <p:txBody>
          <a:bodyPr wrap="square" lIns="0" tIns="0" rIns="0" bIns="0" rtlCol="0" anchor="ctr"/>
          <a:lstStyle/>
          <a:p>
            <a:pPr algn="ctr" indent="0" marL="0">
              <a:buNone/>
            </a:pPr>
            <a:r>
              <a:rPr lang="en-US" sz="2800" b="1" dirty="0">
                <a:solidFill>
                  <a:srgbClr val="6B7280"/>
                </a:solidFill>
                <a:latin typeface="Calibri" pitchFamily="34" charset="0"/>
                <a:ea typeface="Calibri" pitchFamily="34" charset="-122"/>
                <a:cs typeface="Calibri" pitchFamily="34" charset="-120"/>
              </a:rPr>
              <a:t>→</a:t>
            </a:r>
            <a:endParaRPr lang="en-US" sz="2800" dirty="0"/>
          </a:p>
        </p:txBody>
      </p:sp>
      <p:sp>
        <p:nvSpPr>
          <p:cNvPr id="16" name="Shape 14"/>
          <p:cNvSpPr/>
          <p:nvPr/>
        </p:nvSpPr>
        <p:spPr>
          <a:xfrm>
            <a:off x="9317736" y="2651760"/>
            <a:ext cx="2468880" cy="1554480"/>
          </a:xfrm>
          <a:prstGeom prst="roundRect">
            <a:avLst>
              <a:gd name="adj" fmla="val 5882"/>
            </a:avLst>
          </a:prstGeom>
          <a:solidFill>
            <a:srgbClr val="F96167"/>
          </a:solidFill>
          <a:ln/>
          <a:effectLst>
            <a:outerShdw sx="100000" sy="100000" kx="0" ky="0" algn="bl" rotWithShape="0" blurRad="101600" dist="38100" dir="5400000">
              <a:srgbClr val="000000">
                <a:alpha val="15000"/>
              </a:srgbClr>
            </a:outerShdw>
          </a:effectLst>
        </p:spPr>
      </p:sp>
      <p:sp>
        <p:nvSpPr>
          <p:cNvPr id="17" name="Text 15"/>
          <p:cNvSpPr txBox="1"/>
          <p:nvPr/>
        </p:nvSpPr>
        <p:spPr>
          <a:xfrm>
            <a:off x="9454896" y="2834640"/>
            <a:ext cx="2194560" cy="594360"/>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app.py</a:t>
            </a:r>
            <a:endParaRPr lang="en-US" sz="1300" dirty="0"/>
          </a:p>
          <a:p>
            <a:pPr algn="ctr" indent="0" marL="0">
              <a:buNone/>
            </a:pPr>
            <a:r>
              <a:rPr lang="en-US" sz="1300" b="1" dirty="0">
                <a:solidFill>
                  <a:srgbClr val="FFFFFF"/>
                </a:solidFill>
                <a:latin typeface="Consolas" pitchFamily="34" charset="0"/>
                <a:ea typeface="Consolas" pitchFamily="34" charset="-122"/>
                <a:cs typeface="Consolas" pitchFamily="34" charset="-120"/>
              </a:rPr>
              <a:t>(Streamlit)</a:t>
            </a:r>
            <a:endParaRPr lang="en-US" sz="1300" dirty="0"/>
          </a:p>
        </p:txBody>
      </p:sp>
      <p:sp>
        <p:nvSpPr>
          <p:cNvPr id="18" name="Text 16"/>
          <p:cNvSpPr txBox="1"/>
          <p:nvPr/>
        </p:nvSpPr>
        <p:spPr>
          <a:xfrm>
            <a:off x="9454896" y="3429000"/>
            <a:ext cx="2194560" cy="685800"/>
          </a:xfrm>
          <a:prstGeom prst="rect">
            <a:avLst/>
          </a:prstGeom>
          <a:noFill/>
          <a:ln/>
        </p:spPr>
        <p:txBody>
          <a:bodyPr wrap="square" lIns="0" tIns="0" rIns="0" bIns="0" rtlCol="0" anchor="ctr"/>
          <a:lstStyle/>
          <a:p>
            <a:pPr algn="ctr" indent="0" marL="0">
              <a:buNone/>
            </a:pPr>
            <a:r>
              <a:rPr lang="en-US" sz="1150" dirty="0">
                <a:solidFill>
                  <a:srgbClr val="E8EAF5"/>
                </a:solidFill>
                <a:latin typeface="Calibri" pitchFamily="34" charset="0"/>
                <a:ea typeface="Calibri" pitchFamily="34" charset="-122"/>
                <a:cs typeface="Calibri" pitchFamily="34" charset="-120"/>
              </a:rPr>
              <a:t>Interface</a:t>
            </a:r>
            <a:endParaRPr lang="en-US" sz="1150" dirty="0"/>
          </a:p>
          <a:p>
            <a:pPr algn="ctr" indent="0" marL="0">
              <a:buNone/>
            </a:pPr>
            <a:r>
              <a:rPr lang="en-US" sz="1150" dirty="0">
                <a:solidFill>
                  <a:srgbClr val="E8EAF5"/>
                </a:solidFill>
                <a:latin typeface="Calibri" pitchFamily="34" charset="0"/>
                <a:ea typeface="Calibri" pitchFamily="34" charset="-122"/>
                <a:cs typeface="Calibri" pitchFamily="34" charset="-120"/>
              </a:rPr>
              <a:t>interactive</a:t>
            </a:r>
            <a:endParaRPr lang="en-US" sz="1150" dirty="0"/>
          </a:p>
        </p:txBody>
      </p:sp>
      <p:sp>
        <p:nvSpPr>
          <p:cNvPr id="19" name="Text 17"/>
          <p:cNvSpPr txBox="1"/>
          <p:nvPr/>
        </p:nvSpPr>
        <p:spPr>
          <a:xfrm>
            <a:off x="548640" y="4846320"/>
            <a:ext cx="10972800" cy="457200"/>
          </a:xfrm>
          <a:prstGeom prst="rect">
            <a:avLst/>
          </a:prstGeom>
          <a:noFill/>
          <a:ln/>
        </p:spPr>
        <p:txBody>
          <a:bodyPr wrap="square" lIns="0" tIns="0" rIns="0" bIns="0" rtlCol="0" anchor="ctr"/>
          <a:lstStyle/>
          <a:p>
            <a:pPr algn="ctr" indent="0" marL="0">
              <a:buNone/>
            </a:pPr>
            <a:r>
              <a:rPr lang="en-US" sz="1300" i="1" dirty="0">
                <a:solidFill>
                  <a:srgbClr val="6B7280"/>
                </a:solidFill>
                <a:latin typeface="Calibri" pitchFamily="34" charset="0"/>
                <a:ea typeface="Calibri" pitchFamily="34" charset="-122"/>
                <a:cs typeface="Calibri" pitchFamily="34" charset="-120"/>
              </a:rPr>
              <a:t>Meme protocole pour tous les modeles : 80/20 train-test, validation croisee a 5 plis, graine fixee (42)</a:t>
            </a:r>
            <a:endParaRPr lang="en-US" sz="1300" dirty="0"/>
          </a:p>
        </p:txBody>
      </p:sp>
      <p:sp>
        <p:nvSpPr>
          <p:cNvPr id="20" name="Text 18"/>
          <p:cNvSpPr txBox="1"/>
          <p:nvPr/>
        </p:nvSpPr>
        <p:spPr>
          <a:xfrm>
            <a:off x="11475720" y="6446520"/>
            <a:ext cx="548640" cy="32004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7315200" cy="320040"/>
          </a:xfrm>
          <a:prstGeom prst="rect">
            <a:avLst/>
          </a:prstGeom>
          <a:noFill/>
          <a:ln/>
        </p:spPr>
        <p:txBody>
          <a:bodyPr wrap="square" lIns="0" tIns="0" rIns="0" bIns="0" rtlCol="0" anchor="ctr"/>
          <a:lstStyle/>
          <a:p>
            <a:pPr indent="0" marL="0">
              <a:buNone/>
            </a:pPr>
            <a:r>
              <a:rPr lang="en-US" sz="1300" b="1" spc="200" kern="0" dirty="0">
                <a:solidFill>
                  <a:srgbClr val="F96167"/>
                </a:solidFill>
                <a:latin typeface="Calibri" pitchFamily="34" charset="0"/>
                <a:ea typeface="Calibri" pitchFamily="34" charset="-122"/>
                <a:cs typeface="Calibri" pitchFamily="34" charset="-120"/>
              </a:rPr>
              <a:t>05 . RESULTATS</a:t>
            </a:r>
            <a:endParaRPr lang="en-US" sz="1300" dirty="0"/>
          </a:p>
        </p:txBody>
      </p:sp>
      <p:sp>
        <p:nvSpPr>
          <p:cNvPr id="3" name="Text 1"/>
          <p:cNvSpPr txBox="1"/>
          <p:nvPr/>
        </p:nvSpPr>
        <p:spPr>
          <a:xfrm>
            <a:off x="548640" y="685800"/>
            <a:ext cx="10515600" cy="822960"/>
          </a:xfrm>
          <a:prstGeom prst="rect">
            <a:avLst/>
          </a:prstGeom>
          <a:noFill/>
          <a:ln/>
        </p:spPr>
        <p:txBody>
          <a:bodyPr wrap="square" lIns="0" tIns="0" rIns="0" bIns="0" rtlCol="0" anchor="ctr"/>
          <a:lstStyle/>
          <a:p>
            <a:pPr indent="0" marL="0">
              <a:buNone/>
            </a:pPr>
            <a:r>
              <a:rPr lang="en-US" sz="3200" b="1" dirty="0">
                <a:solidFill>
                  <a:srgbClr val="1B1F3B"/>
                </a:solidFill>
                <a:latin typeface="Cambria" pitchFamily="34" charset="0"/>
                <a:ea typeface="Cambria" pitchFamily="34" charset="-122"/>
                <a:cs typeface="Cambria" pitchFamily="34" charset="-120"/>
              </a:rPr>
              <a:t>Comparaison de 12 algorithmes (RMSE test)</a:t>
            </a:r>
            <a:endParaRPr lang="en-US" sz="3200" dirty="0"/>
          </a:p>
        </p:txBody>
      </p:sp>
      <p:graphicFrame>
        <p:nvGraphicFramePr>
          <p:cNvPr id="4" name="Chart 0" descr=""/>
          <p:cNvGraphicFramePr/>
          <p:nvPr/>
        </p:nvGraphicFramePr>
        <p:xfrm>
          <a:off x="457200" y="1737360"/>
          <a:ext cx="11247120" cy="448056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548640" y="6309360"/>
            <a:ext cx="10972800" cy="365760"/>
          </a:xfrm>
          <a:prstGeom prst="rect">
            <a:avLst/>
          </a:prstGeom>
          <a:noFill/>
          <a:ln/>
        </p:spPr>
        <p:txBody>
          <a:bodyPr wrap="square" lIns="0" tIns="0" rIns="0" bIns="0" rtlCol="0" anchor="ctr"/>
          <a:lstStyle/>
          <a:p>
            <a:pPr algn="ctr" indent="0" marL="0">
              <a:buNone/>
            </a:pPr>
            <a:r>
              <a:rPr lang="en-US" sz="1200" i="1" dirty="0">
                <a:solidFill>
                  <a:srgbClr val="6B7280"/>
                </a:solidFill>
                <a:latin typeface="Calibri" pitchFamily="34" charset="0"/>
                <a:ea typeface="Calibri" pitchFamily="34" charset="-122"/>
                <a:cs typeface="Calibri" pitchFamily="34" charset="-120"/>
              </a:rPr>
              <a:t>Les methodes d'ensemble a base d'arbres (coral) dominent nettement les modeles lineaires</a:t>
            </a:r>
            <a:endParaRPr lang="en-US" sz="1200" dirty="0"/>
          </a:p>
        </p:txBody>
      </p:sp>
      <p:sp>
        <p:nvSpPr>
          <p:cNvPr id="6" name="Text 3"/>
          <p:cNvSpPr txBox="1"/>
          <p:nvPr/>
        </p:nvSpPr>
        <p:spPr>
          <a:xfrm>
            <a:off x="11475720" y="6446520"/>
            <a:ext cx="548640" cy="32004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7315200" cy="320040"/>
          </a:xfrm>
          <a:prstGeom prst="rect">
            <a:avLst/>
          </a:prstGeom>
          <a:noFill/>
          <a:ln/>
        </p:spPr>
        <p:txBody>
          <a:bodyPr wrap="square" lIns="0" tIns="0" rIns="0" bIns="0" rtlCol="0" anchor="ctr"/>
          <a:lstStyle/>
          <a:p>
            <a:pPr indent="0" marL="0">
              <a:buNone/>
            </a:pPr>
            <a:r>
              <a:rPr lang="en-US" sz="1300" b="1" spc="200" kern="0" dirty="0">
                <a:solidFill>
                  <a:srgbClr val="F96167"/>
                </a:solidFill>
                <a:latin typeface="Calibri" pitchFamily="34" charset="0"/>
                <a:ea typeface="Calibri" pitchFamily="34" charset="-122"/>
                <a:cs typeface="Calibri" pitchFamily="34" charset="-120"/>
              </a:rPr>
              <a:t>05 . RESULTATS</a:t>
            </a:r>
            <a:endParaRPr lang="en-US" sz="1300" dirty="0"/>
          </a:p>
        </p:txBody>
      </p:sp>
      <p:sp>
        <p:nvSpPr>
          <p:cNvPr id="3" name="Text 1"/>
          <p:cNvSpPr txBox="1"/>
          <p:nvPr/>
        </p:nvSpPr>
        <p:spPr>
          <a:xfrm>
            <a:off x="548640" y="685800"/>
            <a:ext cx="10515600" cy="822960"/>
          </a:xfrm>
          <a:prstGeom prst="rect">
            <a:avLst/>
          </a:prstGeom>
          <a:noFill/>
          <a:ln/>
        </p:spPr>
        <p:txBody>
          <a:bodyPr wrap="square" lIns="0" tIns="0" rIns="0" bIns="0" rtlCol="0" anchor="ctr"/>
          <a:lstStyle/>
          <a:p>
            <a:pPr indent="0" marL="0">
              <a:buNone/>
            </a:pPr>
            <a:r>
              <a:rPr lang="en-US" sz="3200" b="1" dirty="0">
                <a:solidFill>
                  <a:srgbClr val="1B1F3B"/>
                </a:solidFill>
                <a:latin typeface="Cambria" pitchFamily="34" charset="0"/>
                <a:ea typeface="Cambria" pitchFamily="34" charset="-122"/>
                <a:cs typeface="Cambria" pitchFamily="34" charset="-120"/>
              </a:rPr>
              <a:t>Modele final : XGBoost optimise</a:t>
            </a:r>
            <a:endParaRPr lang="en-US" sz="3200" dirty="0"/>
          </a:p>
        </p:txBody>
      </p:sp>
      <p:sp>
        <p:nvSpPr>
          <p:cNvPr id="4" name="Shape 2"/>
          <p:cNvSpPr/>
          <p:nvPr/>
        </p:nvSpPr>
        <p:spPr>
          <a:xfrm>
            <a:off x="548640" y="1737360"/>
            <a:ext cx="2788920" cy="1188720"/>
          </a:xfrm>
          <a:prstGeom prst="roundRect">
            <a:avLst>
              <a:gd name="adj" fmla="val 6154"/>
            </a:avLst>
          </a:prstGeom>
          <a:solidFill>
            <a:srgbClr val="F5F6FA"/>
          </a:solidFill>
          <a:ln/>
          <a:effectLst>
            <a:outerShdw sx="100000" sy="100000" kx="0" ky="0" algn="bl" rotWithShape="0" blurRad="76200" dist="25400" dir="5400000">
              <a:srgbClr val="000000">
                <a:alpha val="12000"/>
              </a:srgbClr>
            </a:outerShdw>
          </a:effectLst>
        </p:spPr>
      </p:sp>
      <p:sp>
        <p:nvSpPr>
          <p:cNvPr id="5" name="Text 3"/>
          <p:cNvSpPr txBox="1"/>
          <p:nvPr/>
        </p:nvSpPr>
        <p:spPr>
          <a:xfrm>
            <a:off x="685800" y="1847088"/>
            <a:ext cx="2514600" cy="653796"/>
          </a:xfrm>
          <a:prstGeom prst="rect">
            <a:avLst/>
          </a:prstGeom>
          <a:noFill/>
          <a:ln/>
        </p:spPr>
        <p:txBody>
          <a:bodyPr wrap="square" lIns="0" tIns="0" rIns="0" bIns="0" rtlCol="0" anchor="b"/>
          <a:lstStyle/>
          <a:p>
            <a:pPr algn="l" indent="0" marL="0">
              <a:buNone/>
            </a:pPr>
            <a:r>
              <a:rPr lang="en-US" sz="2600" b="1" dirty="0">
                <a:solidFill>
                  <a:srgbClr val="F96167"/>
                </a:solidFill>
                <a:latin typeface="Cambria" pitchFamily="34" charset="0"/>
                <a:ea typeface="Cambria" pitchFamily="34" charset="-122"/>
                <a:cs typeface="Cambria" pitchFamily="34" charset="-120"/>
              </a:rPr>
              <a:t>84,49 $</a:t>
            </a:r>
            <a:endParaRPr lang="en-US" sz="2600" dirty="0"/>
          </a:p>
        </p:txBody>
      </p:sp>
      <p:sp>
        <p:nvSpPr>
          <p:cNvPr id="6" name="Text 4"/>
          <p:cNvSpPr txBox="1"/>
          <p:nvPr/>
        </p:nvSpPr>
        <p:spPr>
          <a:xfrm>
            <a:off x="685800" y="2450592"/>
            <a:ext cx="2514600" cy="451714"/>
          </a:xfrm>
          <a:prstGeom prst="rect">
            <a:avLst/>
          </a:prstGeom>
          <a:noFill/>
          <a:ln/>
        </p:spPr>
        <p:txBody>
          <a:bodyPr wrap="square" lIns="0" tIns="0" rIns="0" bIns="0" rtlCol="0" anchor="t"/>
          <a:lstStyle/>
          <a:p>
            <a:pPr algn="l" indent="0" marL="0">
              <a:buNone/>
            </a:pPr>
            <a:r>
              <a:rPr lang="en-US" sz="1200" dirty="0">
                <a:solidFill>
                  <a:srgbClr val="6B7280"/>
                </a:solidFill>
                <a:latin typeface="Calibri" pitchFamily="34" charset="0"/>
                <a:ea typeface="Calibri" pitchFamily="34" charset="-122"/>
                <a:cs typeface="Calibri" pitchFamily="34" charset="-120"/>
              </a:rPr>
              <a:t>RMSE (test)</a:t>
            </a:r>
            <a:endParaRPr lang="en-US" sz="1200" dirty="0"/>
          </a:p>
        </p:txBody>
      </p:sp>
      <p:sp>
        <p:nvSpPr>
          <p:cNvPr id="7" name="Shape 5"/>
          <p:cNvSpPr/>
          <p:nvPr/>
        </p:nvSpPr>
        <p:spPr>
          <a:xfrm>
            <a:off x="3520440" y="1737360"/>
            <a:ext cx="2788920" cy="1188720"/>
          </a:xfrm>
          <a:prstGeom prst="roundRect">
            <a:avLst>
              <a:gd name="adj" fmla="val 6154"/>
            </a:avLst>
          </a:prstGeom>
          <a:solidFill>
            <a:srgbClr val="F5F6FA"/>
          </a:solidFill>
          <a:ln/>
          <a:effectLst>
            <a:outerShdw sx="100000" sy="100000" kx="0" ky="0" algn="bl" rotWithShape="0" blurRad="76200" dist="25400" dir="5400000">
              <a:srgbClr val="000000">
                <a:alpha val="12000"/>
              </a:srgbClr>
            </a:outerShdw>
          </a:effectLst>
        </p:spPr>
      </p:sp>
      <p:sp>
        <p:nvSpPr>
          <p:cNvPr id="8" name="Text 6"/>
          <p:cNvSpPr txBox="1"/>
          <p:nvPr/>
        </p:nvSpPr>
        <p:spPr>
          <a:xfrm>
            <a:off x="3657600" y="1847088"/>
            <a:ext cx="2514600" cy="653796"/>
          </a:xfrm>
          <a:prstGeom prst="rect">
            <a:avLst/>
          </a:prstGeom>
          <a:noFill/>
          <a:ln/>
        </p:spPr>
        <p:txBody>
          <a:bodyPr wrap="square" lIns="0" tIns="0" rIns="0" bIns="0" rtlCol="0" anchor="b"/>
          <a:lstStyle/>
          <a:p>
            <a:pPr algn="l" indent="0" marL="0">
              <a:buNone/>
            </a:pPr>
            <a:r>
              <a:rPr lang="en-US" sz="2600" b="1" dirty="0">
                <a:solidFill>
                  <a:srgbClr val="2F3C7E"/>
                </a:solidFill>
                <a:latin typeface="Cambria" pitchFamily="34" charset="0"/>
                <a:ea typeface="Cambria" pitchFamily="34" charset="-122"/>
                <a:cs typeface="Cambria" pitchFamily="34" charset="-120"/>
              </a:rPr>
              <a:t>48,35 $</a:t>
            </a:r>
            <a:endParaRPr lang="en-US" sz="2600" dirty="0"/>
          </a:p>
        </p:txBody>
      </p:sp>
      <p:sp>
        <p:nvSpPr>
          <p:cNvPr id="9" name="Text 7"/>
          <p:cNvSpPr txBox="1"/>
          <p:nvPr/>
        </p:nvSpPr>
        <p:spPr>
          <a:xfrm>
            <a:off x="3657600" y="2450592"/>
            <a:ext cx="2514600" cy="451714"/>
          </a:xfrm>
          <a:prstGeom prst="rect">
            <a:avLst/>
          </a:prstGeom>
          <a:noFill/>
          <a:ln/>
        </p:spPr>
        <p:txBody>
          <a:bodyPr wrap="square" lIns="0" tIns="0" rIns="0" bIns="0" rtlCol="0" anchor="t"/>
          <a:lstStyle/>
          <a:p>
            <a:pPr algn="l" indent="0" marL="0">
              <a:buNone/>
            </a:pPr>
            <a:r>
              <a:rPr lang="en-US" sz="1200" dirty="0">
                <a:solidFill>
                  <a:srgbClr val="6B7280"/>
                </a:solidFill>
                <a:latin typeface="Calibri" pitchFamily="34" charset="0"/>
                <a:ea typeface="Calibri" pitchFamily="34" charset="-122"/>
                <a:cs typeface="Calibri" pitchFamily="34" charset="-120"/>
              </a:rPr>
              <a:t>MAE (test)</a:t>
            </a:r>
            <a:endParaRPr lang="en-US" sz="1200" dirty="0"/>
          </a:p>
        </p:txBody>
      </p:sp>
      <p:sp>
        <p:nvSpPr>
          <p:cNvPr id="10" name="Shape 8"/>
          <p:cNvSpPr/>
          <p:nvPr/>
        </p:nvSpPr>
        <p:spPr>
          <a:xfrm>
            <a:off x="548640" y="3063240"/>
            <a:ext cx="2788920" cy="1188720"/>
          </a:xfrm>
          <a:prstGeom prst="roundRect">
            <a:avLst>
              <a:gd name="adj" fmla="val 6154"/>
            </a:avLst>
          </a:prstGeom>
          <a:solidFill>
            <a:srgbClr val="F5F6FA"/>
          </a:solidFill>
          <a:ln/>
          <a:effectLst>
            <a:outerShdw sx="100000" sy="100000" kx="0" ky="0" algn="bl" rotWithShape="0" blurRad="76200" dist="25400" dir="5400000">
              <a:srgbClr val="000000">
                <a:alpha val="12000"/>
              </a:srgbClr>
            </a:outerShdw>
          </a:effectLst>
        </p:spPr>
      </p:sp>
      <p:sp>
        <p:nvSpPr>
          <p:cNvPr id="11" name="Text 9"/>
          <p:cNvSpPr txBox="1"/>
          <p:nvPr/>
        </p:nvSpPr>
        <p:spPr>
          <a:xfrm>
            <a:off x="685800" y="3172968"/>
            <a:ext cx="2514600" cy="653796"/>
          </a:xfrm>
          <a:prstGeom prst="rect">
            <a:avLst/>
          </a:prstGeom>
          <a:noFill/>
          <a:ln/>
        </p:spPr>
        <p:txBody>
          <a:bodyPr wrap="square" lIns="0" tIns="0" rIns="0" bIns="0" rtlCol="0" anchor="b"/>
          <a:lstStyle/>
          <a:p>
            <a:pPr algn="l" indent="0" marL="0">
              <a:buNone/>
            </a:pPr>
            <a:r>
              <a:rPr lang="en-US" sz="2600" b="1" dirty="0">
                <a:solidFill>
                  <a:srgbClr val="2F3C7E"/>
                </a:solidFill>
                <a:latin typeface="Cambria" pitchFamily="34" charset="0"/>
                <a:ea typeface="Cambria" pitchFamily="34" charset="-122"/>
                <a:cs typeface="Cambria" pitchFamily="34" charset="-120"/>
              </a:rPr>
              <a:t>0,453</a:t>
            </a:r>
            <a:endParaRPr lang="en-US" sz="2600" dirty="0"/>
          </a:p>
        </p:txBody>
      </p:sp>
      <p:sp>
        <p:nvSpPr>
          <p:cNvPr id="12" name="Text 10"/>
          <p:cNvSpPr txBox="1"/>
          <p:nvPr/>
        </p:nvSpPr>
        <p:spPr>
          <a:xfrm>
            <a:off x="685800" y="3776472"/>
            <a:ext cx="2514600" cy="451714"/>
          </a:xfrm>
          <a:prstGeom prst="rect">
            <a:avLst/>
          </a:prstGeom>
          <a:noFill/>
          <a:ln/>
        </p:spPr>
        <p:txBody>
          <a:bodyPr wrap="square" lIns="0" tIns="0" rIns="0" bIns="0" rtlCol="0" anchor="t"/>
          <a:lstStyle/>
          <a:p>
            <a:pPr algn="l" indent="0" marL="0">
              <a:buNone/>
            </a:pPr>
            <a:r>
              <a:rPr lang="en-US" sz="1200" dirty="0">
                <a:solidFill>
                  <a:srgbClr val="6B7280"/>
                </a:solidFill>
                <a:latin typeface="Calibri" pitchFamily="34" charset="0"/>
                <a:ea typeface="Calibri" pitchFamily="34" charset="-122"/>
                <a:cs typeface="Calibri" pitchFamily="34" charset="-120"/>
              </a:rPr>
              <a:t>R² (test)</a:t>
            </a:r>
            <a:endParaRPr lang="en-US" sz="1200" dirty="0"/>
          </a:p>
        </p:txBody>
      </p:sp>
      <p:sp>
        <p:nvSpPr>
          <p:cNvPr id="13" name="Shape 11"/>
          <p:cNvSpPr/>
          <p:nvPr/>
        </p:nvSpPr>
        <p:spPr>
          <a:xfrm>
            <a:off x="3520440" y="3063240"/>
            <a:ext cx="2788920" cy="1188720"/>
          </a:xfrm>
          <a:prstGeom prst="roundRect">
            <a:avLst>
              <a:gd name="adj" fmla="val 6154"/>
            </a:avLst>
          </a:prstGeom>
          <a:solidFill>
            <a:srgbClr val="F5F6FA"/>
          </a:solidFill>
          <a:ln/>
          <a:effectLst>
            <a:outerShdw sx="100000" sy="100000" kx="0" ky="0" algn="bl" rotWithShape="0" blurRad="76200" dist="25400" dir="5400000">
              <a:srgbClr val="000000">
                <a:alpha val="12000"/>
              </a:srgbClr>
            </a:outerShdw>
          </a:effectLst>
        </p:spPr>
      </p:sp>
      <p:sp>
        <p:nvSpPr>
          <p:cNvPr id="14" name="Text 12"/>
          <p:cNvSpPr txBox="1"/>
          <p:nvPr/>
        </p:nvSpPr>
        <p:spPr>
          <a:xfrm>
            <a:off x="3657600" y="3172968"/>
            <a:ext cx="2514600" cy="653796"/>
          </a:xfrm>
          <a:prstGeom prst="rect">
            <a:avLst/>
          </a:prstGeom>
          <a:noFill/>
          <a:ln/>
        </p:spPr>
        <p:txBody>
          <a:bodyPr wrap="square" lIns="0" tIns="0" rIns="0" bIns="0" rtlCol="0" anchor="b"/>
          <a:lstStyle/>
          <a:p>
            <a:pPr algn="l" indent="0" marL="0">
              <a:buNone/>
            </a:pPr>
            <a:r>
              <a:rPr lang="en-US" sz="2600" b="1" dirty="0">
                <a:solidFill>
                  <a:srgbClr val="2F3C7E"/>
                </a:solidFill>
                <a:latin typeface="Cambria" pitchFamily="34" charset="0"/>
                <a:ea typeface="Cambria" pitchFamily="34" charset="-122"/>
                <a:cs typeface="Cambria" pitchFamily="34" charset="-120"/>
              </a:rPr>
              <a:t>36,1 %</a:t>
            </a:r>
            <a:endParaRPr lang="en-US" sz="2600" dirty="0"/>
          </a:p>
        </p:txBody>
      </p:sp>
      <p:sp>
        <p:nvSpPr>
          <p:cNvPr id="15" name="Text 13"/>
          <p:cNvSpPr txBox="1"/>
          <p:nvPr/>
        </p:nvSpPr>
        <p:spPr>
          <a:xfrm>
            <a:off x="3657600" y="3776472"/>
            <a:ext cx="2514600" cy="451714"/>
          </a:xfrm>
          <a:prstGeom prst="rect">
            <a:avLst/>
          </a:prstGeom>
          <a:noFill/>
          <a:ln/>
        </p:spPr>
        <p:txBody>
          <a:bodyPr wrap="square" lIns="0" tIns="0" rIns="0" bIns="0" rtlCol="0" anchor="t"/>
          <a:lstStyle/>
          <a:p>
            <a:pPr algn="l" indent="0" marL="0">
              <a:buNone/>
            </a:pPr>
            <a:r>
              <a:rPr lang="en-US" sz="1200" dirty="0">
                <a:solidFill>
                  <a:srgbClr val="6B7280"/>
                </a:solidFill>
                <a:latin typeface="Calibri" pitchFamily="34" charset="0"/>
                <a:ea typeface="Calibri" pitchFamily="34" charset="-122"/>
                <a:cs typeface="Calibri" pitchFamily="34" charset="-120"/>
              </a:rPr>
              <a:t>MAPE (test)</a:t>
            </a:r>
            <a:endParaRPr lang="en-US" sz="1200" dirty="0"/>
          </a:p>
        </p:txBody>
      </p:sp>
      <p:sp>
        <p:nvSpPr>
          <p:cNvPr id="16" name="Text 14"/>
          <p:cNvSpPr txBox="1"/>
          <p:nvPr/>
        </p:nvSpPr>
        <p:spPr>
          <a:xfrm>
            <a:off x="548640" y="4480560"/>
            <a:ext cx="5760720" cy="320040"/>
          </a:xfrm>
          <a:prstGeom prst="rect">
            <a:avLst/>
          </a:prstGeom>
          <a:noFill/>
          <a:ln/>
        </p:spPr>
        <p:txBody>
          <a:bodyPr wrap="square" lIns="0" tIns="0" rIns="0" bIns="0" rtlCol="0" anchor="ctr"/>
          <a:lstStyle/>
          <a:p>
            <a:pPr indent="0" marL="0">
              <a:buNone/>
            </a:pPr>
            <a:r>
              <a:rPr lang="en-US" sz="1300" b="1" dirty="0">
                <a:solidFill>
                  <a:srgbClr val="1B1F3B"/>
                </a:solidFill>
                <a:latin typeface="Calibri" pitchFamily="34" charset="0"/>
                <a:ea typeface="Calibri" pitchFamily="34" charset="-122"/>
                <a:cs typeface="Calibri" pitchFamily="34" charset="-120"/>
              </a:rPr>
              <a:t>Hyperparametres retenus (RandomizedSearchCV, cv=3) :</a:t>
            </a:r>
            <a:endParaRPr lang="en-US" sz="1300" dirty="0"/>
          </a:p>
        </p:txBody>
      </p:sp>
      <p:sp>
        <p:nvSpPr>
          <p:cNvPr id="17" name="Text 15"/>
          <p:cNvSpPr txBox="1"/>
          <p:nvPr/>
        </p:nvSpPr>
        <p:spPr>
          <a:xfrm>
            <a:off x="548640" y="4846320"/>
            <a:ext cx="5760720" cy="1371600"/>
          </a:xfrm>
          <a:prstGeom prst="rect">
            <a:avLst/>
          </a:prstGeom>
          <a:noFill/>
          <a:ln/>
        </p:spPr>
        <p:txBody>
          <a:bodyPr wrap="square" lIns="0" tIns="0" rIns="0" bIns="0" rtlCol="0" anchor="t"/>
          <a:lstStyle/>
          <a:p>
            <a:pPr marL="228600" indent="-228600">
              <a:spcAft>
                <a:spcPts val="1000"/>
              </a:spcAft>
              <a:buSzPct val="100000"/>
              <a:buChar char="●"/>
            </a:pPr>
            <a:r>
              <a:rPr lang="en-US" sz="1250" dirty="0">
                <a:solidFill>
                  <a:srgbClr val="1B1F3B"/>
                </a:solidFill>
                <a:latin typeface="Calibri" pitchFamily="34" charset="0"/>
                <a:ea typeface="Calibri" pitchFamily="34" charset="-122"/>
                <a:cs typeface="Calibri" pitchFamily="34" charset="-120"/>
              </a:rPr>
              <a:t>n_estimators = 400, max_depth = 6, learning_rate = 0,03, subsample = 0,7</a:t>
            </a:r>
            <a:endParaRPr lang="en-US" sz="1250" dirty="0"/>
          </a:p>
          <a:p>
            <a:pPr marL="228600" indent="-228600">
              <a:spcAft>
                <a:spcPts val="1000"/>
              </a:spcAft>
              <a:buSzPct val="100000"/>
              <a:buChar char="●"/>
            </a:pPr>
            <a:r>
              <a:rPr lang="en-US" sz="1250" dirty="0">
                <a:solidFill>
                  <a:srgbClr val="1B1F3B"/>
                </a:solidFill>
                <a:latin typeface="Calibri" pitchFamily="34" charset="0"/>
                <a:ea typeface="Calibri" pitchFamily="34" charset="-122"/>
                <a:cs typeface="Calibri" pitchFamily="34" charset="-120"/>
              </a:rPr>
              <a:t>Gain vs version par defaut : RMSE 85,05 $ → 84,49 $ (-0,66 %)</a:t>
            </a:r>
            <a:endParaRPr lang="en-US" sz="1250" dirty="0"/>
          </a:p>
        </p:txBody>
      </p:sp>
      <p:pic>
        <p:nvPicPr>
          <p:cNvPr id="18" name="Image 0" descr="C:\Users\Asus\Downloads\Airbnb\reports\figures\07_feature_importance.png">    </p:cNvPr>
          <p:cNvPicPr>
            <a:picLocks noChangeAspect="1"/>
          </p:cNvPicPr>
          <p:nvPr/>
        </p:nvPicPr>
        <p:blipFill>
          <a:blip r:embed="rId1"/>
          <a:stretch>
            <a:fillRect/>
          </a:stretch>
        </p:blipFill>
        <p:spPr>
          <a:xfrm>
            <a:off x="6629400" y="1737360"/>
            <a:ext cx="5029200" cy="4526280"/>
          </a:xfrm>
          <a:prstGeom prst="rect">
            <a:avLst/>
          </a:prstGeom>
        </p:spPr>
      </p:pic>
      <p:sp>
        <p:nvSpPr>
          <p:cNvPr id="19" name="Text 16"/>
          <p:cNvSpPr txBox="1"/>
          <p:nvPr/>
        </p:nvSpPr>
        <p:spPr>
          <a:xfrm>
            <a:off x="11475720" y="6446520"/>
            <a:ext cx="548640" cy="32004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7315200" cy="320040"/>
          </a:xfrm>
          <a:prstGeom prst="rect">
            <a:avLst/>
          </a:prstGeom>
          <a:noFill/>
          <a:ln/>
        </p:spPr>
        <p:txBody>
          <a:bodyPr wrap="square" lIns="0" tIns="0" rIns="0" bIns="0" rtlCol="0" anchor="ctr"/>
          <a:lstStyle/>
          <a:p>
            <a:pPr indent="0" marL="0">
              <a:buNone/>
            </a:pPr>
            <a:r>
              <a:rPr lang="en-US" sz="1300" b="1" spc="200" kern="0" dirty="0">
                <a:solidFill>
                  <a:srgbClr val="F96167"/>
                </a:solidFill>
                <a:latin typeface="Calibri" pitchFamily="34" charset="0"/>
                <a:ea typeface="Calibri" pitchFamily="34" charset="-122"/>
                <a:cs typeface="Calibri" pitchFamily="34" charset="-120"/>
              </a:rPr>
              <a:t>06 . ANALYSE CRITIQUE</a:t>
            </a:r>
            <a:endParaRPr lang="en-US" sz="1300" dirty="0"/>
          </a:p>
        </p:txBody>
      </p:sp>
      <p:sp>
        <p:nvSpPr>
          <p:cNvPr id="3" name="Text 1"/>
          <p:cNvSpPr txBox="1"/>
          <p:nvPr/>
        </p:nvSpPr>
        <p:spPr>
          <a:xfrm>
            <a:off x="548640" y="685800"/>
            <a:ext cx="10515600" cy="822960"/>
          </a:xfrm>
          <a:prstGeom prst="rect">
            <a:avLst/>
          </a:prstGeom>
          <a:noFill/>
          <a:ln/>
        </p:spPr>
        <p:txBody>
          <a:bodyPr wrap="square" lIns="0" tIns="0" rIns="0" bIns="0" rtlCol="0" anchor="ctr"/>
          <a:lstStyle/>
          <a:p>
            <a:pPr indent="0" marL="0">
              <a:buNone/>
            </a:pPr>
            <a:r>
              <a:rPr lang="en-US" sz="3200" b="1" dirty="0">
                <a:solidFill>
                  <a:srgbClr val="1B1F3B"/>
                </a:solidFill>
                <a:latin typeface="Cambria" pitchFamily="34" charset="0"/>
                <a:ea typeface="Cambria" pitchFamily="34" charset="-122"/>
                <a:cs typeface="Cambria" pitchFamily="34" charset="-120"/>
              </a:rPr>
              <a:t>Points forts et limites</a:t>
            </a:r>
            <a:endParaRPr lang="en-US" sz="3200" dirty="0"/>
          </a:p>
        </p:txBody>
      </p:sp>
      <p:sp>
        <p:nvSpPr>
          <p:cNvPr id="4" name="Shape 2"/>
          <p:cNvSpPr/>
          <p:nvPr/>
        </p:nvSpPr>
        <p:spPr>
          <a:xfrm>
            <a:off x="548640" y="1783080"/>
            <a:ext cx="5440680" cy="4206240"/>
          </a:xfrm>
          <a:prstGeom prst="roundRect">
            <a:avLst>
              <a:gd name="adj" fmla="val 1739"/>
            </a:avLst>
          </a:prstGeom>
          <a:solidFill>
            <a:srgbClr val="EAF6EE"/>
          </a:solidFill>
          <a:ln/>
        </p:spPr>
      </p:sp>
      <p:sp>
        <p:nvSpPr>
          <p:cNvPr id="5" name="Text 3"/>
          <p:cNvSpPr txBox="1"/>
          <p:nvPr/>
        </p:nvSpPr>
        <p:spPr>
          <a:xfrm>
            <a:off x="822960" y="1965960"/>
            <a:ext cx="4937760" cy="365760"/>
          </a:xfrm>
          <a:prstGeom prst="rect">
            <a:avLst/>
          </a:prstGeom>
          <a:noFill/>
          <a:ln/>
        </p:spPr>
        <p:txBody>
          <a:bodyPr wrap="square" lIns="0" tIns="0" rIns="0" bIns="0" rtlCol="0" anchor="ctr"/>
          <a:lstStyle/>
          <a:p>
            <a:pPr indent="0" marL="0">
              <a:buNone/>
            </a:pPr>
            <a:r>
              <a:rPr lang="en-US" sz="1800" b="1" dirty="0">
                <a:solidFill>
                  <a:srgbClr val="1E7A3E"/>
                </a:solidFill>
                <a:latin typeface="Cambria" pitchFamily="34" charset="0"/>
                <a:ea typeface="Cambria" pitchFamily="34" charset="-122"/>
                <a:cs typeface="Cambria" pitchFamily="34" charset="-120"/>
              </a:rPr>
              <a:t>Points forts</a:t>
            </a:r>
            <a:endParaRPr lang="en-US" sz="1800" dirty="0"/>
          </a:p>
        </p:txBody>
      </p:sp>
      <p:sp>
        <p:nvSpPr>
          <p:cNvPr id="6" name="Text 4"/>
          <p:cNvSpPr txBox="1"/>
          <p:nvPr/>
        </p:nvSpPr>
        <p:spPr>
          <a:xfrm>
            <a:off x="822960" y="2423160"/>
            <a:ext cx="4937760" cy="3383280"/>
          </a:xfrm>
          <a:prstGeom prst="rect">
            <a:avLst/>
          </a:prstGeom>
          <a:noFill/>
          <a:ln/>
        </p:spPr>
        <p:txBody>
          <a:bodyPr wrap="square" lIns="0" tIns="0" rIns="0" bIns="0" rtlCol="0" anchor="t"/>
          <a:lstStyle/>
          <a:p>
            <a:pPr marL="228600" indent="-228600">
              <a:spcAft>
                <a:spcPts val="1200"/>
              </a:spcAft>
              <a:buSzPct val="100000"/>
              <a:buChar char="●"/>
            </a:pPr>
            <a:r>
              <a:rPr lang="en-US" sz="1300" dirty="0">
                <a:solidFill>
                  <a:srgbClr val="1B1F3B"/>
                </a:solidFill>
                <a:latin typeface="Calibri" pitchFamily="34" charset="0"/>
                <a:ea typeface="Calibri" pitchFamily="34" charset="-122"/>
                <a:cs typeface="Calibri" pitchFamily="34" charset="-120"/>
              </a:rPr>
              <a:t>Chaine complete : donnees -&gt; pretraitement -&gt; 12 modeles -&gt; optimisation -&gt; app</a:t>
            </a:r>
            <a:endParaRPr lang="en-US" sz="1300" dirty="0"/>
          </a:p>
          <a:p>
            <a:pPr marL="228600" indent="-228600">
              <a:spcAft>
                <a:spcPts val="1200"/>
              </a:spcAft>
              <a:buSzPct val="100000"/>
              <a:buChar char="●"/>
            </a:pPr>
            <a:r>
              <a:rPr lang="en-US" sz="1300" dirty="0">
                <a:solidFill>
                  <a:srgbClr val="1B1F3B"/>
                </a:solidFill>
                <a:latin typeface="Calibri" pitchFamily="34" charset="0"/>
                <a:ea typeface="Calibri" pitchFamily="34" charset="-122"/>
                <a:cs typeface="Calibri" pitchFamily="34" charset="-120"/>
              </a:rPr>
              <a:t>Protocole identique et reproductible pour tous les modeles</a:t>
            </a:r>
            <a:endParaRPr lang="en-US" sz="1300" dirty="0"/>
          </a:p>
          <a:p>
            <a:pPr marL="228600" indent="-228600">
              <a:spcAft>
                <a:spcPts val="1200"/>
              </a:spcAft>
              <a:buSzPct val="100000"/>
              <a:buChar char="●"/>
            </a:pPr>
            <a:r>
              <a:rPr lang="en-US" sz="1300" dirty="0">
                <a:solidFill>
                  <a:srgbClr val="1B1F3B"/>
                </a:solidFill>
                <a:latin typeface="Calibri" pitchFamily="34" charset="0"/>
                <a:ea typeface="Calibri" pitchFamily="34" charset="-122"/>
                <a:cs typeface="Calibri" pitchFamily="34" charset="-120"/>
              </a:rPr>
              <a:t>Feature engineering geographique original (distance haversine)</a:t>
            </a:r>
            <a:endParaRPr lang="en-US" sz="1300" dirty="0"/>
          </a:p>
          <a:p>
            <a:pPr marL="228600" indent="-228600">
              <a:spcAft>
                <a:spcPts val="1200"/>
              </a:spcAft>
              <a:buSzPct val="100000"/>
              <a:buChar char="●"/>
            </a:pPr>
            <a:r>
              <a:rPr lang="en-US" sz="1300" dirty="0">
                <a:solidFill>
                  <a:srgbClr val="1B1F3B"/>
                </a:solidFill>
                <a:latin typeface="Calibri" pitchFamily="34" charset="0"/>
                <a:ea typeface="Calibri" pitchFamily="34" charset="-122"/>
                <a:cs typeface="Calibri" pitchFamily="34" charset="-120"/>
              </a:rPr>
              <a:t>Interface graphique fonctionnelle au-dela du simple notebook</a:t>
            </a:r>
            <a:endParaRPr lang="en-US" sz="1300" dirty="0"/>
          </a:p>
        </p:txBody>
      </p:sp>
      <p:sp>
        <p:nvSpPr>
          <p:cNvPr id="7" name="Shape 5"/>
          <p:cNvSpPr/>
          <p:nvPr/>
        </p:nvSpPr>
        <p:spPr>
          <a:xfrm>
            <a:off x="6217920" y="1783080"/>
            <a:ext cx="5440680" cy="4206240"/>
          </a:xfrm>
          <a:prstGeom prst="roundRect">
            <a:avLst>
              <a:gd name="adj" fmla="val 1739"/>
            </a:avLst>
          </a:prstGeom>
          <a:solidFill>
            <a:srgbClr val="FDECEC"/>
          </a:solidFill>
          <a:ln/>
        </p:spPr>
      </p:sp>
      <p:sp>
        <p:nvSpPr>
          <p:cNvPr id="8" name="Text 6"/>
          <p:cNvSpPr txBox="1"/>
          <p:nvPr/>
        </p:nvSpPr>
        <p:spPr>
          <a:xfrm>
            <a:off x="6492240" y="1965960"/>
            <a:ext cx="4937760" cy="365760"/>
          </a:xfrm>
          <a:prstGeom prst="rect">
            <a:avLst/>
          </a:prstGeom>
          <a:noFill/>
          <a:ln/>
        </p:spPr>
        <p:txBody>
          <a:bodyPr wrap="square" lIns="0" tIns="0" rIns="0" bIns="0" rtlCol="0" anchor="ctr"/>
          <a:lstStyle/>
          <a:p>
            <a:pPr indent="0" marL="0">
              <a:buNone/>
            </a:pPr>
            <a:r>
              <a:rPr lang="en-US" sz="1800" b="1" dirty="0">
                <a:solidFill>
                  <a:srgbClr val="B23A48"/>
                </a:solidFill>
                <a:latin typeface="Cambria" pitchFamily="34" charset="0"/>
                <a:ea typeface="Cambria" pitchFamily="34" charset="-122"/>
                <a:cs typeface="Cambria" pitchFamily="34" charset="-120"/>
              </a:rPr>
              <a:t>Limites assumees</a:t>
            </a:r>
            <a:endParaRPr lang="en-US" sz="1800" dirty="0"/>
          </a:p>
        </p:txBody>
      </p:sp>
      <p:sp>
        <p:nvSpPr>
          <p:cNvPr id="9" name="Text 7"/>
          <p:cNvSpPr txBox="1"/>
          <p:nvPr/>
        </p:nvSpPr>
        <p:spPr>
          <a:xfrm>
            <a:off x="6492240" y="2423160"/>
            <a:ext cx="4937760" cy="3383280"/>
          </a:xfrm>
          <a:prstGeom prst="rect">
            <a:avLst/>
          </a:prstGeom>
          <a:noFill/>
          <a:ln/>
        </p:spPr>
        <p:txBody>
          <a:bodyPr wrap="square" lIns="0" tIns="0" rIns="0" bIns="0" rtlCol="0" anchor="t"/>
          <a:lstStyle/>
          <a:p>
            <a:pPr marL="228600" indent="-228600">
              <a:spcAft>
                <a:spcPts val="1200"/>
              </a:spcAft>
              <a:buSzPct val="100000"/>
              <a:buChar char="●"/>
            </a:pPr>
            <a:r>
              <a:rPr lang="en-US" sz="1300" dirty="0">
                <a:solidFill>
                  <a:srgbClr val="1B1F3B"/>
                </a:solidFill>
                <a:latin typeface="Calibri" pitchFamily="34" charset="0"/>
                <a:ea typeface="Calibri" pitchFamily="34" charset="-122"/>
                <a:cs typeface="Calibri" pitchFamily="34" charset="-120"/>
              </a:rPr>
              <a:t>R² ≈ 0,45 : pas de photos/texte -&gt; variance structurellement inexpliquee</a:t>
            </a:r>
            <a:endParaRPr lang="en-US" sz="1300" dirty="0"/>
          </a:p>
          <a:p>
            <a:pPr marL="228600" indent="-228600">
              <a:spcAft>
                <a:spcPts val="1200"/>
              </a:spcAft>
              <a:buSzPct val="100000"/>
              <a:buChar char="●"/>
            </a:pPr>
            <a:r>
              <a:rPr lang="en-US" sz="1300" dirty="0">
                <a:solidFill>
                  <a:srgbClr val="1B1F3B"/>
                </a:solidFill>
                <a:latin typeface="Calibri" pitchFamily="34" charset="0"/>
                <a:ea typeface="Calibri" pitchFamily="34" charset="-122"/>
                <a:cs typeface="Calibri" pitchFamily="34" charset="-120"/>
              </a:rPr>
              <a:t>SVR entraine sur un sous-echantillon (6000 lignes) pour le temps de calcul</a:t>
            </a:r>
            <a:endParaRPr lang="en-US" sz="1300" dirty="0"/>
          </a:p>
          <a:p>
            <a:pPr marL="228600" indent="-228600">
              <a:spcAft>
                <a:spcPts val="1200"/>
              </a:spcAft>
              <a:buSzPct val="100000"/>
              <a:buChar char="●"/>
            </a:pPr>
            <a:r>
              <a:rPr lang="en-US" sz="1300" dirty="0">
                <a:solidFill>
                  <a:srgbClr val="1B1F3B"/>
                </a:solidFill>
                <a:latin typeface="Calibri" pitchFamily="34" charset="0"/>
                <a:ea typeface="Calibri" pitchFamily="34" charset="-122"/>
                <a:cs typeface="Calibri" pitchFamily="34" charset="-120"/>
              </a:rPr>
              <a:t>Donnees de 2019 : prix absolus non actualises</a:t>
            </a:r>
            <a:endParaRPr lang="en-US" sz="1300" dirty="0"/>
          </a:p>
          <a:p>
            <a:pPr marL="228600" indent="-228600">
              <a:spcAft>
                <a:spcPts val="1200"/>
              </a:spcAft>
              <a:buSzPct val="100000"/>
              <a:buChar char="●"/>
            </a:pPr>
            <a:r>
              <a:rPr lang="en-US" sz="1300" dirty="0">
                <a:solidFill>
                  <a:srgbClr val="1B1F3B"/>
                </a:solidFill>
                <a:latin typeface="Calibri" pitchFamily="34" charset="0"/>
                <a:ea typeface="Calibri" pitchFamily="34" charset="-122"/>
                <a:cs typeface="Calibri" pitchFamily="34" charset="-120"/>
              </a:rPr>
              <a:t>Pas de base de donnees persistante pour l'app (limite de portee du TP)</a:t>
            </a:r>
            <a:endParaRPr lang="en-US" sz="1300" dirty="0"/>
          </a:p>
        </p:txBody>
      </p:sp>
      <p:sp>
        <p:nvSpPr>
          <p:cNvPr id="10" name="Text 8"/>
          <p:cNvSpPr txBox="1"/>
          <p:nvPr/>
        </p:nvSpPr>
        <p:spPr>
          <a:xfrm>
            <a:off x="11475720" y="6446520"/>
            <a:ext cx="548640" cy="32004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7315200" cy="320040"/>
          </a:xfrm>
          <a:prstGeom prst="rect">
            <a:avLst/>
          </a:prstGeom>
          <a:noFill/>
          <a:ln/>
        </p:spPr>
        <p:txBody>
          <a:bodyPr wrap="square" lIns="0" tIns="0" rIns="0" bIns="0" rtlCol="0" anchor="ctr"/>
          <a:lstStyle/>
          <a:p>
            <a:pPr indent="0" marL="0">
              <a:buNone/>
            </a:pPr>
            <a:r>
              <a:rPr lang="en-US" sz="1300" b="1" spc="200" kern="0" dirty="0">
                <a:solidFill>
                  <a:srgbClr val="F96167"/>
                </a:solidFill>
                <a:latin typeface="Calibri" pitchFamily="34" charset="0"/>
                <a:ea typeface="Calibri" pitchFamily="34" charset="-122"/>
                <a:cs typeface="Calibri" pitchFamily="34" charset="-120"/>
              </a:rPr>
              <a:t>06 . DEMONSTRATION</a:t>
            </a:r>
            <a:endParaRPr lang="en-US" sz="1300" dirty="0"/>
          </a:p>
        </p:txBody>
      </p:sp>
      <p:sp>
        <p:nvSpPr>
          <p:cNvPr id="3" name="Text 1"/>
          <p:cNvSpPr txBox="1"/>
          <p:nvPr/>
        </p:nvSpPr>
        <p:spPr>
          <a:xfrm>
            <a:off x="548640" y="685800"/>
            <a:ext cx="10515600" cy="822960"/>
          </a:xfrm>
          <a:prstGeom prst="rect">
            <a:avLst/>
          </a:prstGeom>
          <a:noFill/>
          <a:ln/>
        </p:spPr>
        <p:txBody>
          <a:bodyPr wrap="square" lIns="0" tIns="0" rIns="0" bIns="0" rtlCol="0" anchor="ctr"/>
          <a:lstStyle/>
          <a:p>
            <a:pPr indent="0" marL="0">
              <a:buNone/>
            </a:pPr>
            <a:r>
              <a:rPr lang="en-US" sz="3200" b="1" dirty="0">
                <a:solidFill>
                  <a:srgbClr val="1B1F3B"/>
                </a:solidFill>
                <a:latin typeface="Cambria" pitchFamily="34" charset="0"/>
                <a:ea typeface="Cambria" pitchFamily="34" charset="-122"/>
                <a:cs typeface="Cambria" pitchFamily="34" charset="-120"/>
              </a:rPr>
              <a:t>L'application Streamlit</a:t>
            </a:r>
            <a:endParaRPr lang="en-US" sz="3200" dirty="0"/>
          </a:p>
        </p:txBody>
      </p:sp>
      <p:sp>
        <p:nvSpPr>
          <p:cNvPr id="4" name="Shape 2"/>
          <p:cNvSpPr/>
          <p:nvPr/>
        </p:nvSpPr>
        <p:spPr>
          <a:xfrm>
            <a:off x="548640" y="1783080"/>
            <a:ext cx="3566160" cy="1554480"/>
          </a:xfrm>
          <a:prstGeom prst="roundRect">
            <a:avLst>
              <a:gd name="adj" fmla="val 4706"/>
            </a:avLst>
          </a:prstGeom>
          <a:solidFill>
            <a:srgbClr val="F5F6FA"/>
          </a:solidFill>
          <a:ln/>
        </p:spPr>
      </p:sp>
      <p:sp>
        <p:nvSpPr>
          <p:cNvPr id="5" name="Shape 3"/>
          <p:cNvSpPr/>
          <p:nvPr/>
        </p:nvSpPr>
        <p:spPr>
          <a:xfrm>
            <a:off x="777240" y="1965960"/>
            <a:ext cx="457200" cy="457200"/>
          </a:xfrm>
          <a:prstGeom prst="ellipse">
            <a:avLst/>
          </a:prstGeom>
          <a:solidFill>
            <a:srgbClr val="2F3C7E"/>
          </a:solidFill>
          <a:ln/>
        </p:spPr>
      </p:sp>
      <p:sp>
        <p:nvSpPr>
          <p:cNvPr id="6" name="Text 4"/>
          <p:cNvSpPr txBox="1"/>
          <p:nvPr/>
        </p:nvSpPr>
        <p:spPr>
          <a:xfrm>
            <a:off x="777240" y="19659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7" name="Text 5"/>
          <p:cNvSpPr txBox="1"/>
          <p:nvPr/>
        </p:nvSpPr>
        <p:spPr>
          <a:xfrm>
            <a:off x="1371600" y="1947672"/>
            <a:ext cx="2606040" cy="502920"/>
          </a:xfrm>
          <a:prstGeom prst="rect">
            <a:avLst/>
          </a:prstGeom>
          <a:noFill/>
          <a:ln/>
        </p:spPr>
        <p:txBody>
          <a:bodyPr wrap="square" lIns="0" tIns="0" rIns="0" bIns="0" rtlCol="0" anchor="ctr"/>
          <a:lstStyle/>
          <a:p>
            <a:pPr indent="0" marL="0">
              <a:buNone/>
            </a:pPr>
            <a:r>
              <a:rPr lang="en-US" sz="1250" b="1" dirty="0">
                <a:solidFill>
                  <a:srgbClr val="1B1F3B"/>
                </a:solidFill>
                <a:latin typeface="Calibri" pitchFamily="34" charset="0"/>
                <a:ea typeface="Calibri" pitchFamily="34" charset="-122"/>
                <a:cs typeface="Calibri" pitchFamily="34" charset="-120"/>
              </a:rPr>
              <a:t>Exploration des donnees</a:t>
            </a:r>
            <a:endParaRPr lang="en-US" sz="1250" dirty="0"/>
          </a:p>
        </p:txBody>
      </p:sp>
      <p:sp>
        <p:nvSpPr>
          <p:cNvPr id="8" name="Text 6"/>
          <p:cNvSpPr txBox="1"/>
          <p:nvPr/>
        </p:nvSpPr>
        <p:spPr>
          <a:xfrm>
            <a:off x="777240" y="2606040"/>
            <a:ext cx="3154680" cy="640080"/>
          </a:xfrm>
          <a:prstGeom prst="rect">
            <a:avLst/>
          </a:prstGeom>
          <a:noFill/>
          <a:ln/>
        </p:spPr>
        <p:txBody>
          <a:bodyPr wrap="square" lIns="0" tIns="0" rIns="0" bIns="0" rtlCol="0" anchor="ctr"/>
          <a:lstStyle/>
          <a:p>
            <a:pPr indent="0" marL="0">
              <a:buNone/>
            </a:pPr>
            <a:r>
              <a:rPr lang="en-US" sz="1050" dirty="0">
                <a:solidFill>
                  <a:srgbClr val="6B7280"/>
                </a:solidFill>
                <a:latin typeface="Calibri" pitchFamily="34" charset="0"/>
                <a:ea typeface="Calibri" pitchFamily="34" charset="-122"/>
                <a:cs typeface="Calibri" pitchFamily="34" charset="-120"/>
              </a:rPr>
              <a:t>Statistiques, distribution des prix, carte des annonces</a:t>
            </a:r>
            <a:endParaRPr lang="en-US" sz="1050" dirty="0"/>
          </a:p>
        </p:txBody>
      </p:sp>
      <p:sp>
        <p:nvSpPr>
          <p:cNvPr id="9" name="Shape 7"/>
          <p:cNvSpPr/>
          <p:nvPr/>
        </p:nvSpPr>
        <p:spPr>
          <a:xfrm>
            <a:off x="4343400" y="1783080"/>
            <a:ext cx="3566160" cy="1554480"/>
          </a:xfrm>
          <a:prstGeom prst="roundRect">
            <a:avLst>
              <a:gd name="adj" fmla="val 4706"/>
            </a:avLst>
          </a:prstGeom>
          <a:solidFill>
            <a:srgbClr val="F5F6FA"/>
          </a:solidFill>
          <a:ln/>
        </p:spPr>
      </p:sp>
      <p:sp>
        <p:nvSpPr>
          <p:cNvPr id="10" name="Shape 8"/>
          <p:cNvSpPr/>
          <p:nvPr/>
        </p:nvSpPr>
        <p:spPr>
          <a:xfrm>
            <a:off x="4572000" y="1965960"/>
            <a:ext cx="457200" cy="457200"/>
          </a:xfrm>
          <a:prstGeom prst="ellipse">
            <a:avLst/>
          </a:prstGeom>
          <a:solidFill>
            <a:srgbClr val="2F3C7E"/>
          </a:solidFill>
          <a:ln/>
        </p:spPr>
      </p:sp>
      <p:sp>
        <p:nvSpPr>
          <p:cNvPr id="11" name="Text 9"/>
          <p:cNvSpPr txBox="1"/>
          <p:nvPr/>
        </p:nvSpPr>
        <p:spPr>
          <a:xfrm>
            <a:off x="4572000" y="19659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2" name="Text 10"/>
          <p:cNvSpPr txBox="1"/>
          <p:nvPr/>
        </p:nvSpPr>
        <p:spPr>
          <a:xfrm>
            <a:off x="5166360" y="1947672"/>
            <a:ext cx="2606040" cy="502920"/>
          </a:xfrm>
          <a:prstGeom prst="rect">
            <a:avLst/>
          </a:prstGeom>
          <a:noFill/>
          <a:ln/>
        </p:spPr>
        <p:txBody>
          <a:bodyPr wrap="square" lIns="0" tIns="0" rIns="0" bIns="0" rtlCol="0" anchor="ctr"/>
          <a:lstStyle/>
          <a:p>
            <a:pPr indent="0" marL="0">
              <a:buNone/>
            </a:pPr>
            <a:r>
              <a:rPr lang="en-US" sz="1250" b="1" dirty="0">
                <a:solidFill>
                  <a:srgbClr val="1B1F3B"/>
                </a:solidFill>
                <a:latin typeface="Calibri" pitchFamily="34" charset="0"/>
                <a:ea typeface="Calibri" pitchFamily="34" charset="-122"/>
                <a:cs typeface="Calibri" pitchFamily="34" charset="-120"/>
              </a:rPr>
              <a:t>Entrainement / choix du modele</a:t>
            </a:r>
            <a:endParaRPr lang="en-US" sz="1250" dirty="0"/>
          </a:p>
        </p:txBody>
      </p:sp>
      <p:sp>
        <p:nvSpPr>
          <p:cNvPr id="13" name="Text 11"/>
          <p:cNvSpPr txBox="1"/>
          <p:nvPr/>
        </p:nvSpPr>
        <p:spPr>
          <a:xfrm>
            <a:off x="4572000" y="2606040"/>
            <a:ext cx="3154680" cy="640080"/>
          </a:xfrm>
          <a:prstGeom prst="rect">
            <a:avLst/>
          </a:prstGeom>
          <a:noFill/>
          <a:ln/>
        </p:spPr>
        <p:txBody>
          <a:bodyPr wrap="square" lIns="0" tIns="0" rIns="0" bIns="0" rtlCol="0" anchor="ctr"/>
          <a:lstStyle/>
          <a:p>
            <a:pPr indent="0" marL="0">
              <a:buNone/>
            </a:pPr>
            <a:r>
              <a:rPr lang="en-US" sz="1050" dirty="0">
                <a:solidFill>
                  <a:srgbClr val="6B7280"/>
                </a:solidFill>
                <a:latin typeface="Calibri" pitchFamily="34" charset="0"/>
                <a:ea typeface="Calibri" pitchFamily="34" charset="-122"/>
                <a:cs typeface="Calibri" pitchFamily="34" charset="-120"/>
              </a:rPr>
              <a:t>9 modeles parametrables, metriques en temps reel</a:t>
            </a:r>
            <a:endParaRPr lang="en-US" sz="1050" dirty="0"/>
          </a:p>
        </p:txBody>
      </p:sp>
      <p:sp>
        <p:nvSpPr>
          <p:cNvPr id="14" name="Shape 12"/>
          <p:cNvSpPr/>
          <p:nvPr/>
        </p:nvSpPr>
        <p:spPr>
          <a:xfrm>
            <a:off x="8138160" y="1783080"/>
            <a:ext cx="3566160" cy="1554480"/>
          </a:xfrm>
          <a:prstGeom prst="roundRect">
            <a:avLst>
              <a:gd name="adj" fmla="val 4706"/>
            </a:avLst>
          </a:prstGeom>
          <a:solidFill>
            <a:srgbClr val="F5F6FA"/>
          </a:solidFill>
          <a:ln/>
        </p:spPr>
      </p:sp>
      <p:sp>
        <p:nvSpPr>
          <p:cNvPr id="15" name="Shape 13"/>
          <p:cNvSpPr/>
          <p:nvPr/>
        </p:nvSpPr>
        <p:spPr>
          <a:xfrm>
            <a:off x="8366760" y="1965960"/>
            <a:ext cx="457200" cy="457200"/>
          </a:xfrm>
          <a:prstGeom prst="ellipse">
            <a:avLst/>
          </a:prstGeom>
          <a:solidFill>
            <a:srgbClr val="2F3C7E"/>
          </a:solidFill>
          <a:ln/>
        </p:spPr>
      </p:sp>
      <p:sp>
        <p:nvSpPr>
          <p:cNvPr id="16" name="Text 14"/>
          <p:cNvSpPr txBox="1"/>
          <p:nvPr/>
        </p:nvSpPr>
        <p:spPr>
          <a:xfrm>
            <a:off x="8366760" y="19659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7" name="Text 15"/>
          <p:cNvSpPr txBox="1"/>
          <p:nvPr/>
        </p:nvSpPr>
        <p:spPr>
          <a:xfrm>
            <a:off x="8961120" y="1947672"/>
            <a:ext cx="2606040" cy="502920"/>
          </a:xfrm>
          <a:prstGeom prst="rect">
            <a:avLst/>
          </a:prstGeom>
          <a:noFill/>
          <a:ln/>
        </p:spPr>
        <p:txBody>
          <a:bodyPr wrap="square" lIns="0" tIns="0" rIns="0" bIns="0" rtlCol="0" anchor="ctr"/>
          <a:lstStyle/>
          <a:p>
            <a:pPr indent="0" marL="0">
              <a:buNone/>
            </a:pPr>
            <a:r>
              <a:rPr lang="en-US" sz="1250" b="1" dirty="0">
                <a:solidFill>
                  <a:srgbClr val="1B1F3B"/>
                </a:solidFill>
                <a:latin typeface="Calibri" pitchFamily="34" charset="0"/>
                <a:ea typeface="Calibri" pitchFamily="34" charset="-122"/>
                <a:cs typeface="Calibri" pitchFamily="34" charset="-120"/>
              </a:rPr>
              <a:t>Test / Prediction</a:t>
            </a:r>
            <a:endParaRPr lang="en-US" sz="1250" dirty="0"/>
          </a:p>
        </p:txBody>
      </p:sp>
      <p:sp>
        <p:nvSpPr>
          <p:cNvPr id="18" name="Text 16"/>
          <p:cNvSpPr txBox="1"/>
          <p:nvPr/>
        </p:nvSpPr>
        <p:spPr>
          <a:xfrm>
            <a:off x="8366760" y="2606040"/>
            <a:ext cx="3154680" cy="640080"/>
          </a:xfrm>
          <a:prstGeom prst="rect">
            <a:avLst/>
          </a:prstGeom>
          <a:noFill/>
          <a:ln/>
        </p:spPr>
        <p:txBody>
          <a:bodyPr wrap="square" lIns="0" tIns="0" rIns="0" bIns="0" rtlCol="0" anchor="ctr"/>
          <a:lstStyle/>
          <a:p>
            <a:pPr indent="0" marL="0">
              <a:buNone/>
            </a:pPr>
            <a:r>
              <a:rPr lang="en-US" sz="1050" dirty="0">
                <a:solidFill>
                  <a:srgbClr val="6B7280"/>
                </a:solidFill>
                <a:latin typeface="Calibri" pitchFamily="34" charset="0"/>
                <a:ea typeface="Calibri" pitchFamily="34" charset="-122"/>
                <a:cs typeface="Calibri" pitchFamily="34" charset="-120"/>
              </a:rPr>
              <a:t>Saisie utilisateur, prediction, carte, comparaison</a:t>
            </a:r>
            <a:endParaRPr lang="en-US" sz="1050" dirty="0"/>
          </a:p>
        </p:txBody>
      </p:sp>
      <p:sp>
        <p:nvSpPr>
          <p:cNvPr id="19" name="Text 17"/>
          <p:cNvSpPr txBox="1"/>
          <p:nvPr/>
        </p:nvSpPr>
        <p:spPr>
          <a:xfrm>
            <a:off x="548640" y="3611880"/>
            <a:ext cx="5486400" cy="320040"/>
          </a:xfrm>
          <a:prstGeom prst="rect">
            <a:avLst/>
          </a:prstGeom>
          <a:noFill/>
          <a:ln/>
        </p:spPr>
        <p:txBody>
          <a:bodyPr wrap="square" lIns="0" tIns="0" rIns="0" bIns="0" rtlCol="0" anchor="ctr"/>
          <a:lstStyle/>
          <a:p>
            <a:pPr indent="0" marL="0">
              <a:buNone/>
            </a:pPr>
            <a:r>
              <a:rPr lang="en-US" sz="1300" b="1" dirty="0">
                <a:solidFill>
                  <a:srgbClr val="1B1F3B"/>
                </a:solidFill>
                <a:latin typeface="Calibri" pitchFamily="34" charset="0"/>
                <a:ea typeface="Calibri" pitchFamily="34" charset="-122"/>
                <a:cs typeface="Calibri" pitchFamily="34" charset="-120"/>
              </a:rPr>
              <a:t>Exemple reel de prediction (onglet Test)</a:t>
            </a:r>
            <a:endParaRPr lang="en-US" sz="1300" dirty="0"/>
          </a:p>
        </p:txBody>
      </p:sp>
      <p:sp>
        <p:nvSpPr>
          <p:cNvPr id="20" name="Shape 18"/>
          <p:cNvSpPr/>
          <p:nvPr/>
        </p:nvSpPr>
        <p:spPr>
          <a:xfrm>
            <a:off x="548640" y="3977640"/>
            <a:ext cx="10972800" cy="1737360"/>
          </a:xfrm>
          <a:prstGeom prst="roundRect">
            <a:avLst>
              <a:gd name="adj" fmla="val 4211"/>
            </a:avLst>
          </a:prstGeom>
          <a:solidFill>
            <a:srgbClr val="2F3C7E"/>
          </a:solidFill>
          <a:ln/>
        </p:spPr>
      </p:sp>
      <p:sp>
        <p:nvSpPr>
          <p:cNvPr id="21" name="Text 19"/>
          <p:cNvSpPr txBox="1"/>
          <p:nvPr/>
        </p:nvSpPr>
        <p:spPr>
          <a:xfrm>
            <a:off x="822960" y="4160520"/>
            <a:ext cx="2606040" cy="640080"/>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Bronx, Entire home/apt</a:t>
            </a:r>
            <a:endParaRPr lang="en-US" sz="1900" dirty="0"/>
          </a:p>
        </p:txBody>
      </p:sp>
      <p:sp>
        <p:nvSpPr>
          <p:cNvPr id="22" name="Text 20"/>
          <p:cNvSpPr txBox="1"/>
          <p:nvPr/>
        </p:nvSpPr>
        <p:spPr>
          <a:xfrm>
            <a:off x="822960" y="4800600"/>
            <a:ext cx="2606040" cy="457200"/>
          </a:xfrm>
          <a:prstGeom prst="rect">
            <a:avLst/>
          </a:prstGeom>
          <a:noFill/>
          <a:ln/>
        </p:spPr>
        <p:txBody>
          <a:bodyPr wrap="square" lIns="0" tIns="0" rIns="0" bIns="0" rtlCol="0" anchor="ctr"/>
          <a:lstStyle/>
          <a:p>
            <a:pPr indent="0" marL="0">
              <a:buNone/>
            </a:pPr>
            <a:r>
              <a:rPr lang="en-US" sz="1100" dirty="0">
                <a:solidFill>
                  <a:srgbClr val="CFD5EE"/>
                </a:solidFill>
                <a:latin typeface="Calibri" pitchFamily="34" charset="0"/>
                <a:ea typeface="Calibri" pitchFamily="34" charset="-122"/>
                <a:cs typeface="Calibri" pitchFamily="34" charset="-120"/>
              </a:rPr>
              <a:t>Logement</a:t>
            </a:r>
            <a:endParaRPr lang="en-US" sz="1100" dirty="0"/>
          </a:p>
        </p:txBody>
      </p:sp>
      <p:sp>
        <p:nvSpPr>
          <p:cNvPr id="23" name="Text 21"/>
          <p:cNvSpPr txBox="1"/>
          <p:nvPr/>
        </p:nvSpPr>
        <p:spPr>
          <a:xfrm>
            <a:off x="3520440" y="4160520"/>
            <a:ext cx="2606040" cy="640080"/>
          </a:xfrm>
          <a:prstGeom prst="rect">
            <a:avLst/>
          </a:prstGeom>
          <a:noFill/>
          <a:ln/>
        </p:spPr>
        <p:txBody>
          <a:bodyPr wrap="square" lIns="0" tIns="0" rIns="0" bIns="0" rtlCol="0" anchor="ctr"/>
          <a:lstStyle/>
          <a:p>
            <a:pPr indent="0" marL="0">
              <a:buNone/>
            </a:pPr>
            <a:r>
              <a:rPr lang="en-US" sz="1900" b="1" dirty="0">
                <a:solidFill>
                  <a:srgbClr val="F96167"/>
                </a:solidFill>
                <a:latin typeface="Cambria" pitchFamily="34" charset="0"/>
                <a:ea typeface="Cambria" pitchFamily="34" charset="-122"/>
                <a:cs typeface="Cambria" pitchFamily="34" charset="-120"/>
              </a:rPr>
              <a:t>166 $ / nuit</a:t>
            </a:r>
            <a:endParaRPr lang="en-US" sz="1900" dirty="0"/>
          </a:p>
        </p:txBody>
      </p:sp>
      <p:sp>
        <p:nvSpPr>
          <p:cNvPr id="24" name="Text 22"/>
          <p:cNvSpPr txBox="1"/>
          <p:nvPr/>
        </p:nvSpPr>
        <p:spPr>
          <a:xfrm>
            <a:off x="3520440" y="4800600"/>
            <a:ext cx="2606040" cy="457200"/>
          </a:xfrm>
          <a:prstGeom prst="rect">
            <a:avLst/>
          </a:prstGeom>
          <a:noFill/>
          <a:ln/>
        </p:spPr>
        <p:txBody>
          <a:bodyPr wrap="square" lIns="0" tIns="0" rIns="0" bIns="0" rtlCol="0" anchor="ctr"/>
          <a:lstStyle/>
          <a:p>
            <a:pPr indent="0" marL="0">
              <a:buNone/>
            </a:pPr>
            <a:r>
              <a:rPr lang="en-US" sz="1100" dirty="0">
                <a:solidFill>
                  <a:srgbClr val="CFD5EE"/>
                </a:solidFill>
                <a:latin typeface="Calibri" pitchFamily="34" charset="0"/>
                <a:ea typeface="Calibri" pitchFamily="34" charset="-122"/>
                <a:cs typeface="Calibri" pitchFamily="34" charset="-120"/>
              </a:rPr>
              <a:t>Prix predit</a:t>
            </a:r>
            <a:endParaRPr lang="en-US" sz="1100" dirty="0"/>
          </a:p>
        </p:txBody>
      </p:sp>
      <p:sp>
        <p:nvSpPr>
          <p:cNvPr id="25" name="Text 23"/>
          <p:cNvSpPr txBox="1"/>
          <p:nvPr/>
        </p:nvSpPr>
        <p:spPr>
          <a:xfrm>
            <a:off x="6217920" y="4160520"/>
            <a:ext cx="2606040" cy="640080"/>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87 $</a:t>
            </a:r>
            <a:endParaRPr lang="en-US" sz="1900" dirty="0"/>
          </a:p>
        </p:txBody>
      </p:sp>
      <p:sp>
        <p:nvSpPr>
          <p:cNvPr id="26" name="Text 24"/>
          <p:cNvSpPr txBox="1"/>
          <p:nvPr/>
        </p:nvSpPr>
        <p:spPr>
          <a:xfrm>
            <a:off x="6217920" y="4800600"/>
            <a:ext cx="2606040" cy="457200"/>
          </a:xfrm>
          <a:prstGeom prst="rect">
            <a:avLst/>
          </a:prstGeom>
          <a:noFill/>
          <a:ln/>
        </p:spPr>
        <p:txBody>
          <a:bodyPr wrap="square" lIns="0" tIns="0" rIns="0" bIns="0" rtlCol="0" anchor="ctr"/>
          <a:lstStyle/>
          <a:p>
            <a:pPr indent="0" marL="0">
              <a:buNone/>
            </a:pPr>
            <a:r>
              <a:rPr lang="en-US" sz="1100" dirty="0">
                <a:solidFill>
                  <a:srgbClr val="CFD5EE"/>
                </a:solidFill>
                <a:latin typeface="Calibri" pitchFamily="34" charset="0"/>
                <a:ea typeface="Calibri" pitchFamily="34" charset="-122"/>
                <a:cs typeface="Calibri" pitchFamily="34" charset="-120"/>
              </a:rPr>
              <a:t>Prix moyen (Bronx)</a:t>
            </a:r>
            <a:endParaRPr lang="en-US" sz="1100" dirty="0"/>
          </a:p>
        </p:txBody>
      </p:sp>
      <p:sp>
        <p:nvSpPr>
          <p:cNvPr id="27" name="Text 25"/>
          <p:cNvSpPr txBox="1"/>
          <p:nvPr/>
        </p:nvSpPr>
        <p:spPr>
          <a:xfrm>
            <a:off x="8915400" y="4160520"/>
            <a:ext cx="2606040" cy="640080"/>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+79 $</a:t>
            </a:r>
            <a:endParaRPr lang="en-US" sz="1900" dirty="0"/>
          </a:p>
        </p:txBody>
      </p:sp>
      <p:sp>
        <p:nvSpPr>
          <p:cNvPr id="28" name="Text 26"/>
          <p:cNvSpPr txBox="1"/>
          <p:nvPr/>
        </p:nvSpPr>
        <p:spPr>
          <a:xfrm>
            <a:off x="8915400" y="4800600"/>
            <a:ext cx="2606040" cy="457200"/>
          </a:xfrm>
          <a:prstGeom prst="rect">
            <a:avLst/>
          </a:prstGeom>
          <a:noFill/>
          <a:ln/>
        </p:spPr>
        <p:txBody>
          <a:bodyPr wrap="square" lIns="0" tIns="0" rIns="0" bIns="0" rtlCol="0" anchor="ctr"/>
          <a:lstStyle/>
          <a:p>
            <a:pPr indent="0" marL="0">
              <a:buNone/>
            </a:pPr>
            <a:r>
              <a:rPr lang="en-US" sz="1100" dirty="0">
                <a:solidFill>
                  <a:srgbClr val="CFD5EE"/>
                </a:solidFill>
                <a:latin typeface="Calibri" pitchFamily="34" charset="0"/>
                <a:ea typeface="Calibri" pitchFamily="34" charset="-122"/>
                <a:cs typeface="Calibri" pitchFamily="34" charset="-120"/>
              </a:rPr>
              <a:t>Ecart vs moyenne</a:t>
            </a:r>
            <a:endParaRPr lang="en-US" sz="1100" dirty="0"/>
          </a:p>
        </p:txBody>
      </p:sp>
      <p:sp>
        <p:nvSpPr>
          <p:cNvPr id="29" name="Text 27"/>
          <p:cNvSpPr txBox="1"/>
          <p:nvPr/>
        </p:nvSpPr>
        <p:spPr>
          <a:xfrm>
            <a:off x="11475720" y="6446520"/>
            <a:ext cx="548640" cy="32004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7315200" cy="320040"/>
          </a:xfrm>
          <a:prstGeom prst="rect">
            <a:avLst/>
          </a:prstGeom>
          <a:noFill/>
          <a:ln/>
        </p:spPr>
        <p:txBody>
          <a:bodyPr wrap="square" lIns="0" tIns="0" rIns="0" bIns="0" rtlCol="0" anchor="ctr"/>
          <a:lstStyle/>
          <a:p>
            <a:pPr indent="0" marL="0">
              <a:buNone/>
            </a:pPr>
            <a:r>
              <a:rPr lang="en-US" sz="1300" b="1" spc="200" kern="0" dirty="0">
                <a:solidFill>
                  <a:srgbClr val="F96167"/>
                </a:solidFill>
                <a:latin typeface="Calibri" pitchFamily="34" charset="0"/>
                <a:ea typeface="Calibri" pitchFamily="34" charset="-122"/>
                <a:cs typeface="Calibri" pitchFamily="34" charset="-120"/>
              </a:rPr>
              <a:t>07 . BILAN</a:t>
            </a:r>
            <a:endParaRPr lang="en-US" sz="1300" dirty="0"/>
          </a:p>
        </p:txBody>
      </p:sp>
      <p:sp>
        <p:nvSpPr>
          <p:cNvPr id="3" name="Text 1"/>
          <p:cNvSpPr txBox="1"/>
          <p:nvPr/>
        </p:nvSpPr>
        <p:spPr>
          <a:xfrm>
            <a:off x="548640" y="685800"/>
            <a:ext cx="10515600" cy="822960"/>
          </a:xfrm>
          <a:prstGeom prst="rect">
            <a:avLst/>
          </a:prstGeom>
          <a:noFill/>
          <a:ln/>
        </p:spPr>
        <p:txBody>
          <a:bodyPr wrap="square" lIns="0" tIns="0" rIns="0" bIns="0" rtlCol="0" anchor="ctr"/>
          <a:lstStyle/>
          <a:p>
            <a:pPr indent="0" marL="0">
              <a:buNone/>
            </a:pPr>
            <a:r>
              <a:rPr lang="en-US" sz="3200" b="1" dirty="0">
                <a:solidFill>
                  <a:srgbClr val="1B1F3B"/>
                </a:solidFill>
                <a:latin typeface="Cambria" pitchFamily="34" charset="0"/>
                <a:ea typeface="Cambria" pitchFamily="34" charset="-122"/>
                <a:cs typeface="Cambria" pitchFamily="34" charset="-120"/>
              </a:rPr>
              <a:t>Difficultes rencontrees et solutions</a:t>
            </a:r>
            <a:endParaRPr lang="en-US" sz="3200" dirty="0"/>
          </a:p>
        </p:txBody>
      </p:sp>
      <p:sp>
        <p:nvSpPr>
          <p:cNvPr id="4" name="Shape 2"/>
          <p:cNvSpPr/>
          <p:nvPr/>
        </p:nvSpPr>
        <p:spPr>
          <a:xfrm>
            <a:off x="548640" y="1828800"/>
            <a:ext cx="11064240" cy="777240"/>
          </a:xfrm>
          <a:prstGeom prst="roundRect">
            <a:avLst>
              <a:gd name="adj" fmla="val 5882"/>
            </a:avLst>
          </a:prstGeom>
          <a:solidFill>
            <a:srgbClr val="F5F6FA"/>
          </a:solidFill>
          <a:ln/>
        </p:spPr>
      </p:sp>
      <p:sp>
        <p:nvSpPr>
          <p:cNvPr id="5" name="Text 3"/>
          <p:cNvSpPr txBox="1"/>
          <p:nvPr/>
        </p:nvSpPr>
        <p:spPr>
          <a:xfrm>
            <a:off x="777240" y="1828800"/>
            <a:ext cx="5212080" cy="777240"/>
          </a:xfrm>
          <a:prstGeom prst="rect">
            <a:avLst/>
          </a:prstGeom>
          <a:noFill/>
          <a:ln/>
        </p:spPr>
        <p:txBody>
          <a:bodyPr wrap="square" lIns="0" tIns="0" rIns="0" bIns="0" rtlCol="0" anchor="ctr"/>
          <a:lstStyle/>
          <a:p>
            <a:pPr indent="0" marL="0">
              <a:buNone/>
            </a:pPr>
            <a:r>
              <a:rPr lang="en-US" sz="1250" dirty="0">
                <a:solidFill>
                  <a:srgbClr val="B23A48"/>
                </a:solidFill>
                <a:latin typeface="Calibri" pitchFamily="34" charset="0"/>
                <a:ea typeface="Calibri" pitchFamily="34" charset="-122"/>
                <a:cs typeface="Calibri" pitchFamily="34" charset="-120"/>
              </a:rPr>
              <a:t>Encodage de neighbourhood (221 modalites)</a:t>
            </a:r>
            <a:endParaRPr lang="en-US" sz="1250" dirty="0"/>
          </a:p>
        </p:txBody>
      </p:sp>
      <p:sp>
        <p:nvSpPr>
          <p:cNvPr id="6" name="Text 4"/>
          <p:cNvSpPr txBox="1"/>
          <p:nvPr/>
        </p:nvSpPr>
        <p:spPr>
          <a:xfrm>
            <a:off x="5989320" y="1828800"/>
            <a:ext cx="457200" cy="777240"/>
          </a:xfrm>
          <a:prstGeom prst="rect">
            <a:avLst/>
          </a:prstGeom>
          <a:noFill/>
          <a:ln/>
        </p:spPr>
        <p:txBody>
          <a:bodyPr wrap="square" lIns="0" tIns="0" rIns="0" bIns="0" rtlCol="0" anchor="ctr"/>
          <a:lstStyle/>
          <a:p>
            <a:pPr algn="ctr" indent="0" marL="0">
              <a:buNone/>
            </a:pPr>
            <a:r>
              <a:rPr lang="en-US" sz="1600" b="1" dirty="0">
                <a:solidFill>
                  <a:srgbClr val="6B7280"/>
                </a:solidFill>
                <a:latin typeface="Calibri" pitchFamily="34" charset="0"/>
                <a:ea typeface="Calibri" pitchFamily="34" charset="-122"/>
                <a:cs typeface="Calibri" pitchFamily="34" charset="-120"/>
              </a:rPr>
              <a:t>→</a:t>
            </a:r>
            <a:endParaRPr lang="en-US" sz="1600" dirty="0"/>
          </a:p>
        </p:txBody>
      </p:sp>
      <p:sp>
        <p:nvSpPr>
          <p:cNvPr id="7" name="Text 5"/>
          <p:cNvSpPr txBox="1"/>
          <p:nvPr/>
        </p:nvSpPr>
        <p:spPr>
          <a:xfrm>
            <a:off x="6492240" y="1828800"/>
            <a:ext cx="4937760" cy="777240"/>
          </a:xfrm>
          <a:prstGeom prst="rect">
            <a:avLst/>
          </a:prstGeom>
          <a:noFill/>
          <a:ln/>
        </p:spPr>
        <p:txBody>
          <a:bodyPr wrap="square" lIns="0" tIns="0" rIns="0" bIns="0" rtlCol="0" anchor="ctr"/>
          <a:lstStyle/>
          <a:p>
            <a:pPr indent="0" marL="0">
              <a:buNone/>
            </a:pPr>
            <a:r>
              <a:rPr lang="en-US" sz="1250" dirty="0">
                <a:solidFill>
                  <a:srgbClr val="1E7A3E"/>
                </a:solidFill>
                <a:latin typeface="Calibri" pitchFamily="34" charset="0"/>
                <a:ea typeface="Calibri" pitchFamily="34" charset="-122"/>
                <a:cs typeface="Calibri" pitchFamily="34" charset="-120"/>
              </a:rPr>
              <a:t>Encodage par frequence plutot que one-hot</a:t>
            </a:r>
            <a:endParaRPr lang="en-US" sz="1250" dirty="0"/>
          </a:p>
        </p:txBody>
      </p:sp>
      <p:sp>
        <p:nvSpPr>
          <p:cNvPr id="8" name="Shape 6"/>
          <p:cNvSpPr/>
          <p:nvPr/>
        </p:nvSpPr>
        <p:spPr>
          <a:xfrm>
            <a:off x="548640" y="2743200"/>
            <a:ext cx="11064240" cy="777240"/>
          </a:xfrm>
          <a:prstGeom prst="roundRect">
            <a:avLst>
              <a:gd name="adj" fmla="val 5882"/>
            </a:avLst>
          </a:prstGeom>
          <a:solidFill>
            <a:srgbClr val="F5F6FA"/>
          </a:solidFill>
          <a:ln/>
        </p:spPr>
      </p:sp>
      <p:sp>
        <p:nvSpPr>
          <p:cNvPr id="9" name="Text 7"/>
          <p:cNvSpPr txBox="1"/>
          <p:nvPr/>
        </p:nvSpPr>
        <p:spPr>
          <a:xfrm>
            <a:off x="777240" y="2743200"/>
            <a:ext cx="5212080" cy="777240"/>
          </a:xfrm>
          <a:prstGeom prst="rect">
            <a:avLst/>
          </a:prstGeom>
          <a:noFill/>
          <a:ln/>
        </p:spPr>
        <p:txBody>
          <a:bodyPr wrap="square" lIns="0" tIns="0" rIns="0" bIns="0" rtlCol="0" anchor="ctr"/>
          <a:lstStyle/>
          <a:p>
            <a:pPr indent="0" marL="0">
              <a:buNone/>
            </a:pPr>
            <a:r>
              <a:rPr lang="en-US" sz="1250" dirty="0">
                <a:solidFill>
                  <a:srgbClr val="B23A48"/>
                </a:solidFill>
                <a:latin typeface="Calibri" pitchFamily="34" charset="0"/>
                <a:ea typeface="Calibri" pitchFamily="34" charset="-122"/>
                <a:cs typeface="Calibri" pitchFamily="34" charset="-120"/>
              </a:rPr>
              <a:t>Temps d'entrainement du SVR (O(n²)-O(n³))</a:t>
            </a:r>
            <a:endParaRPr lang="en-US" sz="1250" dirty="0"/>
          </a:p>
        </p:txBody>
      </p:sp>
      <p:sp>
        <p:nvSpPr>
          <p:cNvPr id="10" name="Text 8"/>
          <p:cNvSpPr txBox="1"/>
          <p:nvPr/>
        </p:nvSpPr>
        <p:spPr>
          <a:xfrm>
            <a:off x="5989320" y="2743200"/>
            <a:ext cx="457200" cy="777240"/>
          </a:xfrm>
          <a:prstGeom prst="rect">
            <a:avLst/>
          </a:prstGeom>
          <a:noFill/>
          <a:ln/>
        </p:spPr>
        <p:txBody>
          <a:bodyPr wrap="square" lIns="0" tIns="0" rIns="0" bIns="0" rtlCol="0" anchor="ctr"/>
          <a:lstStyle/>
          <a:p>
            <a:pPr algn="ctr" indent="0" marL="0">
              <a:buNone/>
            </a:pPr>
            <a:r>
              <a:rPr lang="en-US" sz="1600" b="1" dirty="0">
                <a:solidFill>
                  <a:srgbClr val="6B7280"/>
                </a:solidFill>
                <a:latin typeface="Calibri" pitchFamily="34" charset="0"/>
                <a:ea typeface="Calibri" pitchFamily="34" charset="-122"/>
                <a:cs typeface="Calibri" pitchFamily="34" charset="-120"/>
              </a:rPr>
              <a:t>→</a:t>
            </a:r>
            <a:endParaRPr lang="en-US" sz="1600" dirty="0"/>
          </a:p>
        </p:txBody>
      </p:sp>
      <p:sp>
        <p:nvSpPr>
          <p:cNvPr id="11" name="Text 9"/>
          <p:cNvSpPr txBox="1"/>
          <p:nvPr/>
        </p:nvSpPr>
        <p:spPr>
          <a:xfrm>
            <a:off x="6492240" y="2743200"/>
            <a:ext cx="4937760" cy="777240"/>
          </a:xfrm>
          <a:prstGeom prst="rect">
            <a:avLst/>
          </a:prstGeom>
          <a:noFill/>
          <a:ln/>
        </p:spPr>
        <p:txBody>
          <a:bodyPr wrap="square" lIns="0" tIns="0" rIns="0" bIns="0" rtlCol="0" anchor="ctr"/>
          <a:lstStyle/>
          <a:p>
            <a:pPr indent="0" marL="0">
              <a:buNone/>
            </a:pPr>
            <a:r>
              <a:rPr lang="en-US" sz="1250" dirty="0">
                <a:solidFill>
                  <a:srgbClr val="1E7A3E"/>
                </a:solidFill>
                <a:latin typeface="Calibri" pitchFamily="34" charset="0"/>
                <a:ea typeface="Calibri" pitchFamily="34" charset="-122"/>
                <a:cs typeface="Calibri" pitchFamily="34" charset="-120"/>
              </a:rPr>
              <a:t>Entrainement sur un sous-echantillon de 6000 lignes, documente</a:t>
            </a:r>
            <a:endParaRPr lang="en-US" sz="1250" dirty="0"/>
          </a:p>
        </p:txBody>
      </p:sp>
      <p:sp>
        <p:nvSpPr>
          <p:cNvPr id="12" name="Shape 10"/>
          <p:cNvSpPr/>
          <p:nvPr/>
        </p:nvSpPr>
        <p:spPr>
          <a:xfrm>
            <a:off x="548640" y="3657600"/>
            <a:ext cx="11064240" cy="777240"/>
          </a:xfrm>
          <a:prstGeom prst="roundRect">
            <a:avLst>
              <a:gd name="adj" fmla="val 5882"/>
            </a:avLst>
          </a:prstGeom>
          <a:solidFill>
            <a:srgbClr val="F5F6FA"/>
          </a:solidFill>
          <a:ln/>
        </p:spPr>
      </p:sp>
      <p:sp>
        <p:nvSpPr>
          <p:cNvPr id="13" name="Text 11"/>
          <p:cNvSpPr txBox="1"/>
          <p:nvPr/>
        </p:nvSpPr>
        <p:spPr>
          <a:xfrm>
            <a:off x="777240" y="3657600"/>
            <a:ext cx="5212080" cy="777240"/>
          </a:xfrm>
          <a:prstGeom prst="rect">
            <a:avLst/>
          </a:prstGeom>
          <a:noFill/>
          <a:ln/>
        </p:spPr>
        <p:txBody>
          <a:bodyPr wrap="square" lIns="0" tIns="0" rIns="0" bIns="0" rtlCol="0" anchor="ctr"/>
          <a:lstStyle/>
          <a:p>
            <a:pPr indent="0" marL="0">
              <a:buNone/>
            </a:pPr>
            <a:r>
              <a:rPr lang="en-US" sz="1250" dirty="0">
                <a:solidFill>
                  <a:srgbClr val="B23A48"/>
                </a:solidFill>
                <a:latin typeface="Calibri" pitchFamily="34" charset="0"/>
                <a:ea typeface="Calibri" pitchFamily="34" charset="-122"/>
                <a:cs typeface="Calibri" pitchFamily="34" charset="-120"/>
              </a:rPr>
              <a:t>Python 3.14 alpha : numpy/scikit-learn casses</a:t>
            </a:r>
            <a:endParaRPr lang="en-US" sz="1250" dirty="0"/>
          </a:p>
        </p:txBody>
      </p:sp>
      <p:sp>
        <p:nvSpPr>
          <p:cNvPr id="14" name="Text 12"/>
          <p:cNvSpPr txBox="1"/>
          <p:nvPr/>
        </p:nvSpPr>
        <p:spPr>
          <a:xfrm>
            <a:off x="5989320" y="3657600"/>
            <a:ext cx="457200" cy="777240"/>
          </a:xfrm>
          <a:prstGeom prst="rect">
            <a:avLst/>
          </a:prstGeom>
          <a:noFill/>
          <a:ln/>
        </p:spPr>
        <p:txBody>
          <a:bodyPr wrap="square" lIns="0" tIns="0" rIns="0" bIns="0" rtlCol="0" anchor="ctr"/>
          <a:lstStyle/>
          <a:p>
            <a:pPr algn="ctr" indent="0" marL="0">
              <a:buNone/>
            </a:pPr>
            <a:r>
              <a:rPr lang="en-US" sz="1600" b="1" dirty="0">
                <a:solidFill>
                  <a:srgbClr val="6B7280"/>
                </a:solidFill>
                <a:latin typeface="Calibri" pitchFamily="34" charset="0"/>
                <a:ea typeface="Calibri" pitchFamily="34" charset="-122"/>
                <a:cs typeface="Calibri" pitchFamily="34" charset="-120"/>
              </a:rPr>
              <a:t>→</a:t>
            </a:r>
            <a:endParaRPr lang="en-US" sz="1600" dirty="0"/>
          </a:p>
        </p:txBody>
      </p:sp>
      <p:sp>
        <p:nvSpPr>
          <p:cNvPr id="15" name="Text 13"/>
          <p:cNvSpPr txBox="1"/>
          <p:nvPr/>
        </p:nvSpPr>
        <p:spPr>
          <a:xfrm>
            <a:off x="6492240" y="3657600"/>
            <a:ext cx="4937760" cy="777240"/>
          </a:xfrm>
          <a:prstGeom prst="rect">
            <a:avLst/>
          </a:prstGeom>
          <a:noFill/>
          <a:ln/>
        </p:spPr>
        <p:txBody>
          <a:bodyPr wrap="square" lIns="0" tIns="0" rIns="0" bIns="0" rtlCol="0" anchor="ctr"/>
          <a:lstStyle/>
          <a:p>
            <a:pPr indent="0" marL="0">
              <a:buNone/>
            </a:pPr>
            <a:r>
              <a:rPr lang="en-US" sz="1250" dirty="0">
                <a:solidFill>
                  <a:srgbClr val="1E7A3E"/>
                </a:solidFill>
                <a:latin typeface="Calibri" pitchFamily="34" charset="0"/>
                <a:ea typeface="Calibri" pitchFamily="34" charset="-122"/>
                <a:cs typeface="Calibri" pitchFamily="34" charset="-120"/>
              </a:rPr>
              <a:t>Environnement virtuel dedie en Python 3.12 (stable)</a:t>
            </a:r>
            <a:endParaRPr lang="en-US" sz="1250" dirty="0"/>
          </a:p>
        </p:txBody>
      </p:sp>
      <p:sp>
        <p:nvSpPr>
          <p:cNvPr id="16" name="Shape 14"/>
          <p:cNvSpPr/>
          <p:nvPr/>
        </p:nvSpPr>
        <p:spPr>
          <a:xfrm>
            <a:off x="548640" y="4572000"/>
            <a:ext cx="11064240" cy="777240"/>
          </a:xfrm>
          <a:prstGeom prst="roundRect">
            <a:avLst>
              <a:gd name="adj" fmla="val 5882"/>
            </a:avLst>
          </a:prstGeom>
          <a:solidFill>
            <a:srgbClr val="F5F6FA"/>
          </a:solidFill>
          <a:ln/>
        </p:spPr>
      </p:sp>
      <p:sp>
        <p:nvSpPr>
          <p:cNvPr id="17" name="Text 15"/>
          <p:cNvSpPr txBox="1"/>
          <p:nvPr/>
        </p:nvSpPr>
        <p:spPr>
          <a:xfrm>
            <a:off x="777240" y="4572000"/>
            <a:ext cx="5212080" cy="777240"/>
          </a:xfrm>
          <a:prstGeom prst="rect">
            <a:avLst/>
          </a:prstGeom>
          <a:noFill/>
          <a:ln/>
        </p:spPr>
        <p:txBody>
          <a:bodyPr wrap="square" lIns="0" tIns="0" rIns="0" bIns="0" rtlCol="0" anchor="ctr"/>
          <a:lstStyle/>
          <a:p>
            <a:pPr indent="0" marL="0">
              <a:buNone/>
            </a:pPr>
            <a:r>
              <a:rPr lang="en-US" sz="1250" dirty="0">
                <a:solidFill>
                  <a:srgbClr val="B23A48"/>
                </a:solidFill>
                <a:latin typeface="Calibri" pitchFamily="34" charset="0"/>
                <a:ea typeface="Calibri" pitchFamily="34" charset="-122"/>
                <a:cs typeface="Calibri" pitchFamily="34" charset="-120"/>
              </a:rPr>
              <a:t>Selection interactive d'un point sur la carte</a:t>
            </a:r>
            <a:endParaRPr lang="en-US" sz="1250" dirty="0"/>
          </a:p>
        </p:txBody>
      </p:sp>
      <p:sp>
        <p:nvSpPr>
          <p:cNvPr id="18" name="Text 16"/>
          <p:cNvSpPr txBox="1"/>
          <p:nvPr/>
        </p:nvSpPr>
        <p:spPr>
          <a:xfrm>
            <a:off x="5989320" y="4572000"/>
            <a:ext cx="457200" cy="777240"/>
          </a:xfrm>
          <a:prstGeom prst="rect">
            <a:avLst/>
          </a:prstGeom>
          <a:noFill/>
          <a:ln/>
        </p:spPr>
        <p:txBody>
          <a:bodyPr wrap="square" lIns="0" tIns="0" rIns="0" bIns="0" rtlCol="0" anchor="ctr"/>
          <a:lstStyle/>
          <a:p>
            <a:pPr algn="ctr" indent="0" marL="0">
              <a:buNone/>
            </a:pPr>
            <a:r>
              <a:rPr lang="en-US" sz="1600" b="1" dirty="0">
                <a:solidFill>
                  <a:srgbClr val="6B7280"/>
                </a:solidFill>
                <a:latin typeface="Calibri" pitchFamily="34" charset="0"/>
                <a:ea typeface="Calibri" pitchFamily="34" charset="-122"/>
                <a:cs typeface="Calibri" pitchFamily="34" charset="-120"/>
              </a:rPr>
              <a:t>→</a:t>
            </a:r>
            <a:endParaRPr lang="en-US" sz="1600" dirty="0"/>
          </a:p>
        </p:txBody>
      </p:sp>
      <p:sp>
        <p:nvSpPr>
          <p:cNvPr id="19" name="Text 17"/>
          <p:cNvSpPr txBox="1"/>
          <p:nvPr/>
        </p:nvSpPr>
        <p:spPr>
          <a:xfrm>
            <a:off x="6492240" y="4572000"/>
            <a:ext cx="4937760" cy="777240"/>
          </a:xfrm>
          <a:prstGeom prst="rect">
            <a:avLst/>
          </a:prstGeom>
          <a:noFill/>
          <a:ln/>
        </p:spPr>
        <p:txBody>
          <a:bodyPr wrap="square" lIns="0" tIns="0" rIns="0" bIns="0" rtlCol="0" anchor="ctr"/>
          <a:lstStyle/>
          <a:p>
            <a:pPr indent="0" marL="0">
              <a:buNone/>
            </a:pPr>
            <a:r>
              <a:rPr lang="en-US" sz="1250" dirty="0">
                <a:solidFill>
                  <a:srgbClr val="1E7A3E"/>
                </a:solidFill>
                <a:latin typeface="Calibri" pitchFamily="34" charset="0"/>
                <a:ea typeface="Calibri" pitchFamily="34" charset="-122"/>
                <a:cs typeface="Calibri" pitchFamily="34" charset="-120"/>
              </a:rPr>
              <a:t>streamlit-folium pour capter l'evenement de clic</a:t>
            </a:r>
            <a:endParaRPr lang="en-US" sz="1250" dirty="0"/>
          </a:p>
        </p:txBody>
      </p:sp>
      <p:sp>
        <p:nvSpPr>
          <p:cNvPr id="20" name="Shape 18"/>
          <p:cNvSpPr/>
          <p:nvPr/>
        </p:nvSpPr>
        <p:spPr>
          <a:xfrm>
            <a:off x="548640" y="5486400"/>
            <a:ext cx="11064240" cy="777240"/>
          </a:xfrm>
          <a:prstGeom prst="roundRect">
            <a:avLst>
              <a:gd name="adj" fmla="val 5882"/>
            </a:avLst>
          </a:prstGeom>
          <a:solidFill>
            <a:srgbClr val="F5F6FA"/>
          </a:solidFill>
          <a:ln/>
        </p:spPr>
      </p:sp>
      <p:sp>
        <p:nvSpPr>
          <p:cNvPr id="21" name="Text 19"/>
          <p:cNvSpPr txBox="1"/>
          <p:nvPr/>
        </p:nvSpPr>
        <p:spPr>
          <a:xfrm>
            <a:off x="777240" y="5486400"/>
            <a:ext cx="5212080" cy="777240"/>
          </a:xfrm>
          <a:prstGeom prst="rect">
            <a:avLst/>
          </a:prstGeom>
          <a:noFill/>
          <a:ln/>
        </p:spPr>
        <p:txBody>
          <a:bodyPr wrap="square" lIns="0" tIns="0" rIns="0" bIns="0" rtlCol="0" anchor="ctr"/>
          <a:lstStyle/>
          <a:p>
            <a:pPr indent="0" marL="0">
              <a:buNone/>
            </a:pPr>
            <a:r>
              <a:rPr lang="en-US" sz="1250" dirty="0">
                <a:solidFill>
                  <a:srgbClr val="B23A48"/>
                </a:solidFill>
                <a:latin typeface="Calibri" pitchFamily="34" charset="0"/>
                <a:ea typeface="Calibri" pitchFamily="34" charset="-122"/>
                <a:cs typeface="Calibri" pitchFamily="34" charset="-120"/>
              </a:rPr>
              <a:t>Import du module src/ depuis l'app Streamlit</a:t>
            </a:r>
            <a:endParaRPr lang="en-US" sz="1250" dirty="0"/>
          </a:p>
        </p:txBody>
      </p:sp>
      <p:sp>
        <p:nvSpPr>
          <p:cNvPr id="22" name="Text 20"/>
          <p:cNvSpPr txBox="1"/>
          <p:nvPr/>
        </p:nvSpPr>
        <p:spPr>
          <a:xfrm>
            <a:off x="5989320" y="5486400"/>
            <a:ext cx="457200" cy="777240"/>
          </a:xfrm>
          <a:prstGeom prst="rect">
            <a:avLst/>
          </a:prstGeom>
          <a:noFill/>
          <a:ln/>
        </p:spPr>
        <p:txBody>
          <a:bodyPr wrap="square" lIns="0" tIns="0" rIns="0" bIns="0" rtlCol="0" anchor="ctr"/>
          <a:lstStyle/>
          <a:p>
            <a:pPr algn="ctr" indent="0" marL="0">
              <a:buNone/>
            </a:pPr>
            <a:r>
              <a:rPr lang="en-US" sz="1600" b="1" dirty="0">
                <a:solidFill>
                  <a:srgbClr val="6B7280"/>
                </a:solidFill>
                <a:latin typeface="Calibri" pitchFamily="34" charset="0"/>
                <a:ea typeface="Calibri" pitchFamily="34" charset="-122"/>
                <a:cs typeface="Calibri" pitchFamily="34" charset="-120"/>
              </a:rPr>
              <a:t>→</a:t>
            </a:r>
            <a:endParaRPr lang="en-US" sz="1600" dirty="0"/>
          </a:p>
        </p:txBody>
      </p:sp>
      <p:sp>
        <p:nvSpPr>
          <p:cNvPr id="23" name="Text 21"/>
          <p:cNvSpPr txBox="1"/>
          <p:nvPr/>
        </p:nvSpPr>
        <p:spPr>
          <a:xfrm>
            <a:off x="6492240" y="5486400"/>
            <a:ext cx="4937760" cy="777240"/>
          </a:xfrm>
          <a:prstGeom prst="rect">
            <a:avLst/>
          </a:prstGeom>
          <a:noFill/>
          <a:ln/>
        </p:spPr>
        <p:txBody>
          <a:bodyPr wrap="square" lIns="0" tIns="0" rIns="0" bIns="0" rtlCol="0" anchor="ctr"/>
          <a:lstStyle/>
          <a:p>
            <a:pPr indent="0" marL="0">
              <a:buNone/>
            </a:pPr>
            <a:r>
              <a:rPr lang="en-US" sz="1250" dirty="0">
                <a:solidFill>
                  <a:srgbClr val="1E7A3E"/>
                </a:solidFill>
                <a:latin typeface="Calibri" pitchFamily="34" charset="0"/>
                <a:ea typeface="Calibri" pitchFamily="34" charset="-122"/>
                <a:cs typeface="Calibri" pitchFamily="34" charset="-120"/>
              </a:rPr>
              <a:t>Ajout explicite de la racine du projet a sys.path</a:t>
            </a:r>
            <a:endParaRPr lang="en-US" sz="1250" dirty="0"/>
          </a:p>
        </p:txBody>
      </p:sp>
      <p:sp>
        <p:nvSpPr>
          <p:cNvPr id="24" name="Text 22"/>
          <p:cNvSpPr txBox="1"/>
          <p:nvPr/>
        </p:nvSpPr>
        <p:spPr>
          <a:xfrm>
            <a:off x="11475720" y="6446520"/>
            <a:ext cx="548640" cy="32004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2F3C7E"/>
        </a:solidFill>
      </p:bgPr>
    </p:bg>
    <p:spTree>
      <p:nvGrpSpPr>
        <p:cNvPr id="1" name=""/>
        <p:cNvGrpSpPr/>
        <p:nvPr/>
      </p:nvGrpSpPr>
      <p:grpSpPr>
        <a:xfrm>
          <a:off x="0" y="0"/>
          <a:ext cx="0" cy="0"/>
          <a:chOff x="0" y="0"/>
          <a:chExt cx="0" cy="0"/>
        </a:xfrm>
      </p:grpSpPr>
      <p:sp>
        <p:nvSpPr>
          <p:cNvPr id="2" name="Text 0"/>
          <p:cNvSpPr txBox="1"/>
          <p:nvPr/>
        </p:nvSpPr>
        <p:spPr>
          <a:xfrm>
            <a:off x="548640" y="411480"/>
            <a:ext cx="7315200" cy="320040"/>
          </a:xfrm>
          <a:prstGeom prst="rect">
            <a:avLst/>
          </a:prstGeom>
          <a:noFill/>
          <a:ln/>
        </p:spPr>
        <p:txBody>
          <a:bodyPr wrap="square" lIns="0" tIns="0" rIns="0" bIns="0" rtlCol="0" anchor="ctr"/>
          <a:lstStyle/>
          <a:p>
            <a:pPr indent="0" marL="0">
              <a:buNone/>
            </a:pPr>
            <a:r>
              <a:rPr lang="en-US" sz="1300" b="1" spc="200" kern="0" dirty="0">
                <a:solidFill>
                  <a:srgbClr val="F9E795"/>
                </a:solidFill>
                <a:latin typeface="Calibri" pitchFamily="34" charset="0"/>
                <a:ea typeface="Calibri" pitchFamily="34" charset="-122"/>
                <a:cs typeface="Calibri" pitchFamily="34" charset="-120"/>
              </a:rPr>
              <a:t>CONCLUSION</a:t>
            </a:r>
            <a:endParaRPr lang="en-US" sz="1300" dirty="0"/>
          </a:p>
        </p:txBody>
      </p:sp>
      <p:sp>
        <p:nvSpPr>
          <p:cNvPr id="3" name="Text 1"/>
          <p:cNvSpPr txBox="1"/>
          <p:nvPr/>
        </p:nvSpPr>
        <p:spPr>
          <a:xfrm>
            <a:off x="548640" y="685800"/>
            <a:ext cx="10515600" cy="82296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Bilan et perspectives</a:t>
            </a:r>
            <a:endParaRPr lang="en-US" sz="3200" dirty="0"/>
          </a:p>
        </p:txBody>
      </p:sp>
      <p:sp>
        <p:nvSpPr>
          <p:cNvPr id="4" name="Text 2"/>
          <p:cNvSpPr txBox="1"/>
          <p:nvPr/>
        </p:nvSpPr>
        <p:spPr>
          <a:xfrm>
            <a:off x="548640" y="1554480"/>
            <a:ext cx="10515600" cy="365760"/>
          </a:xfrm>
          <a:prstGeom prst="rect">
            <a:avLst/>
          </a:prstGeom>
          <a:noFill/>
          <a:ln/>
        </p:spPr>
        <p:txBody>
          <a:bodyPr wrap="square" lIns="0" tIns="0" rIns="0" bIns="0" rtlCol="0" anchor="ctr"/>
          <a:lstStyle/>
          <a:p>
            <a:pPr indent="0" marL="0">
              <a:buNone/>
            </a:pPr>
            <a:r>
              <a:rPr lang="en-US" sz="1400" dirty="0">
                <a:solidFill>
                  <a:srgbClr val="CFD5EE"/>
                </a:solidFill>
                <a:latin typeface="Calibri" pitchFamily="34" charset="0"/>
                <a:ea typeface="Calibri" pitchFamily="34" charset="-122"/>
                <a:cs typeface="Calibri" pitchFamily="34" charset="-120"/>
              </a:rPr>
              <a:t>Tous les objectifs du cahier des charges ont ete atteints ou depasses :</a:t>
            </a:r>
            <a:endParaRPr lang="en-US" sz="1400" dirty="0"/>
          </a:p>
        </p:txBody>
      </p:sp>
      <p:sp>
        <p:nvSpPr>
          <p:cNvPr id="5" name="Text 3"/>
          <p:cNvSpPr txBox="1"/>
          <p:nvPr/>
        </p:nvSpPr>
        <p:spPr>
          <a:xfrm>
            <a:off x="548640" y="2011680"/>
            <a:ext cx="5486400" cy="2743200"/>
          </a:xfrm>
          <a:prstGeom prst="rect">
            <a:avLst/>
          </a:prstGeom>
          <a:noFill/>
          <a:ln/>
        </p:spPr>
        <p:txBody>
          <a:bodyPr wrap="square" lIns="0" tIns="0" rIns="0" bIns="0" rtlCol="0" anchor="t"/>
          <a:lstStyle/>
          <a:p>
            <a:pPr marL="228600" indent="-228600">
              <a:spcAft>
                <a:spcPts val="1200"/>
              </a:spcAft>
              <a:buSzPct val="100000"/>
              <a:buChar char="●"/>
            </a:pPr>
            <a:r>
              <a:rPr lang="en-US" sz="1300" dirty="0">
                <a:solidFill>
                  <a:srgbClr val="FFFFFF"/>
                </a:solidFill>
                <a:latin typeface="Calibri" pitchFamily="34" charset="0"/>
                <a:ea typeface="Calibri" pitchFamily="34" charset="-122"/>
                <a:cs typeface="Calibri" pitchFamily="34" charset="-120"/>
              </a:rPr>
              <a:t>12 modeles compares (objectif : 10) avec un protocole identique</a:t>
            </a:r>
            <a:endParaRPr lang="en-US" sz="1300" dirty="0"/>
          </a:p>
          <a:p>
            <a:pPr marL="228600" indent="-228600">
              <a:spcAft>
                <a:spcPts val="1200"/>
              </a:spcAft>
              <a:buSzPct val="100000"/>
              <a:buChar char="●"/>
            </a:pPr>
            <a:r>
              <a:rPr lang="en-US" sz="1300" dirty="0">
                <a:solidFill>
                  <a:srgbClr val="FFFFFF"/>
                </a:solidFill>
                <a:latin typeface="Calibri" pitchFamily="34" charset="0"/>
                <a:ea typeface="Calibri" pitchFamily="34" charset="-122"/>
                <a:cs typeface="Calibri" pitchFamily="34" charset="-120"/>
              </a:rPr>
              <a:t>4 metriques + validation croisee a 5 plis</a:t>
            </a:r>
            <a:endParaRPr lang="en-US" sz="1300" dirty="0"/>
          </a:p>
          <a:p>
            <a:pPr marL="228600" indent="-228600">
              <a:spcAft>
                <a:spcPts val="1200"/>
              </a:spcAft>
              <a:buSzPct val="100000"/>
              <a:buChar char="●"/>
            </a:pPr>
            <a:r>
              <a:rPr lang="en-US" sz="1300" dirty="0">
                <a:solidFill>
                  <a:srgbClr val="FFFFFF"/>
                </a:solidFill>
                <a:latin typeface="Calibri" pitchFamily="34" charset="0"/>
                <a:ea typeface="Calibri" pitchFamily="34" charset="-122"/>
                <a:cs typeface="Calibri" pitchFamily="34" charset="-120"/>
              </a:rPr>
              <a:t>Hyperparametres optimises, modele final XGBoost (R² = 0,453)</a:t>
            </a:r>
            <a:endParaRPr lang="en-US" sz="1300" dirty="0"/>
          </a:p>
          <a:p>
            <a:pPr marL="228600" indent="-228600">
              <a:spcAft>
                <a:spcPts val="1200"/>
              </a:spcAft>
              <a:buSzPct val="100000"/>
              <a:buChar char="●"/>
            </a:pPr>
            <a:r>
              <a:rPr lang="en-US" sz="1300" dirty="0">
                <a:solidFill>
                  <a:srgbClr val="FFFFFF"/>
                </a:solidFill>
                <a:latin typeface="Calibri" pitchFamily="34" charset="0"/>
                <a:ea typeface="Calibri" pitchFamily="34" charset="-122"/>
                <a:cs typeface="Calibri" pitchFamily="34" charset="-120"/>
              </a:rPr>
              <a:t>Interface graphique complete (exploration, entrainement, prediction + carte)</a:t>
            </a:r>
            <a:endParaRPr lang="en-US" sz="1300" dirty="0"/>
          </a:p>
        </p:txBody>
      </p:sp>
      <p:sp>
        <p:nvSpPr>
          <p:cNvPr id="6" name="Text 4"/>
          <p:cNvSpPr txBox="1"/>
          <p:nvPr/>
        </p:nvSpPr>
        <p:spPr>
          <a:xfrm>
            <a:off x="6492240" y="2011680"/>
            <a:ext cx="4572000" cy="365760"/>
          </a:xfrm>
          <a:prstGeom prst="rect">
            <a:avLst/>
          </a:prstGeom>
          <a:noFill/>
          <a:ln/>
        </p:spPr>
        <p:txBody>
          <a:bodyPr wrap="square" lIns="0" tIns="0" rIns="0" bIns="0" rtlCol="0" anchor="ctr"/>
          <a:lstStyle/>
          <a:p>
            <a:pPr indent="0" marL="0">
              <a:buNone/>
            </a:pPr>
            <a:r>
              <a:rPr lang="en-US" sz="1600" b="1" dirty="0">
                <a:solidFill>
                  <a:srgbClr val="F9E795"/>
                </a:solidFill>
                <a:latin typeface="Cambria" pitchFamily="34" charset="0"/>
                <a:ea typeface="Cambria" pitchFamily="34" charset="-122"/>
                <a:cs typeface="Cambria" pitchFamily="34" charset="-120"/>
              </a:rPr>
              <a:t>Perspectives</a:t>
            </a:r>
            <a:endParaRPr lang="en-US" sz="1600" dirty="0"/>
          </a:p>
        </p:txBody>
      </p:sp>
      <p:sp>
        <p:nvSpPr>
          <p:cNvPr id="7" name="Text 5"/>
          <p:cNvSpPr txBox="1"/>
          <p:nvPr/>
        </p:nvSpPr>
        <p:spPr>
          <a:xfrm>
            <a:off x="6492240" y="2423160"/>
            <a:ext cx="4572000" cy="2468880"/>
          </a:xfrm>
          <a:prstGeom prst="rect">
            <a:avLst/>
          </a:prstGeom>
          <a:noFill/>
          <a:ln/>
        </p:spPr>
        <p:txBody>
          <a:bodyPr wrap="square" lIns="0" tIns="0" rIns="0" bIns="0" rtlCol="0" anchor="t"/>
          <a:lstStyle/>
          <a:p>
            <a:pPr marL="228600" indent="-228600">
              <a:spcAft>
                <a:spcPts val="1200"/>
              </a:spcAft>
              <a:buSzPct val="100000"/>
              <a:buChar char="●"/>
            </a:pPr>
            <a:r>
              <a:rPr lang="en-US" sz="1300" dirty="0">
                <a:solidFill>
                  <a:srgbClr val="FFFFFF"/>
                </a:solidFill>
                <a:latin typeface="Calibri" pitchFamily="34" charset="0"/>
                <a:ea typeface="Calibri" pitchFamily="34" charset="-122"/>
                <a:cs typeface="Calibri" pitchFamily="34" charset="-120"/>
              </a:rPr>
              <a:t>Enrichir avec les avis textuels et les photos</a:t>
            </a:r>
            <a:endParaRPr lang="en-US" sz="1300" dirty="0"/>
          </a:p>
          <a:p>
            <a:pPr marL="228600" indent="-228600">
              <a:spcAft>
                <a:spcPts val="1200"/>
              </a:spcAft>
              <a:buSzPct val="100000"/>
              <a:buChar char="●"/>
            </a:pPr>
            <a:r>
              <a:rPr lang="en-US" sz="1300" dirty="0">
                <a:solidFill>
                  <a:srgbClr val="FFFFFF"/>
                </a:solidFill>
                <a:latin typeface="Calibri" pitchFamily="34" charset="0"/>
                <a:ea typeface="Calibri" pitchFamily="34" charset="-122"/>
                <a:cs typeface="Calibri" pitchFamily="34" charset="-120"/>
              </a:rPr>
              <a:t>Target encoding avec validation croisee imbriquee</a:t>
            </a:r>
            <a:endParaRPr lang="en-US" sz="1300" dirty="0"/>
          </a:p>
          <a:p>
            <a:pPr marL="228600" indent="-228600">
              <a:spcAft>
                <a:spcPts val="1200"/>
              </a:spcAft>
              <a:buSzPct val="100000"/>
              <a:buChar char="●"/>
            </a:pPr>
            <a:r>
              <a:rPr lang="en-US" sz="1300" dirty="0">
                <a:solidFill>
                  <a:srgbClr val="FFFFFF"/>
                </a:solidFill>
                <a:latin typeface="Calibri" pitchFamily="34" charset="0"/>
                <a:ea typeface="Calibri" pitchFamily="34" charset="-122"/>
                <a:cs typeface="Calibri" pitchFamily="34" charset="-120"/>
              </a:rPr>
              <a:t>Stacking XGBoost + Extra Trees + Random Forest</a:t>
            </a:r>
            <a:endParaRPr lang="en-US" sz="1300" dirty="0"/>
          </a:p>
          <a:p>
            <a:pPr marL="228600" indent="-228600">
              <a:spcAft>
                <a:spcPts val="1200"/>
              </a:spcAft>
              <a:buSzPct val="100000"/>
              <a:buChar char="●"/>
            </a:pPr>
            <a:r>
              <a:rPr lang="en-US" sz="1300" dirty="0">
                <a:solidFill>
                  <a:srgbClr val="FFFFFF"/>
                </a:solidFill>
                <a:latin typeface="Calibri" pitchFamily="34" charset="0"/>
                <a:ea typeface="Calibri" pitchFamily="34" charset="-122"/>
                <a:cs typeface="Calibri" pitchFamily="34" charset="-120"/>
              </a:rPr>
              <a:t>Deploiement cloud avec base de donnees persistante</a:t>
            </a:r>
            <a:endParaRPr lang="en-US" sz="1300" dirty="0"/>
          </a:p>
        </p:txBody>
      </p:sp>
      <p:sp>
        <p:nvSpPr>
          <p:cNvPr id="8" name="Text 6"/>
          <p:cNvSpPr txBox="1"/>
          <p:nvPr/>
        </p:nvSpPr>
        <p:spPr>
          <a:xfrm>
            <a:off x="11475720" y="6446520"/>
            <a:ext cx="548640" cy="32004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2F3C7E"/>
        </a:solidFill>
      </p:bgPr>
    </p:bg>
    <p:spTree>
      <p:nvGrpSpPr>
        <p:cNvPr id="1" name=""/>
        <p:cNvGrpSpPr/>
        <p:nvPr/>
      </p:nvGrpSpPr>
      <p:grpSpPr>
        <a:xfrm>
          <a:off x="0" y="0"/>
          <a:ext cx="0" cy="0"/>
          <a:chOff x="0" y="0"/>
          <a:chExt cx="0" cy="0"/>
        </a:xfrm>
      </p:grpSpPr>
      <p:sp>
        <p:nvSpPr>
          <p:cNvPr id="2" name="Shape 0"/>
          <p:cNvSpPr/>
          <p:nvPr/>
        </p:nvSpPr>
        <p:spPr>
          <a:xfrm>
            <a:off x="-1828800" y="-2286000"/>
            <a:ext cx="5486400" cy="5486400"/>
          </a:xfrm>
          <a:prstGeom prst="ellipse">
            <a:avLst/>
          </a:prstGeom>
          <a:solidFill>
            <a:srgbClr val="232C5E"/>
          </a:solidFill>
          <a:ln/>
        </p:spPr>
      </p:sp>
      <p:sp>
        <p:nvSpPr>
          <p:cNvPr id="3" name="Shape 1"/>
          <p:cNvSpPr/>
          <p:nvPr/>
        </p:nvSpPr>
        <p:spPr>
          <a:xfrm>
            <a:off x="9144000" y="3657600"/>
            <a:ext cx="5486400" cy="5486400"/>
          </a:xfrm>
          <a:prstGeom prst="ellipse">
            <a:avLst/>
          </a:prstGeom>
          <a:solidFill>
            <a:srgbClr val="232C5E"/>
          </a:solidFill>
          <a:ln/>
        </p:spPr>
      </p:sp>
      <p:sp>
        <p:nvSpPr>
          <p:cNvPr id="4" name="Text 2"/>
          <p:cNvSpPr txBox="1"/>
          <p:nvPr/>
        </p:nvSpPr>
        <p:spPr>
          <a:xfrm>
            <a:off x="548640" y="2377440"/>
            <a:ext cx="10972800" cy="914400"/>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Merci pour votre attention</a:t>
            </a:r>
            <a:endParaRPr lang="en-US" sz="4000" dirty="0"/>
          </a:p>
        </p:txBody>
      </p:sp>
      <p:sp>
        <p:nvSpPr>
          <p:cNvPr id="5" name="Text 3"/>
          <p:cNvSpPr txBox="1"/>
          <p:nvPr/>
        </p:nvSpPr>
        <p:spPr>
          <a:xfrm>
            <a:off x="548640" y="3291840"/>
            <a:ext cx="10972800" cy="640080"/>
          </a:xfrm>
          <a:prstGeom prst="rect">
            <a:avLst/>
          </a:prstGeom>
          <a:noFill/>
          <a:ln/>
        </p:spPr>
        <p:txBody>
          <a:bodyPr wrap="square" lIns="0" tIns="0" rIns="0" bIns="0" rtlCol="0" anchor="ctr"/>
          <a:lstStyle/>
          <a:p>
            <a:pPr algn="ctr" indent="0" marL="0">
              <a:buNone/>
            </a:pPr>
            <a:r>
              <a:rPr lang="en-US" sz="2200" i="1" dirty="0">
                <a:solidFill>
                  <a:srgbClr val="F96167"/>
                </a:solidFill>
                <a:latin typeface="Cambria" pitchFamily="34" charset="0"/>
                <a:ea typeface="Cambria" pitchFamily="34" charset="-122"/>
                <a:cs typeface="Cambria" pitchFamily="34" charset="-120"/>
              </a:rPr>
              <a:t>Questions ?</a:t>
            </a:r>
            <a:endParaRPr lang="en-US" sz="2200" dirty="0"/>
          </a:p>
        </p:txBody>
      </p:sp>
      <p:sp>
        <p:nvSpPr>
          <p:cNvPr id="6" name="Text 4"/>
          <p:cNvSpPr txBox="1"/>
          <p:nvPr/>
        </p:nvSpPr>
        <p:spPr>
          <a:xfrm>
            <a:off x="548640" y="4846320"/>
            <a:ext cx="10972800" cy="457200"/>
          </a:xfrm>
          <a:prstGeom prst="rect">
            <a:avLst/>
          </a:prstGeom>
          <a:noFill/>
          <a:ln/>
        </p:spPr>
        <p:txBody>
          <a:bodyPr wrap="square" lIns="0" tIns="0" rIns="0" bIns="0" rtlCol="0" anchor="ctr"/>
          <a:lstStyle/>
          <a:p>
            <a:pPr algn="ctr" indent="0" marL="0">
              <a:buNone/>
            </a:pPr>
            <a:r>
              <a:rPr lang="en-US" sz="1400" dirty="0">
                <a:solidFill>
                  <a:srgbClr val="F9E795"/>
                </a:solidFill>
                <a:latin typeface="Calibri" pitchFamily="34" charset="0"/>
                <a:ea typeface="Calibri" pitchFamily="34" charset="-122"/>
                <a:cs typeface="Calibri" pitchFamily="34" charset="-120"/>
              </a:rPr>
              <a:t>github.com/kasdiines/airbnb-nyc-price-prediction</a:t>
            </a:r>
            <a:endParaRPr lang="en-US" sz="1400" dirty="0"/>
          </a:p>
        </p:txBody>
      </p:sp>
      <p:sp>
        <p:nvSpPr>
          <p:cNvPr id="7" name="Text 5"/>
          <p:cNvSpPr txBox="1"/>
          <p:nvPr/>
        </p:nvSpPr>
        <p:spPr>
          <a:xfrm>
            <a:off x="548640" y="5303520"/>
            <a:ext cx="10972800" cy="365760"/>
          </a:xfrm>
          <a:prstGeom prst="rect">
            <a:avLst/>
          </a:prstGeom>
          <a:noFill/>
          <a:ln/>
        </p:spPr>
        <p:txBody>
          <a:bodyPr wrap="square" lIns="0" tIns="0" rIns="0" bIns="0" rtlCol="0" anchor="ctr"/>
          <a:lstStyle/>
          <a:p>
            <a:pPr algn="ctr" indent="0" marL="0">
              <a:buNone/>
            </a:pPr>
            <a:r>
              <a:rPr lang="en-US" sz="1200" dirty="0">
                <a:solidFill>
                  <a:srgbClr val="CFD5EE"/>
                </a:solidFill>
                <a:latin typeface="Calibri" pitchFamily="34" charset="0"/>
                <a:ea typeface="Calibri" pitchFamily="34" charset="-122"/>
                <a:cs typeface="Calibri" pitchFamily="34" charset="-120"/>
              </a:rPr>
              <a:t>Ines Kasdi</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Universite - Projet Machine Learning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Ines Kasdi</dc:creator>
  <cp:lastModifiedBy>Ines Kasdi</cp:lastModifiedBy>
  <cp:revision>1</cp:revision>
  <dcterms:created xsi:type="dcterms:W3CDTF">2026-09-07T08:35:24Z</dcterms:created>
  <dcterms:modified xsi:type="dcterms:W3CDTF">2026-09-07T08:35:24Z</dcterms:modified>
</cp:coreProperties>
</file>