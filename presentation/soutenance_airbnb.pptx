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RMSE ($)</c:v>
                </c:pt>
              </c:strCache>
            </c:strRef>
          </c:tx>
          <c:spPr>
            <a:solidFill>
              <a:srgbClr val="F96167"/>
            </a:solidFill>
            <a:effectLst/>
          </c:spPr>
          <c:invertIfNegative val="0"/>
          <c:dLbls>
            <c:numFmt formatCode="0.0" sourceLinked="0"/>
            <c:txPr>
              <a:bodyPr/>
              <a:lstStyle/>
              <a:p>
                <a:pPr>
                  <a:defRPr b="0" i="0" strike="noStrike" sz="1000" u="none">
                    <a:solidFill>
                      <a:srgbClr val="1B1F3B"/>
                    </a:solidFill>
                    <a:latin typeface="Arial"/>
                  </a:defRPr>
                </a:pPr>
              </a:p>
            </c:txPr>
            <c:showLegendKey val="0"/>
            <c:showVal val="1"/>
            <c:showCatName val="0"/>
            <c:showSerName val="0"/>
            <c:showPercent val="0"/>
            <c:showBubbleSize val="0"/>
            <c:showLeaderLines val="0"/>
          </c:dLbls>
          <c:dPt>
            <c:idx val="0"/>
            <c:invertIfNegative val="0"/>
            <c:bubble3D val="0"/>
            <c:spPr>
              <a:solidFill>
                <a:srgbClr val="F96167"/>
              </a:solidFill>
              <a:effectLst/>
            </c:spPr>
          </c:dPt>
          <c:dPt>
            <c:idx val="1"/>
            <c:invertIfNegative val="0"/>
            <c:bubble3D val="0"/>
            <c:spPr>
              <a:solidFill>
                <a:srgbClr val="F96167"/>
              </a:solidFill>
              <a:effectLst/>
            </c:spPr>
          </c:dPt>
          <c:dPt>
            <c:idx val="2"/>
            <c:invertIfNegative val="0"/>
            <c:bubble3D val="0"/>
            <c:spPr>
              <a:solidFill>
                <a:srgbClr val="F96167"/>
              </a:solidFill>
              <a:effectLst/>
            </c:spPr>
          </c:dPt>
          <c:dPt>
            <c:idx val="3"/>
            <c:invertIfNegative val="0"/>
            <c:bubble3D val="0"/>
            <c:spPr>
              <a:solidFill>
                <a:srgbClr val="9AA4C7"/>
              </a:solidFill>
              <a:effectLst/>
            </c:spPr>
          </c:dPt>
          <c:dPt>
            <c:idx val="4"/>
            <c:invertIfNegative val="0"/>
            <c:bubble3D val="0"/>
            <c:spPr>
              <a:solidFill>
                <a:srgbClr val="9AA4C7"/>
              </a:solidFill>
              <a:effectLst/>
            </c:spPr>
          </c:dPt>
          <c:dPt>
            <c:idx val="5"/>
            <c:invertIfNegative val="0"/>
            <c:bubble3D val="0"/>
            <c:spPr>
              <a:solidFill>
                <a:srgbClr val="9AA4C7"/>
              </a:solidFill>
              <a:effectLst/>
            </c:spPr>
          </c:dPt>
          <c:dPt>
            <c:idx val="6"/>
            <c:invertIfNegative val="0"/>
            <c:bubble3D val="0"/>
            <c:spPr>
              <a:solidFill>
                <a:srgbClr val="9AA4C7"/>
              </a:solidFill>
              <a:effectLst/>
            </c:spPr>
          </c:dPt>
          <c:dPt>
            <c:idx val="7"/>
            <c:invertIfNegative val="0"/>
            <c:bubble3D val="0"/>
            <c:spPr>
              <a:solidFill>
                <a:srgbClr val="9AA4C7"/>
              </a:solidFill>
              <a:effectLst/>
            </c:spPr>
          </c:dPt>
          <c:dPt>
            <c:idx val="8"/>
            <c:invertIfNegative val="0"/>
            <c:bubble3D val="0"/>
            <c:spPr>
              <a:solidFill>
                <a:srgbClr val="9AA4C7"/>
              </a:solidFill>
              <a:effectLst/>
            </c:spPr>
          </c:dPt>
          <c:dPt>
            <c:idx val="9"/>
            <c:invertIfNegative val="0"/>
            <c:bubble3D val="0"/>
            <c:spPr>
              <a:solidFill>
                <a:srgbClr val="9AA4C7"/>
              </a:solidFill>
              <a:effectLst/>
            </c:spPr>
          </c:dPt>
          <c:dPt>
            <c:idx val="10"/>
            <c:invertIfNegative val="0"/>
            <c:bubble3D val="0"/>
            <c:spPr>
              <a:solidFill>
                <a:srgbClr val="9AA4C7"/>
              </a:solidFill>
              <a:effectLst/>
            </c:spPr>
          </c:dPt>
          <c:dPt>
            <c:idx val="11"/>
            <c:invertIfNegative val="0"/>
            <c:bubble3D val="0"/>
            <c:spPr>
              <a:solidFill>
                <a:srgbClr val="9AA4C7"/>
              </a:solidFill>
              <a:effectLst/>
            </c:spPr>
          </c:dPt>
          <c:cat>
            <c:multiLvlStrRef>
              <c:f>Sheet1!$A$2:$A$13</c:f>
              <c:multiLvlStrCache>
                <c:ptCount val="12"/>
                <c:lvl>
                  <c:pt idx="0">
                    <c:v>XGBoost</c:v>
                  </c:pt>
                  <c:pt idx="1">
                    <c:v>Extra Trees</c:v>
                  </c:pt>
                  <c:pt idx="2">
                    <c:v>Random Forest</c:v>
                  </c:pt>
                  <c:pt idx="3">
                    <c:v>Gradient
Boosting</c:v>
                  </c:pt>
                  <c:pt idx="4">
                    <c:v>MLP</c:v>
                  </c:pt>
                  <c:pt idx="5">
                    <c:v>KNN</c:v>
                  </c:pt>
                  <c:pt idx="6">
                    <c:v>SVR</c:v>
                  </c:pt>
                  <c:pt idx="7">
                    <c:v>Decision
Tree</c:v>
                  </c:pt>
                  <c:pt idx="8">
                    <c:v>Linear Reg.</c:v>
                  </c:pt>
                  <c:pt idx="9">
                    <c:v>Ridge</c:v>
                  </c:pt>
                  <c:pt idx="10">
                    <c:v>Lasso</c:v>
                  </c:pt>
                  <c:pt idx="11">
                    <c:v>ElasticNet</c:v>
                  </c:pt>
                </c:lvl>
              </c:multiLvlStrCache>
            </c:multiLvlStrRef>
          </c:cat>
          <c:val>
            <c:numRef>
              <c:f>Sheet1!$B$2:$B$13</c:f>
              <c:numCache>
                <c:formatCode>General</c:formatCode>
                <c:ptCount val="12"/>
                <c:pt idx="0">
                  <c:v>85.05</c:v>
                </c:pt>
                <c:pt idx="1">
                  <c:v>85.07</c:v>
                </c:pt>
                <c:pt idx="2">
                  <c:v>85.64</c:v>
                </c:pt>
                <c:pt idx="3">
                  <c:v>87.55</c:v>
                </c:pt>
                <c:pt idx="4">
                  <c:v>88.46</c:v>
                </c:pt>
                <c:pt idx="5">
                  <c:v>89.22</c:v>
                </c:pt>
                <c:pt idx="6">
                  <c:v>93.2</c:v>
                </c:pt>
                <c:pt idx="7">
                  <c:v>93.59</c:v>
                </c:pt>
                <c:pt idx="8">
                  <c:v>93.65</c:v>
                </c:pt>
                <c:pt idx="9">
                  <c:v>93.65</c:v>
                </c:pt>
                <c:pt idx="10">
                  <c:v>93.95</c:v>
                </c:pt>
                <c:pt idx="11">
                  <c:v>98.08</c:v>
                </c:pt>
              </c:numCache>
            </c:numRef>
          </c:val>
        </c:ser>
        <c:dLbls>
          <c:numFmt formatCode="0.0" sourceLinked="0"/>
          <c:txPr>
            <a:bodyPr/>
            <a:lstStyle/>
            <a:p>
              <a:pPr>
                <a:defRPr b="0" i="0" strike="noStrike" sz="1000" u="none">
                  <a:solidFill>
                    <a:srgbClr val="1B1F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1F3B"/>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E8EAF0"/>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RMSE ($) - plus bas = meilleur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Bonjour a toutes et a tous, je m'appelle Ines Kasdi et je vais vous presenter mon projet de Machine Learning sur la prediction des prix de location Airbnb a New York. L'idee de depart est simple a formuler mais difficile a resoudre : peut-on estimer automatiquement, et de facon fiable, le prix d'une nuit sur Airbnb a partir des seules caracteristiques d'une annonce -- son type de logement, sa localisation, sa popularite, sa disponibilite -- sans jamais regarder ni les photos ni le texte de la description ? Pour repondre a cette question, j'ai mene un travail complet de bout en bout. J'ai d'abord compare douze algorithmes de Machine Learning differents, des plus simples comme la regression lineaire jusqu'aux plus avances comme XGBoost, en appliquant a chacun exactement le meme protocole d'evaluation pour que la comparaison soit honnete. J'ai ensuite optimise les hyperparametres des trois meilleurs modeles. Et enfin, j'ai construit une application interactive complete qui permet a n'importe quel utilisateur d'explorer les donnees, de choisir et d'entrainer un modele, et de tester une prediction de prix en temps reel directement sur une carte. Pour vous donner tout de suite le resultat principal : mon meilleur modele, un XGBoost optimise, explique 45% de la variation des prix, avec une erreur moyenne d'environ 48 dollars par nuit. Je vais maintenant detailler comment j'y suis arrivee.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Voici le plan de ma presentation, organise en sept parties qui suivent exactement la structure de mon rapport ecrit. Je vais d'abord poser le contexte et la problematique du projet. Ensuite, je ferai un point de veille scientifique : ce que dit la litterature, et pourquoi j'ai choisi ces technologies precises plutot que d'autres. Puis je presenterai les donnees et les premiers constats de l'analyse exploratoire. Je detaillerai ensuite ma methodologie : le pretraitement, la creation de nouvelles variables, et l'architecture du pipeline. Le coeur de la presentation portera sur la comparaison des douze modeles et leur optimisation. J'enchainerai avec les resultats, une analyse critique volontairement honnete sur les limites, et une demonstration de l'application. Et je terminerai sur les difficultes techniques rencontrees, la conclusion et les perspectives d'amelioration.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[~65s] Depuis sa creation, Airbnb a profondement transforme le marche de la location courte duree. A New York seule, on recense chaque annee des dizaines de milliers d'annonces actives, avec des prix extremement heterogenes selon le quartier, le type de logement, et la popularite de l'hote. Le probleme concret, c'est que la plupart des hotes fixent leur prix un peu au hasard, sans reference objective : ils peuvent sous-evaluer leur bien et perdre de l'argent, ou le surevaluer et rester invisibles face a une offre tres dense. Du cote des voyageurs, c'est la meme incertitude : difficile de savoir si le tarif propose est coherent avec le marche local. C'est de la que vient ma question centrale, celle qui structure tout le projet : peut-on predire, de maniere fiable, le prix d'une annonce Airbnb a partir de ses seules caracteristiques structurelles et geographiques ? Cette question souleve trois defis que j'ai du affronter tout au long du projet. D'abord, une cardinalite tres elevee : la variable quartier comporte 221 modalites differentes, qu'il faut encoder sans faire exploser la dimension du probleme. Ensuite, une forte non-linearite : le prix n'evolue pas de facon proportionnelle avec la distance au centre ou le nombre d'avis. Et enfin, un point que je tiens a annoncer moi-meme, plutot que d'attendre qu'on me le fasse remarquer : je ne dispose ni de photos, ni de description textuelle des annonces, ce qui signifie qu'une partie du prix restera, par construction, impossible a expliquer avec mes seules donnees.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Pour repondre a cette problematique, je me suis fixe cinq objectifs concrets, qui correspondent directement aux exigences du cahier des charges. Premierement, pretraiter rigoureusement les donnees : gerer les valeurs aberrantes, les valeurs manquantes, et construire de nouvelles variables pertinentes -- ce qu'on appelle le feature engineering. Deuxiemement, comparer objectivement au moins dix algorithmes de regression differents -- j'en ai finalement teste douze, pour couvrir un maximum de familles de modeles. Troisiemement, optimiser les hyperparametres des modeles les plus prometteurs, plutot que de me contenter des reglages par defaut. Quatriemement, evaluer chaque modele avec au moins quatre metriques complementaires et une validation croisee, pour ne pas me fier a un seul chiffre qui pourrait etre trompeur -- j'ai utilise quatre metriques plus une validation croisee a cinq plis. Et cinquiemement, developper une interface graphique complete qui rende ce travail utilisable concretement : exploration des donnees, entrainement et parametrage d'un modele au choix, et prediction en temps reel avec une visualisation cartographique.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Avant de me lancer dans le code, j'ai pris le temps de situer mon projet par rapport a l'existant -- c'est cette etape de veille scientifique et technique. Cote litterature, les approches historiques comme la regression hedonique decomposent le prix en une simple somme ponderee de caracteristiques : c'est facile a interpreter, mais ca ne capture pas les interactions entre variables. Depuis les annees 2000, les methodes d'ensemble a base d'arbres -- je pense aux travaux fondateurs de Breiman sur Random Forest en 2001, et de Chen et Guestrin sur XGBoost en 2016 -- se sont imposees comme l'etat de l'art sur les donnees tabulaires. Et surtout, sur ce meme dataset specifiquement, les travaux deja publies rapportent generalement un R2 entre 0,5 et 0,65 lorsqu'on n'utilise pas de texte ni de photos -- c'est exactement la fourchette dans laquelle se situe mon propre resultat, ce qui valide a la fois mon protocole et confirme cette limite structurelle annoncee en introduction. Cote outils, j'ai compare plusieurs options avant de choisir : scikit-learn et XGBoost pour le Machine Learning, qui sont les standards du secteur ; Streamlit plutot que Dash ou une application web classique, pour un developpement rapide en pur Python ; et Folium specifiquement, parce que c'est la seule librairie que j'ai testee qui permette de recuperer les coordonnees d'un clic utilisateur directement sur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Parlons maintenant des donnees elles-memes. J'utilise le dataset New York City Airbnb Open Data, disponible sur Kaggle -- c'est exactement le jeu de donnees demande dans mon sujet de projet. A l'origine, il contient 48 895 annonces brutes et 16 variables : identifiant, hote, localisation geographique, type de logement, prix, nombre d'avis, disponibilite annuelle, et quelques autres. Apres le nettoyage que je detaillerai dans quelques instants -- essentiellement la suppression des prix aberrants, environ 1% des lignes -- il reste 48 389 annonces exploitables, reparties sur 5 arrondissements et pas moins de 221 quartiers differents. Un point que je tiens a repeter clairement : il n'y a dans ce dataset ni photos, ni texte de description, ni note moyenne des avis. Ce n'est pas un oubli de ma part, c'est une caracteristique du dataset, et ca va volontairement limiter la precision maximale atteignable par n'importe quel modele -- j'y reviendrai en detail dans la partie analyse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Avant de me lancer dans la modelisation, j'ai pris le temps d'explorer les donnees visuellement -- c'est une etape que je considere indispensable pour ne pas modeliser a l'aveugle. Deux constats tres clairs dominent tout le reste, et les deux graphiques que vous voyez ici les illustrent. Premierement, l'effet de l'arrondissement, a gauche : le prix median a Manhattan atteint 149 dollars 50, contre seulement 68 dollars dans le Bronx -- c'est plus du double, et on observe une hierarchie tres nette entre les cinq arrondissements. Deuxiemement, et c'est encore plus marque, l'effet du type de logement, a droite : un logement entier affiche un prix median de 160 dollars, contre seulement 70 dollars pour une chambre privee et environ 45 dollars pour une chambre partagee -- un facteur de deux a trois entre les categories extremes. Ces deux constats, obtenus simplement en regardant des boxplots, ne sont pas anecdotiques : ils se retrouveront confirmes bien plus tard, de facon parfaitement quantitative cette fois, dans l'analyse d'importance des variables du modele final. C'est deja un premier indice tres fort de ce qui va structurer tous mes resultats.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[~65s] Passons a la methodologie, et d'abord au pretraitement, qui s'articule en quatre etapes. D'abord, la suppression des prix aberrants : j'ai utilise des percentiles statistiques, 0,5% de chaque cote de la distribution, plutot qu'un seuil arbitraire choisi a la main -- au final, 492 lignes ont ete retirees sur 48 895, soit environ 1%. Ensuite, j'ai gere les valeurs manquantes de facon differenciee selon leur nature. Le point le plus important, c'est la creation de nouvelles variables : la plus utile est distance_center_km, la distance a vol d'oiseau entre chaque annonce et le centre de Manhattan, calculee avec la formule de haversine -- une formule qui tient compte de la courbure de la Terre, contrairement a une simple distance euclidienne. Cote encodage, j'ai fait un choix different selon la cardinalite des variables : le quartier, qui compte 221 valeurs differentes, est encode par frequence pour eviter de faire exploser le nombre de colonnes ; alors que le type de logement et l'arrondissement, qui ont tres peu de categories, sont encodes classiquement en one-hot. Regardez la matrice de correlation a droite : distance_center_km est la variable numerique la plus correlee au prix, ce qui confirme deja l'importance de la geographie.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Voici l'architecture complete de mon pipeline, en quatre etapes bien separees et scriptees independamment. Les donnees brutes de Kaggle passent d'abord par le script de pretraitement, qui produit un fichier nettoye. Ce fichier alimente ensuite deux choses en parallele : le script d'analyse exploratoire, et le script de comparaison des douze modeles avec sauvegarde du meilleur. Et enfin, l'application Streamlit vient consommer a la fois les donnees nettoyees et le modele entraine pour offrir l'interface interactive. Un point de rigueur methodologique important a souligner ici : exactement le meme protocole s'applique a tous les modeles, sans exception -- meme decoupage 80/20 entre entrainement et test, meme validation croisee a 5 plis, et une graine aleatoire fixee a 42 partout, pour garantir a la fois une comparaison honnete entre les modeles et une parfaite reproductibilite des resultats si quelqu'un relance 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[~95s] Nous arrivons a la slide que je considere comme la plus importante de toute ma soutenance. J'ai teste douze algorithmes de regression, avec un protocole strictement identique pour chacun -- memes variables, meme decoupage, meme validation croisee. Ces douze modeles couvrent quatre grandes familles : les modeles lineaires regularises -- regression lineaire, Ridge, Lasso, ElasticNet ; les modeles de proximite avec le KNN ; les arbres et methodes d'ensemble -- arbre de decision seul, puis Random Forest, Extra Trees, Gradient Boosting et XGBoost ; et enfin deux approches plus atypiques, le SVR et un reseau de neurones multicouches. Regardez maintenant le graphique : les trois meilleurs modeles, colores en corail, sont XGBoost, Extra Trees et Random Forest, avec des RMSE tres proches les uns des autres, autour de 85 dollars. Ils devancent nettement tous les modeles lineaires, a droite du graphique, qui plafonnent entre 93 et 98 dollars de RMSE. Pourquoi cet ecart ? Parce que la relation entre le prix et les caracteristiques n'est pas une simple addition ponderee : il existe de vraies interactions entre variables. Par exemple, l'effet de la distance au centre-ville ne joue pas du tout de la meme facon selon qu'on parle d'un logement entier ou d'une simple chambre -- et seuls les modeles a base d'arbres sont capables de capturer ce genre de nuance, par construction. Notez aussi un resultat qui peut surprendre : meme le reseau de neurones ne fait pas mieux que les meilleurs arbres. Ce n'est pas une erreur de ma part, c'est un resultat coherent avec la litterature : sur un volume de donnees tabulaires de cette taille, les methodes a base d'arbres restent generalement l'etat de l'art, les reseaux de neurones ayant surtout leur force sur des donnees non structurees comme les images ou le texte, ou sur des volumes bien plus importants.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[~80s] Une fois ce classement etabli, j'ai optimise les hyperparametres des trois meilleurs modeles avec une recherche aleatoire, la fameuse RandomizedSearchCV, qui teste douze combinaisons de reglages choisies au hasard plutot que de tester exhaustivement toutes les combinaisons possibles, ce qui aurait pris beaucoup trop de temps. Le modele final retenu est XGBoost, avec les reglages suivants : 400 arbres, une profondeur maximale de 6 pour chaque arbre, un taux d'apprentissage tres prudent de 0,03, et un sous-echantillonnage de 0,7 -- c'est-a-dire que chaque arbre n'est construit que sur 70% des donnees tirees au hasard, ce qui ajoute de la diversite et limite le risque de sur-apprentissage. En dollars concrets, maintenant : mon modele se trompe en moyenne de 48 dollars 35 par nuit, c'est la MAE, et il explique 45,3% de la variation totale du prix, c'est le R2. Le gain apporte par l'optimisation reste modeste, moins de 1% par rapport aux reglages par defaut, ce qui montre que le vrai levier de performance, dans ce projet, c'est le choix de la famille d'algorithme -- les arbres plutot que le lineaire -- bien plus que le reglage fin des hyperparametres. Dernier point, et il est capital : quand j'analyse l'importance des variables du modele final, a droite, je constate que la variable logement entier represente a elle seule 59,5% de l'importance totale du modele -- tres loin devant la distance au centre, qui n'en represente que 4,5%. Autrement dit, le type de logement compte statistiquement bien plus que l'endroit ou il se trouve, ce qui confirme quantitativement ce qu'on avait deja observe visuellement dans l'analyse exploratoire.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[~65s] Je passe maintenant a une analyse critique volontairement equilibree de mon propre travail. Cote points forts, rapidement : une chaine de traitement complete et coherente de bout en bout, un protocole d'evaluation identique et reproductible pour tous les modeles, un feature engineering geographique original avec la distance haversine, et une interface graphique reellement fonctionnelle, qui va bien au-dela d'un simple notebook Jupyter. Mais je vais insister davantage sur les limites, parce que je pense que c'est ca qui montre la maturite d'une analyse scientifique, plutot que de presenter un travail comme parfait. Premierement, le R2 d'environ 0,45 : je le repete, ca s'explique par l'absence de photos et de texte dans les donnees disponibles -- ce n'est absolument pas un defaut de ma modelisation, c'est une limite structurelle liee a l'information qu'il m'etait possible d'utiliser. Deuxiemement, le SVR a du etre entraine sur un sous-echantillon de 6000 lignes seulement, pour des raisons de temps de calcul -- sa complexite algorithmique augmente au carre voire au cube avec le nombre de lignes. Troisiemement, les donnees datent de 2019, donc les prix absolus ne refletent plus forcement le marche reel en 2026 -- meme si les relations structurelles entre variables, elles, restent parfaitement valables sur le plan pedagogique. Et enfin, l'application ne dispose pas de base de donnees persistante, ce qui est une limite de portee assumee pour ce 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Si le temps et la connexion le permettent, je bascule maintenant sur l'application en direct plutot que de rester sur cette slide statique -- une vraie demonstration est toujours bien plus parlante qu'une capture d'ecran. L'application est construite avec Streamlit et organisee en trois onglets. Le premier, Exploration des donnees, permet de charger et visualiser les donnees : statistiques descriptives, distribution des prix, et une carte de toutes les annonces colorees par prix. Le deuxieme, Entrainement et choix du modele, permet de choisir un modele parmi neuf, de regler ses hyperparametres avec des curseurs interactifs, et de voir instantanement les quatre metriques apres entrainement -- on peut aussi charger directement le meilleur modele du benchmark complet, celui que je viens de presenter. Le troisieme onglet, Test et Prediction, est le plus abouti techniquement : on clique sur une carte interactive pour choisir un emplacement, et l'application deduit automatiquement l'arrondissement et le quartier les plus proches de ce point -- plus besoin de les saisir a la main. On complete ensuite quelques caracteristiques -- type de logement, nombre d'avis, disponibilite -- et on obtient une prediction de prix en temps reel, comparee au prix moyen de l'arrondissement selectionne, avec une carte montrant les annonces existantes les plus proches. A titre d'exemple reel que j'ai teste : pour un logement entier situe dans le Bronx, le modele predit 166 dollars la nuit, contre seulement 87 dollars de moyenne dans cet arrondissement -- un ecart de plus 79 dollars, parfaitement coherent avec le poids tres fort du type de logement qu'on vient de voir dans l'analyse d'importance des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Ce projet ne s'est pas fait sans obstacles, et je pense que c'est important de les partager, plutot que de donner l'impression que tout s'est deroule sans accroc. Je vais en detailler deux ou trois, les autres restent en reserve pour vos questions. Premier obstacle : le SVR etait beaucoup trop lent a entrainer sur les 38 700 lignes du jeu d'entrainement complet -- sa complexite algorithmique augmente au carre, voire au cube, avec le nombre de lignes. Plutot que d'abandonner ce modele ou d'attendre indefiniment, je l'ai entraine sur un sous-echantillon de 6000 lignes, en documentant clairement cette limite dans mon rapport plutot que de la dissimuler. Deuxieme obstacle, plus technique : l'application a d'abord plante avec une erreur d'import au moment de tester la prediction, parce que Streamlit n'ajoute pas automatiquement la racine du projet au chemin de recherche des modules Python -- j'ai identifie le probleme en testant l'application moi-meme, et corrige ca en une seule ligne de code. Troisieme obstacle que je peux mentionner rapidement : un probleme de compatibilite avec la version de Python installee par defaut sur ma machine, resolu en creant un environnement virtuel dedie.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Pour conclure, je peux affirmer que tous les objectifs fixes dans le cahier des charges ont ete atteints, et meme depasses sur plusieurs points. Douze modeles compares avec un protocole identique, alors que dix etaient demandes au minimum. Quatre metriques completees d'une validation croisee a cinq plis. Des hyperparametres optimises par recherche aleatoire, pour un modele final XGBoost qui atteint 0,453 de R2. Et une interface graphique complete, couvrant l'exploration des donnees, l'entrainement parametrable d'un modele, et la prediction geolocalisee en temps reel. Ce projet m'a permis de mener, de bout en bout, un veritable cycle de projet de Machine Learning applique, et pas seulement un exercice de modelisation isole. Comme perspectives d'amelioration, j'identifie quatre axes principaux : enrichir le dataset avec les avis textuels, via une analyse de sentiment, et avec les photos, via des features visuelles extraites par un modele de vision ; utiliser un encodage cible plus sophistique pour la variable quartier, avec une validation croisee imbriquee pour eviter toute fuite de donnees ; tester des techniques d'empilement de modeles, ou stacking, en combinant XGBoost, Extra Trees et Random Forest ; et enfin deployer l'application sur une infrastructure cloud avec une base de donnees persistante, pour un usage reel au-dela du cadre pedagogique de ce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Merci beaucoup pour votre attention. L'ensemble du code source, des donnees traitees et de l'application est disponible publiquement sur ce depot GitHub. Je suis maintenant prete a repondre a toutes vos questions. (Rappel pour toi : si une question te bloque completement, dis honnetement 'c'est une limite que j'ai identifiee mais pas approfondie dans le temps imparti, une piste serait de...' plutot que d'inventer une reponse -- le jury valorise la lucidite bien plus qu'une reponse improvisee et fausse.)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C7E"/>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32C5E"/>
          </a:solidFill>
          <a:ln/>
        </p:spPr>
      </p:sp>
      <p:sp>
        <p:nvSpPr>
          <p:cNvPr id="3" name="Shape 1"/>
          <p:cNvSpPr/>
          <p:nvPr/>
        </p:nvSpPr>
        <p:spPr>
          <a:xfrm>
            <a:off x="-2286000" y="4754880"/>
            <a:ext cx="4572000" cy="4572000"/>
          </a:xfrm>
          <a:prstGeom prst="ellipse">
            <a:avLst/>
          </a:prstGeom>
          <a:solidFill>
            <a:srgbClr val="232C5E"/>
          </a:solidFill>
          <a:ln/>
        </p:spPr>
      </p:sp>
      <p:sp>
        <p:nvSpPr>
          <p:cNvPr id="4" name="Shape 2"/>
          <p:cNvSpPr/>
          <p:nvPr/>
        </p:nvSpPr>
        <p:spPr>
          <a:xfrm>
            <a:off x="548640" y="548640"/>
            <a:ext cx="640080" cy="640080"/>
          </a:xfrm>
          <a:prstGeom prst="ellipse">
            <a:avLst/>
          </a:prstGeom>
          <a:solidFill>
            <a:srgbClr val="F96167"/>
          </a:solidFill>
          <a:ln/>
        </p:spPr>
      </p:sp>
      <p:sp>
        <p:nvSpPr>
          <p:cNvPr id="5" name="Text 3"/>
          <p:cNvSpPr txBox="1"/>
          <p:nvPr/>
        </p:nvSpPr>
        <p:spPr>
          <a:xfrm>
            <a:off x="548640" y="54864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6" name="Text 4"/>
          <p:cNvSpPr txBox="1"/>
          <p:nvPr/>
        </p:nvSpPr>
        <p:spPr>
          <a:xfrm>
            <a:off x="548640" y="2148840"/>
            <a:ext cx="9144000" cy="365760"/>
          </a:xfrm>
          <a:prstGeom prst="rect">
            <a:avLst/>
          </a:prstGeom>
          <a:noFill/>
          <a:ln/>
        </p:spPr>
        <p:txBody>
          <a:bodyPr wrap="square" lIns="0" tIns="0" rIns="0" bIns="0" rtlCol="0" anchor="ctr"/>
          <a:lstStyle/>
          <a:p>
            <a:pPr indent="0" marL="0">
              <a:buNone/>
            </a:pPr>
            <a:r>
              <a:rPr lang="en-US" sz="1400" b="1" spc="300" kern="0" dirty="0">
                <a:solidFill>
                  <a:srgbClr val="F9E795"/>
                </a:solidFill>
                <a:latin typeface="Calibri" pitchFamily="34" charset="0"/>
                <a:ea typeface="Calibri" pitchFamily="34" charset="-122"/>
                <a:cs typeface="Calibri" pitchFamily="34" charset="-120"/>
              </a:rPr>
              <a:t>PROJET DE MACHINE LEARNING</a:t>
            </a:r>
            <a:endParaRPr lang="en-US" sz="1400" dirty="0"/>
          </a:p>
        </p:txBody>
      </p:sp>
      <p:sp>
        <p:nvSpPr>
          <p:cNvPr id="7" name="Text 5"/>
          <p:cNvSpPr txBox="1"/>
          <p:nvPr/>
        </p:nvSpPr>
        <p:spPr>
          <a:xfrm>
            <a:off x="548640" y="2560320"/>
            <a:ext cx="10515600" cy="182880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Prediction des prix de location</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Airbnb a New York City</a:t>
            </a:r>
            <a:endParaRPr lang="en-US" sz="4200" dirty="0"/>
          </a:p>
        </p:txBody>
      </p:sp>
      <p:sp>
        <p:nvSpPr>
          <p:cNvPr id="8" name="Text 6"/>
          <p:cNvSpPr txBox="1"/>
          <p:nvPr/>
        </p:nvSpPr>
        <p:spPr>
          <a:xfrm>
            <a:off x="548640" y="4160520"/>
            <a:ext cx="9601200" cy="731520"/>
          </a:xfrm>
          <a:prstGeom prst="rect">
            <a:avLst/>
          </a:prstGeom>
          <a:noFill/>
          <a:ln/>
        </p:spPr>
        <p:txBody>
          <a:bodyPr wrap="square" lIns="0" tIns="0" rIns="0" bIns="0" rtlCol="0" anchor="ctr"/>
          <a:lstStyle/>
          <a:p>
            <a:pPr indent="0" marL="0">
              <a:buNone/>
            </a:pPr>
            <a:r>
              <a:rPr lang="en-US" sz="1600" i="1" dirty="0">
                <a:solidFill>
                  <a:srgbClr val="CFD5EE"/>
                </a:solidFill>
                <a:latin typeface="Calibri" pitchFamily="34" charset="0"/>
                <a:ea typeface="Calibri" pitchFamily="34" charset="-122"/>
                <a:cs typeface="Calibri" pitchFamily="34" charset="-120"/>
              </a:rPr>
              <a:t>Comparaison de 12 algorithmes de regression, optimisation des hyperparametres</a:t>
            </a:r>
            <a:endParaRPr lang="en-US" sz="1600" dirty="0"/>
          </a:p>
          <a:p>
            <a:pPr indent="0" marL="0">
              <a:buNone/>
            </a:pPr>
            <a:r>
              <a:rPr lang="en-US" sz="1600" i="1" dirty="0">
                <a:solidFill>
                  <a:srgbClr val="CFD5EE"/>
                </a:solidFill>
                <a:latin typeface="Calibri" pitchFamily="34" charset="0"/>
                <a:ea typeface="Calibri" pitchFamily="34" charset="-122"/>
                <a:cs typeface="Calibri" pitchFamily="34" charset="-120"/>
              </a:rPr>
              <a:t>et application interactive d'aide a la decision</a:t>
            </a:r>
            <a:endParaRPr lang="en-US" sz="1600" dirty="0"/>
          </a:p>
        </p:txBody>
      </p:sp>
      <p:sp>
        <p:nvSpPr>
          <p:cNvPr id="9" name="Shape 7"/>
          <p:cNvSpPr/>
          <p:nvPr/>
        </p:nvSpPr>
        <p:spPr>
          <a:xfrm>
            <a:off x="548640" y="5120640"/>
            <a:ext cx="2926080" cy="0"/>
          </a:xfrm>
          <a:prstGeom prst="line">
            <a:avLst/>
          </a:prstGeom>
          <a:noFill/>
          <a:ln w="25400">
            <a:solidFill>
              <a:srgbClr val="F96167"/>
            </a:solidFill>
            <a:prstDash val="solid"/>
          </a:ln>
        </p:spPr>
      </p:sp>
      <p:sp>
        <p:nvSpPr>
          <p:cNvPr id="10" name="Text 8"/>
          <p:cNvSpPr txBox="1"/>
          <p:nvPr/>
        </p:nvSpPr>
        <p:spPr>
          <a:xfrm>
            <a:off x="548640" y="5349240"/>
            <a:ext cx="8229600" cy="10972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Ines Kasdi</a:t>
            </a:r>
            <a:endParaRPr lang="en-US" sz="1600" dirty="0"/>
          </a:p>
          <a:p>
            <a:pPr indent="0" marL="0">
              <a:buNone/>
            </a:pPr>
            <a:r>
              <a:rPr lang="en-US" sz="1200" dirty="0">
                <a:solidFill>
                  <a:srgbClr val="CFD5EE"/>
                </a:solidFill>
                <a:latin typeface="Calibri" pitchFamily="34" charset="0"/>
                <a:ea typeface="Calibri" pitchFamily="34" charset="-122"/>
                <a:cs typeface="Calibri" pitchFamily="34" charset="-120"/>
              </a:rPr>
              <a:t>Projet Machine Learning - Donnees Kaggle NYC Airbnb Open Data</a:t>
            </a:r>
            <a:endParaRPr lang="en-US" sz="1600" dirty="0"/>
          </a:p>
          <a:p>
            <a:pPr indent="0" marL="0">
              <a:buNone/>
            </a:pPr>
            <a:r>
              <a:rPr lang="en-US" sz="1200" dirty="0">
                <a:solidFill>
                  <a:srgbClr val="F9E795"/>
                </a:solidFill>
                <a:latin typeface="Calibri" pitchFamily="34" charset="0"/>
                <a:ea typeface="Calibri" pitchFamily="34" charset="-122"/>
                <a:cs typeface="Calibri" pitchFamily="34" charset="-120"/>
              </a:rPr>
              <a:t>github.com/kasdiines/airbnb-nyc-price-prediction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PLAN DE LA SOUTENANCE</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Sommaire</a:t>
            </a:r>
            <a:endParaRPr lang="en-US" sz="3200" dirty="0"/>
          </a:p>
        </p:txBody>
      </p:sp>
      <p:sp>
        <p:nvSpPr>
          <p:cNvPr id="4" name="Text 2"/>
          <p:cNvSpPr txBox="1"/>
          <p:nvPr/>
        </p:nvSpPr>
        <p:spPr>
          <a:xfrm>
            <a:off x="548640" y="1828800"/>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01</a:t>
            </a:r>
            <a:endParaRPr lang="en-US" sz="2600" dirty="0"/>
          </a:p>
        </p:txBody>
      </p:sp>
      <p:sp>
        <p:nvSpPr>
          <p:cNvPr id="5" name="Text 3"/>
          <p:cNvSpPr txBox="1"/>
          <p:nvPr/>
        </p:nvSpPr>
        <p:spPr>
          <a:xfrm>
            <a:off x="1417320" y="1828800"/>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Contexte, problematique et objectifs</a:t>
            </a:r>
            <a:endParaRPr lang="en-US" sz="1500" dirty="0"/>
          </a:p>
        </p:txBody>
      </p:sp>
      <p:sp>
        <p:nvSpPr>
          <p:cNvPr id="6" name="Shape 4"/>
          <p:cNvSpPr/>
          <p:nvPr/>
        </p:nvSpPr>
        <p:spPr>
          <a:xfrm>
            <a:off x="548640" y="2432304"/>
            <a:ext cx="5074920" cy="0"/>
          </a:xfrm>
          <a:prstGeom prst="line">
            <a:avLst/>
          </a:prstGeom>
          <a:noFill/>
          <a:ln w="12700">
            <a:solidFill>
              <a:srgbClr val="E2E4EE"/>
            </a:solidFill>
            <a:prstDash val="solid"/>
          </a:ln>
        </p:spPr>
      </p:sp>
      <p:sp>
        <p:nvSpPr>
          <p:cNvPr id="7" name="Text 5"/>
          <p:cNvSpPr txBox="1"/>
          <p:nvPr/>
        </p:nvSpPr>
        <p:spPr>
          <a:xfrm>
            <a:off x="548640" y="2542032"/>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02</a:t>
            </a:r>
            <a:endParaRPr lang="en-US" sz="2600" dirty="0"/>
          </a:p>
        </p:txBody>
      </p:sp>
      <p:sp>
        <p:nvSpPr>
          <p:cNvPr id="8" name="Text 6"/>
          <p:cNvSpPr txBox="1"/>
          <p:nvPr/>
        </p:nvSpPr>
        <p:spPr>
          <a:xfrm>
            <a:off x="1417320" y="2542032"/>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Veille scientifique et choix technologiques</a:t>
            </a:r>
            <a:endParaRPr lang="en-US" sz="1500" dirty="0"/>
          </a:p>
        </p:txBody>
      </p:sp>
      <p:sp>
        <p:nvSpPr>
          <p:cNvPr id="9" name="Shape 7"/>
          <p:cNvSpPr/>
          <p:nvPr/>
        </p:nvSpPr>
        <p:spPr>
          <a:xfrm>
            <a:off x="548640" y="3145536"/>
            <a:ext cx="5074920" cy="0"/>
          </a:xfrm>
          <a:prstGeom prst="line">
            <a:avLst/>
          </a:prstGeom>
          <a:noFill/>
          <a:ln w="12700">
            <a:solidFill>
              <a:srgbClr val="E2E4EE"/>
            </a:solidFill>
            <a:prstDash val="solid"/>
          </a:ln>
        </p:spPr>
      </p:sp>
      <p:sp>
        <p:nvSpPr>
          <p:cNvPr id="10" name="Text 8"/>
          <p:cNvSpPr txBox="1"/>
          <p:nvPr/>
        </p:nvSpPr>
        <p:spPr>
          <a:xfrm>
            <a:off x="548640" y="3255264"/>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03</a:t>
            </a:r>
            <a:endParaRPr lang="en-US" sz="2600" dirty="0"/>
          </a:p>
        </p:txBody>
      </p:sp>
      <p:sp>
        <p:nvSpPr>
          <p:cNvPr id="11" name="Text 9"/>
          <p:cNvSpPr txBox="1"/>
          <p:nvPr/>
        </p:nvSpPr>
        <p:spPr>
          <a:xfrm>
            <a:off x="1417320" y="3255264"/>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Donnees et analyse exploratoire</a:t>
            </a:r>
            <a:endParaRPr lang="en-US" sz="1500" dirty="0"/>
          </a:p>
        </p:txBody>
      </p:sp>
      <p:sp>
        <p:nvSpPr>
          <p:cNvPr id="12" name="Shape 10"/>
          <p:cNvSpPr/>
          <p:nvPr/>
        </p:nvSpPr>
        <p:spPr>
          <a:xfrm>
            <a:off x="548640" y="3858768"/>
            <a:ext cx="5074920" cy="0"/>
          </a:xfrm>
          <a:prstGeom prst="line">
            <a:avLst/>
          </a:prstGeom>
          <a:noFill/>
          <a:ln w="12700">
            <a:solidFill>
              <a:srgbClr val="E2E4EE"/>
            </a:solidFill>
            <a:prstDash val="solid"/>
          </a:ln>
        </p:spPr>
      </p:sp>
      <p:sp>
        <p:nvSpPr>
          <p:cNvPr id="13" name="Text 11"/>
          <p:cNvSpPr txBox="1"/>
          <p:nvPr/>
        </p:nvSpPr>
        <p:spPr>
          <a:xfrm>
            <a:off x="548640" y="3968496"/>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04</a:t>
            </a:r>
            <a:endParaRPr lang="en-US" sz="2600" dirty="0"/>
          </a:p>
        </p:txBody>
      </p:sp>
      <p:sp>
        <p:nvSpPr>
          <p:cNvPr id="14" name="Text 12"/>
          <p:cNvSpPr txBox="1"/>
          <p:nvPr/>
        </p:nvSpPr>
        <p:spPr>
          <a:xfrm>
            <a:off x="1417320" y="3968496"/>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Methodologie : pretraitement, features, pipeline</a:t>
            </a:r>
            <a:endParaRPr lang="en-US" sz="1500" dirty="0"/>
          </a:p>
        </p:txBody>
      </p:sp>
      <p:sp>
        <p:nvSpPr>
          <p:cNvPr id="15" name="Shape 13"/>
          <p:cNvSpPr/>
          <p:nvPr/>
        </p:nvSpPr>
        <p:spPr>
          <a:xfrm>
            <a:off x="548640" y="4572000"/>
            <a:ext cx="5074920" cy="0"/>
          </a:xfrm>
          <a:prstGeom prst="line">
            <a:avLst/>
          </a:prstGeom>
          <a:noFill/>
          <a:ln w="12700">
            <a:solidFill>
              <a:srgbClr val="E2E4EE"/>
            </a:solidFill>
            <a:prstDash val="solid"/>
          </a:ln>
        </p:spPr>
      </p:sp>
      <p:sp>
        <p:nvSpPr>
          <p:cNvPr id="16" name="Text 14"/>
          <p:cNvSpPr txBox="1"/>
          <p:nvPr/>
        </p:nvSpPr>
        <p:spPr>
          <a:xfrm>
            <a:off x="6172200" y="1828800"/>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05</a:t>
            </a:r>
            <a:endParaRPr lang="en-US" sz="2600" dirty="0"/>
          </a:p>
        </p:txBody>
      </p:sp>
      <p:sp>
        <p:nvSpPr>
          <p:cNvPr id="17" name="Text 15"/>
          <p:cNvSpPr txBox="1"/>
          <p:nvPr/>
        </p:nvSpPr>
        <p:spPr>
          <a:xfrm>
            <a:off x="7040880" y="1828800"/>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Comparaison de 12 modeles et optimisation</a:t>
            </a:r>
            <a:endParaRPr lang="en-US" sz="1500" dirty="0"/>
          </a:p>
        </p:txBody>
      </p:sp>
      <p:sp>
        <p:nvSpPr>
          <p:cNvPr id="18" name="Shape 16"/>
          <p:cNvSpPr/>
          <p:nvPr/>
        </p:nvSpPr>
        <p:spPr>
          <a:xfrm>
            <a:off x="6172200" y="2432304"/>
            <a:ext cx="5074920" cy="0"/>
          </a:xfrm>
          <a:prstGeom prst="line">
            <a:avLst/>
          </a:prstGeom>
          <a:noFill/>
          <a:ln w="12700">
            <a:solidFill>
              <a:srgbClr val="E2E4EE"/>
            </a:solidFill>
            <a:prstDash val="solid"/>
          </a:ln>
        </p:spPr>
      </p:sp>
      <p:sp>
        <p:nvSpPr>
          <p:cNvPr id="19" name="Text 17"/>
          <p:cNvSpPr txBox="1"/>
          <p:nvPr/>
        </p:nvSpPr>
        <p:spPr>
          <a:xfrm>
            <a:off x="6172200" y="2542032"/>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06</a:t>
            </a:r>
            <a:endParaRPr lang="en-US" sz="2600" dirty="0"/>
          </a:p>
        </p:txBody>
      </p:sp>
      <p:sp>
        <p:nvSpPr>
          <p:cNvPr id="20" name="Text 18"/>
          <p:cNvSpPr txBox="1"/>
          <p:nvPr/>
        </p:nvSpPr>
        <p:spPr>
          <a:xfrm>
            <a:off x="7040880" y="2542032"/>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Resultats, analyse critique et demonstration</a:t>
            </a:r>
            <a:endParaRPr lang="en-US" sz="1500" dirty="0"/>
          </a:p>
        </p:txBody>
      </p:sp>
      <p:sp>
        <p:nvSpPr>
          <p:cNvPr id="21" name="Shape 19"/>
          <p:cNvSpPr/>
          <p:nvPr/>
        </p:nvSpPr>
        <p:spPr>
          <a:xfrm>
            <a:off x="6172200" y="3145536"/>
            <a:ext cx="5074920" cy="0"/>
          </a:xfrm>
          <a:prstGeom prst="line">
            <a:avLst/>
          </a:prstGeom>
          <a:noFill/>
          <a:ln w="12700">
            <a:solidFill>
              <a:srgbClr val="E2E4EE"/>
            </a:solidFill>
            <a:prstDash val="solid"/>
          </a:ln>
        </p:spPr>
      </p:sp>
      <p:sp>
        <p:nvSpPr>
          <p:cNvPr id="22" name="Text 20"/>
          <p:cNvSpPr txBox="1"/>
          <p:nvPr/>
        </p:nvSpPr>
        <p:spPr>
          <a:xfrm>
            <a:off x="6172200" y="3255264"/>
            <a:ext cx="822960" cy="576072"/>
          </a:xfrm>
          <a:prstGeom prst="rect">
            <a:avLst/>
          </a:prstGeom>
          <a:noFill/>
          <a:ln/>
        </p:spPr>
        <p:txBody>
          <a:bodyPr wrap="square" lIns="0" tIns="0" rIns="0" bIns="0" rtlCol="0" anchor="ctr"/>
          <a:lstStyle/>
          <a:p>
            <a:pPr indent="0" marL="0">
              <a:buNone/>
            </a:pPr>
            <a:r>
              <a:rPr lang="en-US" sz="2600" b="1" dirty="0">
                <a:solidFill>
                  <a:srgbClr val="F96167"/>
                </a:solidFill>
                <a:latin typeface="Cambria" pitchFamily="34" charset="0"/>
                <a:ea typeface="Cambria" pitchFamily="34" charset="-122"/>
                <a:cs typeface="Cambria" pitchFamily="34" charset="-120"/>
              </a:rPr>
              <a:t>07</a:t>
            </a:r>
            <a:endParaRPr lang="en-US" sz="2600" dirty="0"/>
          </a:p>
        </p:txBody>
      </p:sp>
      <p:sp>
        <p:nvSpPr>
          <p:cNvPr id="23" name="Text 21"/>
          <p:cNvSpPr txBox="1"/>
          <p:nvPr/>
        </p:nvSpPr>
        <p:spPr>
          <a:xfrm>
            <a:off x="7040880" y="3255264"/>
            <a:ext cx="4206240" cy="576072"/>
          </a:xfrm>
          <a:prstGeom prst="rect">
            <a:avLst/>
          </a:prstGeom>
          <a:noFill/>
          <a:ln/>
        </p:spPr>
        <p:txBody>
          <a:bodyPr wrap="square" lIns="0" tIns="0" rIns="0" bIns="0" rtlCol="0" anchor="ctr"/>
          <a:lstStyle/>
          <a:p>
            <a:pPr indent="0" marL="0">
              <a:buNone/>
            </a:pPr>
            <a:r>
              <a:rPr lang="en-US" sz="1500" dirty="0">
                <a:solidFill>
                  <a:srgbClr val="1B1F3B"/>
                </a:solidFill>
                <a:latin typeface="Calibri" pitchFamily="34" charset="0"/>
                <a:ea typeface="Calibri" pitchFamily="34" charset="-122"/>
                <a:cs typeface="Calibri" pitchFamily="34" charset="-120"/>
              </a:rPr>
              <a:t>Difficultes, conclusion et perspectives</a:t>
            </a:r>
            <a:endParaRPr lang="en-US" sz="1500" dirty="0"/>
          </a:p>
        </p:txBody>
      </p:sp>
      <p:sp>
        <p:nvSpPr>
          <p:cNvPr id="24" name="Shape 22"/>
          <p:cNvSpPr/>
          <p:nvPr/>
        </p:nvSpPr>
        <p:spPr>
          <a:xfrm>
            <a:off x="6172200" y="3858768"/>
            <a:ext cx="5074920" cy="0"/>
          </a:xfrm>
          <a:prstGeom prst="line">
            <a:avLst/>
          </a:prstGeom>
          <a:noFill/>
          <a:ln w="12700">
            <a:solidFill>
              <a:srgbClr val="E2E4EE"/>
            </a:solidFill>
            <a:prstDash val="solid"/>
          </a:ln>
        </p:spPr>
      </p:sp>
      <p:sp>
        <p:nvSpPr>
          <p:cNvPr id="25" name="Text 23"/>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01 . INTRODUCTION</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Contexte et problematique</a:t>
            </a:r>
            <a:endParaRPr lang="en-US" sz="3200" dirty="0"/>
          </a:p>
        </p:txBody>
      </p:sp>
      <p:sp>
        <p:nvSpPr>
          <p:cNvPr id="4" name="Text 2"/>
          <p:cNvSpPr txBox="1"/>
          <p:nvPr/>
        </p:nvSpPr>
        <p:spPr>
          <a:xfrm>
            <a:off x="548640" y="1874520"/>
            <a:ext cx="6035040" cy="3931920"/>
          </a:xfrm>
          <a:prstGeom prst="rect">
            <a:avLst/>
          </a:prstGeom>
          <a:noFill/>
          <a:ln/>
        </p:spPr>
        <p:txBody>
          <a:bodyPr wrap="square" lIns="0" tIns="0" rIns="0" bIns="0" rtlCol="0" anchor="t"/>
          <a:lstStyle/>
          <a:p>
            <a:pPr marL="228600" indent="-228600">
              <a:spcAft>
                <a:spcPts val="1800"/>
              </a:spcAft>
              <a:buSzPct val="100000"/>
              <a:buChar char="●"/>
            </a:pPr>
            <a:r>
              <a:rPr lang="en-US" sz="1500" dirty="0">
                <a:solidFill>
                  <a:srgbClr val="1B1F3B"/>
                </a:solidFill>
                <a:latin typeface="Calibri" pitchFamily="34" charset="0"/>
                <a:ea typeface="Calibri" pitchFamily="34" charset="-122"/>
                <a:cs typeface="Calibri" pitchFamily="34" charset="-120"/>
              </a:rPr>
              <a:t>Airbnb : des dizaines de milliers d'annonces a New York, des prix tres heterogenes selon le quartier, le type de logement et la popularite de l'hote.</a:t>
            </a:r>
            <a:endParaRPr lang="en-US" sz="1500" dirty="0"/>
          </a:p>
          <a:p>
            <a:pPr marL="228600" indent="-228600">
              <a:spcAft>
                <a:spcPts val="1800"/>
              </a:spcAft>
              <a:buSzPct val="100000"/>
              <a:buChar char="●"/>
            </a:pPr>
            <a:r>
              <a:rPr lang="en-US" sz="1500" dirty="0">
                <a:solidFill>
                  <a:srgbClr val="1B1F3B"/>
                </a:solidFill>
                <a:latin typeface="Calibri" pitchFamily="34" charset="0"/>
                <a:ea typeface="Calibri" pitchFamily="34" charset="-122"/>
                <a:cs typeface="Calibri" pitchFamily="34" charset="-120"/>
              </a:rPr>
              <a:t>Un hote fixe son prix sans reference objective ; un voyageur ne sait pas si le tarif propose est coherent avec le marche local.</a:t>
            </a:r>
            <a:endParaRPr lang="en-US" sz="1500" dirty="0"/>
          </a:p>
          <a:p>
            <a:pPr marL="228600" indent="-228600">
              <a:spcAft>
                <a:spcPts val="1800"/>
              </a:spcAft>
              <a:buSzPct val="100000"/>
              <a:buChar char="●"/>
            </a:pPr>
            <a:r>
              <a:rPr lang="en-US" sz="1500" dirty="0">
                <a:solidFill>
                  <a:srgbClr val="1B1F3B"/>
                </a:solidFill>
                <a:latin typeface="Calibri" pitchFamily="34" charset="0"/>
                <a:ea typeface="Calibri" pitchFamily="34" charset="-122"/>
                <a:cs typeface="Calibri" pitchFamily="34" charset="-120"/>
              </a:rPr>
              <a:t>Question centrale : peut-on predire le prix d'une annonce a partir de ses seules caracteristiques structurelles et geographiques ?</a:t>
            </a:r>
            <a:endParaRPr lang="en-US" sz="1500" dirty="0"/>
          </a:p>
        </p:txBody>
      </p:sp>
      <p:sp>
        <p:nvSpPr>
          <p:cNvPr id="5" name="Shape 3"/>
          <p:cNvSpPr/>
          <p:nvPr/>
        </p:nvSpPr>
        <p:spPr>
          <a:xfrm>
            <a:off x="6858000" y="1874520"/>
            <a:ext cx="4754880" cy="1143000"/>
          </a:xfrm>
          <a:prstGeom prst="roundRect">
            <a:avLst>
              <a:gd name="adj" fmla="val 4800"/>
            </a:avLst>
          </a:prstGeom>
          <a:solidFill>
            <a:srgbClr val="F5F6FA"/>
          </a:solidFill>
          <a:ln/>
        </p:spPr>
      </p:sp>
      <p:sp>
        <p:nvSpPr>
          <p:cNvPr id="6" name="Text 4"/>
          <p:cNvSpPr txBox="1"/>
          <p:nvPr/>
        </p:nvSpPr>
        <p:spPr>
          <a:xfrm>
            <a:off x="7040880" y="1965960"/>
            <a:ext cx="4389120" cy="320040"/>
          </a:xfrm>
          <a:prstGeom prst="rect">
            <a:avLst/>
          </a:prstGeom>
          <a:noFill/>
          <a:ln/>
        </p:spPr>
        <p:txBody>
          <a:bodyPr wrap="square" lIns="0" tIns="0" rIns="0" bIns="0" rtlCol="0" anchor="ctr"/>
          <a:lstStyle/>
          <a:p>
            <a:pPr indent="0" marL="0">
              <a:buNone/>
            </a:pPr>
            <a:r>
              <a:rPr lang="en-US" sz="1400" b="1" dirty="0">
                <a:solidFill>
                  <a:srgbClr val="2F3C7E"/>
                </a:solidFill>
                <a:latin typeface="Calibri" pitchFamily="34" charset="0"/>
                <a:ea typeface="Calibri" pitchFamily="34" charset="-122"/>
                <a:cs typeface="Calibri" pitchFamily="34" charset="-120"/>
              </a:rPr>
              <a:t>Cardinalite elevee</a:t>
            </a:r>
            <a:endParaRPr lang="en-US" sz="1400" dirty="0"/>
          </a:p>
        </p:txBody>
      </p:sp>
      <p:sp>
        <p:nvSpPr>
          <p:cNvPr id="7" name="Text 5"/>
          <p:cNvSpPr txBox="1"/>
          <p:nvPr/>
        </p:nvSpPr>
        <p:spPr>
          <a:xfrm>
            <a:off x="7040880" y="2313432"/>
            <a:ext cx="4389120" cy="6400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221 quartiers (neighbourhood) a encoder sans exploser la dimension</a:t>
            </a:r>
            <a:endParaRPr lang="en-US" sz="1200" dirty="0"/>
          </a:p>
        </p:txBody>
      </p:sp>
      <p:sp>
        <p:nvSpPr>
          <p:cNvPr id="8" name="Shape 6"/>
          <p:cNvSpPr/>
          <p:nvPr/>
        </p:nvSpPr>
        <p:spPr>
          <a:xfrm>
            <a:off x="6858000" y="3200400"/>
            <a:ext cx="4754880" cy="1143000"/>
          </a:xfrm>
          <a:prstGeom prst="roundRect">
            <a:avLst>
              <a:gd name="adj" fmla="val 4800"/>
            </a:avLst>
          </a:prstGeom>
          <a:solidFill>
            <a:srgbClr val="F5F6FA"/>
          </a:solidFill>
          <a:ln/>
        </p:spPr>
      </p:sp>
      <p:sp>
        <p:nvSpPr>
          <p:cNvPr id="9" name="Text 7"/>
          <p:cNvSpPr txBox="1"/>
          <p:nvPr/>
        </p:nvSpPr>
        <p:spPr>
          <a:xfrm>
            <a:off x="7040880" y="3291840"/>
            <a:ext cx="4389120" cy="320040"/>
          </a:xfrm>
          <a:prstGeom prst="rect">
            <a:avLst/>
          </a:prstGeom>
          <a:noFill/>
          <a:ln/>
        </p:spPr>
        <p:txBody>
          <a:bodyPr wrap="square" lIns="0" tIns="0" rIns="0" bIns="0" rtlCol="0" anchor="ctr"/>
          <a:lstStyle/>
          <a:p>
            <a:pPr indent="0" marL="0">
              <a:buNone/>
            </a:pPr>
            <a:r>
              <a:rPr lang="en-US" sz="1400" b="1" dirty="0">
                <a:solidFill>
                  <a:srgbClr val="2F3C7E"/>
                </a:solidFill>
                <a:latin typeface="Calibri" pitchFamily="34" charset="0"/>
                <a:ea typeface="Calibri" pitchFamily="34" charset="-122"/>
                <a:cs typeface="Calibri" pitchFamily="34" charset="-120"/>
              </a:rPr>
              <a:t>Non-linearite</a:t>
            </a:r>
            <a:endParaRPr lang="en-US" sz="1400" dirty="0"/>
          </a:p>
        </p:txBody>
      </p:sp>
      <p:sp>
        <p:nvSpPr>
          <p:cNvPr id="10" name="Text 8"/>
          <p:cNvSpPr txBox="1"/>
          <p:nvPr/>
        </p:nvSpPr>
        <p:spPr>
          <a:xfrm>
            <a:off x="7040880" y="3639312"/>
            <a:ext cx="4389120" cy="6400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Le prix n'evolue pas lineairement avec la distance ou le nombre d'avis</a:t>
            </a:r>
            <a:endParaRPr lang="en-US" sz="1200" dirty="0"/>
          </a:p>
        </p:txBody>
      </p:sp>
      <p:sp>
        <p:nvSpPr>
          <p:cNvPr id="11" name="Shape 9"/>
          <p:cNvSpPr/>
          <p:nvPr/>
        </p:nvSpPr>
        <p:spPr>
          <a:xfrm>
            <a:off x="6858000" y="4526280"/>
            <a:ext cx="4754880" cy="1143000"/>
          </a:xfrm>
          <a:prstGeom prst="roundRect">
            <a:avLst>
              <a:gd name="adj" fmla="val 4800"/>
            </a:avLst>
          </a:prstGeom>
          <a:solidFill>
            <a:srgbClr val="F5F6FA"/>
          </a:solidFill>
          <a:ln/>
        </p:spPr>
      </p:sp>
      <p:sp>
        <p:nvSpPr>
          <p:cNvPr id="12" name="Text 10"/>
          <p:cNvSpPr txBox="1"/>
          <p:nvPr/>
        </p:nvSpPr>
        <p:spPr>
          <a:xfrm>
            <a:off x="7040880" y="4617720"/>
            <a:ext cx="4389120" cy="320040"/>
          </a:xfrm>
          <a:prstGeom prst="rect">
            <a:avLst/>
          </a:prstGeom>
          <a:noFill/>
          <a:ln/>
        </p:spPr>
        <p:txBody>
          <a:bodyPr wrap="square" lIns="0" tIns="0" rIns="0" bIns="0" rtlCol="0" anchor="ctr"/>
          <a:lstStyle/>
          <a:p>
            <a:pPr indent="0" marL="0">
              <a:buNone/>
            </a:pPr>
            <a:r>
              <a:rPr lang="en-US" sz="1400" b="1" dirty="0">
                <a:solidFill>
                  <a:srgbClr val="2F3C7E"/>
                </a:solidFill>
                <a:latin typeface="Calibri" pitchFamily="34" charset="0"/>
                <a:ea typeface="Calibri" pitchFamily="34" charset="-122"/>
                <a:cs typeface="Calibri" pitchFamily="34" charset="-120"/>
              </a:rPr>
              <a:t>Information manquante</a:t>
            </a:r>
            <a:endParaRPr lang="en-US" sz="1400" dirty="0"/>
          </a:p>
        </p:txBody>
      </p:sp>
      <p:sp>
        <p:nvSpPr>
          <p:cNvPr id="13" name="Text 11"/>
          <p:cNvSpPr txBox="1"/>
          <p:nvPr/>
        </p:nvSpPr>
        <p:spPr>
          <a:xfrm>
            <a:off x="7040880" y="4965192"/>
            <a:ext cx="4389120" cy="6400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Pas de photos ni de texte : une partie du prix reste inexpliquee</a:t>
            </a:r>
            <a:endParaRPr lang="en-US" sz="1200" dirty="0"/>
          </a:p>
        </p:txBody>
      </p:sp>
      <p:sp>
        <p:nvSpPr>
          <p:cNvPr id="14" name="Text 12"/>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01 . INTRODUCTION</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Objectifs du projet</a:t>
            </a:r>
            <a:endParaRPr lang="en-US" sz="3200" dirty="0"/>
          </a:p>
        </p:txBody>
      </p:sp>
      <p:sp>
        <p:nvSpPr>
          <p:cNvPr id="4" name="Shape 2"/>
          <p:cNvSpPr/>
          <p:nvPr/>
        </p:nvSpPr>
        <p:spPr>
          <a:xfrm>
            <a:off x="548640" y="1783080"/>
            <a:ext cx="457200" cy="457200"/>
          </a:xfrm>
          <a:prstGeom prst="ellipse">
            <a:avLst/>
          </a:prstGeom>
          <a:solidFill>
            <a:srgbClr val="2F3C7E"/>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34440" y="1764792"/>
            <a:ext cx="4846320" cy="50292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Pretraiter rigoureusement les donnees</a:t>
            </a:r>
            <a:endParaRPr lang="en-US" sz="1400" dirty="0"/>
          </a:p>
        </p:txBody>
      </p:sp>
      <p:sp>
        <p:nvSpPr>
          <p:cNvPr id="7" name="Text 5"/>
          <p:cNvSpPr txBox="1"/>
          <p:nvPr/>
        </p:nvSpPr>
        <p:spPr>
          <a:xfrm>
            <a:off x="6263640" y="1764792"/>
            <a:ext cx="539496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valeurs aberrantes, valeurs manquantes, feature engineering, encodage adapte</a:t>
            </a:r>
            <a:endParaRPr lang="en-US" sz="1250" dirty="0"/>
          </a:p>
        </p:txBody>
      </p:sp>
      <p:sp>
        <p:nvSpPr>
          <p:cNvPr id="8" name="Shape 6"/>
          <p:cNvSpPr/>
          <p:nvPr/>
        </p:nvSpPr>
        <p:spPr>
          <a:xfrm>
            <a:off x="548640" y="2624328"/>
            <a:ext cx="457200" cy="457200"/>
          </a:xfrm>
          <a:prstGeom prst="ellipse">
            <a:avLst/>
          </a:prstGeom>
          <a:solidFill>
            <a:srgbClr val="2F3C7E"/>
          </a:solidFill>
          <a:ln/>
        </p:spPr>
      </p:sp>
      <p:sp>
        <p:nvSpPr>
          <p:cNvPr id="9" name="Text 7"/>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234440" y="2606040"/>
            <a:ext cx="4846320" cy="50292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Comparer au moins 10 algorithmes</a:t>
            </a:r>
            <a:endParaRPr lang="en-US" sz="1400" dirty="0"/>
          </a:p>
        </p:txBody>
      </p:sp>
      <p:sp>
        <p:nvSpPr>
          <p:cNvPr id="11" name="Text 9"/>
          <p:cNvSpPr txBox="1"/>
          <p:nvPr/>
        </p:nvSpPr>
        <p:spPr>
          <a:xfrm>
            <a:off x="6263640" y="2606040"/>
            <a:ext cx="539496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12 modeles testes : lineaires, ensembles d'arbres, SVR, reseau de neurones</a:t>
            </a:r>
            <a:endParaRPr lang="en-US" sz="1250" dirty="0"/>
          </a:p>
        </p:txBody>
      </p:sp>
      <p:sp>
        <p:nvSpPr>
          <p:cNvPr id="12" name="Shape 10"/>
          <p:cNvSpPr/>
          <p:nvPr/>
        </p:nvSpPr>
        <p:spPr>
          <a:xfrm>
            <a:off x="548640" y="3465576"/>
            <a:ext cx="457200" cy="457200"/>
          </a:xfrm>
          <a:prstGeom prst="ellipse">
            <a:avLst/>
          </a:prstGeom>
          <a:solidFill>
            <a:srgbClr val="2F3C7E"/>
          </a:solidFill>
          <a:ln/>
        </p:spPr>
      </p:sp>
      <p:sp>
        <p:nvSpPr>
          <p:cNvPr id="13" name="Text 11"/>
          <p:cNvSpPr txBox="1"/>
          <p:nvPr/>
        </p:nvSpPr>
        <p:spPr>
          <a:xfrm>
            <a:off x="548640" y="34655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34440" y="3447288"/>
            <a:ext cx="4846320" cy="50292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Optimiser les hyperparametres</a:t>
            </a:r>
            <a:endParaRPr lang="en-US" sz="1400" dirty="0"/>
          </a:p>
        </p:txBody>
      </p:sp>
      <p:sp>
        <p:nvSpPr>
          <p:cNvPr id="15" name="Text 13"/>
          <p:cNvSpPr txBox="1"/>
          <p:nvPr/>
        </p:nvSpPr>
        <p:spPr>
          <a:xfrm>
            <a:off x="6263640" y="3447288"/>
            <a:ext cx="539496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RandomizedSearchCV sur les 3 meilleurs modeles</a:t>
            </a:r>
            <a:endParaRPr lang="en-US" sz="1250" dirty="0"/>
          </a:p>
        </p:txBody>
      </p:sp>
      <p:sp>
        <p:nvSpPr>
          <p:cNvPr id="16" name="Shape 14"/>
          <p:cNvSpPr/>
          <p:nvPr/>
        </p:nvSpPr>
        <p:spPr>
          <a:xfrm>
            <a:off x="548640" y="4306824"/>
            <a:ext cx="457200" cy="457200"/>
          </a:xfrm>
          <a:prstGeom prst="ellipse">
            <a:avLst/>
          </a:prstGeom>
          <a:solidFill>
            <a:srgbClr val="2F3C7E"/>
          </a:solidFill>
          <a:ln/>
        </p:spPr>
      </p:sp>
      <p:sp>
        <p:nvSpPr>
          <p:cNvPr id="17" name="Text 15"/>
          <p:cNvSpPr txBox="1"/>
          <p:nvPr/>
        </p:nvSpPr>
        <p:spPr>
          <a:xfrm>
            <a:off x="548640" y="43068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34440" y="4288536"/>
            <a:ext cx="4846320" cy="50292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Evaluer avec au moins 4 metriques</a:t>
            </a:r>
            <a:endParaRPr lang="en-US" sz="1400" dirty="0"/>
          </a:p>
        </p:txBody>
      </p:sp>
      <p:sp>
        <p:nvSpPr>
          <p:cNvPr id="19" name="Text 17"/>
          <p:cNvSpPr txBox="1"/>
          <p:nvPr/>
        </p:nvSpPr>
        <p:spPr>
          <a:xfrm>
            <a:off x="6263640" y="4288536"/>
            <a:ext cx="539496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RMSE, MAE, R2, MAPE + validation croisee a 5 plis</a:t>
            </a:r>
            <a:endParaRPr lang="en-US" sz="1250" dirty="0"/>
          </a:p>
        </p:txBody>
      </p:sp>
      <p:sp>
        <p:nvSpPr>
          <p:cNvPr id="20" name="Shape 18"/>
          <p:cNvSpPr/>
          <p:nvPr/>
        </p:nvSpPr>
        <p:spPr>
          <a:xfrm>
            <a:off x="548640" y="5148072"/>
            <a:ext cx="457200" cy="457200"/>
          </a:xfrm>
          <a:prstGeom prst="ellipse">
            <a:avLst/>
          </a:prstGeom>
          <a:solidFill>
            <a:srgbClr val="2F3C7E"/>
          </a:solidFill>
          <a:ln/>
        </p:spPr>
      </p:sp>
      <p:sp>
        <p:nvSpPr>
          <p:cNvPr id="21" name="Text 19"/>
          <p:cNvSpPr txBox="1"/>
          <p:nvPr/>
        </p:nvSpPr>
        <p:spPr>
          <a:xfrm>
            <a:off x="548640" y="5148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1234440" y="5129784"/>
            <a:ext cx="4846320" cy="50292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Construire une interface graphique</a:t>
            </a:r>
            <a:endParaRPr lang="en-US" sz="1400" dirty="0"/>
          </a:p>
        </p:txBody>
      </p:sp>
      <p:sp>
        <p:nvSpPr>
          <p:cNvPr id="23" name="Text 21"/>
          <p:cNvSpPr txBox="1"/>
          <p:nvPr/>
        </p:nvSpPr>
        <p:spPr>
          <a:xfrm>
            <a:off x="6263640" y="5129784"/>
            <a:ext cx="5394960" cy="5029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exploration, entrainement, prediction en temps reel avec carte</a:t>
            </a:r>
            <a:endParaRPr lang="en-US" sz="1250" dirty="0"/>
          </a:p>
        </p:txBody>
      </p:sp>
      <p:sp>
        <p:nvSpPr>
          <p:cNvPr id="24" name="Text 22"/>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02 . VEILLE SCIENTIFIQUE</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Etat de l'art et choix technologiques</a:t>
            </a:r>
            <a:endParaRPr lang="en-US" sz="3200" dirty="0"/>
          </a:p>
        </p:txBody>
      </p:sp>
      <p:sp>
        <p:nvSpPr>
          <p:cNvPr id="4" name="Text 2"/>
          <p:cNvSpPr txBox="1"/>
          <p:nvPr/>
        </p:nvSpPr>
        <p:spPr>
          <a:xfrm>
            <a:off x="548640" y="1691640"/>
            <a:ext cx="5394960" cy="320040"/>
          </a:xfrm>
          <a:prstGeom prst="rect">
            <a:avLst/>
          </a:prstGeom>
          <a:noFill/>
          <a:ln/>
        </p:spPr>
        <p:txBody>
          <a:bodyPr wrap="square" lIns="0" tIns="0" rIns="0" bIns="0" rtlCol="0" anchor="ctr"/>
          <a:lstStyle/>
          <a:p>
            <a:pPr indent="0" marL="0">
              <a:buNone/>
            </a:pPr>
            <a:r>
              <a:rPr lang="en-US" sz="1600" b="1" dirty="0">
                <a:solidFill>
                  <a:srgbClr val="2F3C7E"/>
                </a:solidFill>
                <a:latin typeface="Cambria" pitchFamily="34" charset="0"/>
                <a:ea typeface="Cambria" pitchFamily="34" charset="-122"/>
                <a:cs typeface="Cambria" pitchFamily="34" charset="-120"/>
              </a:rPr>
              <a:t>Revue de littérature</a:t>
            </a:r>
            <a:endParaRPr lang="en-US" sz="1600" dirty="0"/>
          </a:p>
        </p:txBody>
      </p:sp>
      <p:sp>
        <p:nvSpPr>
          <p:cNvPr id="5" name="Text 3"/>
          <p:cNvSpPr txBox="1"/>
          <p:nvPr/>
        </p:nvSpPr>
        <p:spPr>
          <a:xfrm>
            <a:off x="548640" y="2057400"/>
            <a:ext cx="5394960" cy="3931920"/>
          </a:xfrm>
          <a:prstGeom prst="rect">
            <a:avLst/>
          </a:prstGeom>
          <a:noFill/>
          <a:ln/>
        </p:spPr>
        <p:txBody>
          <a:bodyPr wrap="square" lIns="0" tIns="0" rIns="0" bIns="0" rtlCol="0" anchor="t"/>
          <a:lstStyle/>
          <a:p>
            <a:pPr marL="228600" indent="-228600">
              <a:spcAft>
                <a:spcPts val="1400"/>
              </a:spcAft>
              <a:buSzPct val="100000"/>
              <a:buChar char="●"/>
            </a:pPr>
            <a:r>
              <a:rPr lang="en-US" sz="1250" dirty="0">
                <a:solidFill>
                  <a:srgbClr val="1B1F3B"/>
                </a:solidFill>
                <a:latin typeface="Calibri" pitchFamily="34" charset="0"/>
                <a:ea typeface="Calibri" pitchFamily="34" charset="-122"/>
                <a:cs typeface="Calibri" pitchFamily="34" charset="-120"/>
              </a:rPr>
              <a:t>Régression hédonique classique : simple mais ne capture pas les interactions (ex. l'effet du quartier dépend du type de logement).</a:t>
            </a:r>
            <a:endParaRPr lang="en-US" sz="1250" dirty="0"/>
          </a:p>
          <a:p>
            <a:pPr marL="228600" indent="-228600">
              <a:spcAft>
                <a:spcPts val="1400"/>
              </a:spcAft>
              <a:buSzPct val="100000"/>
              <a:buChar char="●"/>
            </a:pPr>
            <a:r>
              <a:rPr lang="en-US" sz="1250" dirty="0">
                <a:solidFill>
                  <a:srgbClr val="1B1F3B"/>
                </a:solidFill>
                <a:latin typeface="Calibri" pitchFamily="34" charset="0"/>
                <a:ea typeface="Calibri" pitchFamily="34" charset="-122"/>
                <a:cs typeface="Calibri" pitchFamily="34" charset="-120"/>
              </a:rPr>
              <a:t>Breiman (2001, Random Forest) et Chen &amp; Guestrin (2016, XGBoost) : les ensembles d'arbres dominent sur données tabulaires.</a:t>
            </a:r>
            <a:endParaRPr lang="en-US" sz="1250" dirty="0"/>
          </a:p>
          <a:p>
            <a:pPr marL="228600" indent="-228600">
              <a:spcAft>
                <a:spcPts val="1400"/>
              </a:spcAft>
              <a:buSzPct val="100000"/>
              <a:buChar char="●"/>
            </a:pPr>
            <a:r>
              <a:rPr lang="en-US" sz="1250" dirty="0">
                <a:solidFill>
                  <a:srgbClr val="1B1F3B"/>
                </a:solidFill>
                <a:latin typeface="Calibri" pitchFamily="34" charset="0"/>
                <a:ea typeface="Calibri" pitchFamily="34" charset="-122"/>
                <a:cs typeface="Calibri" pitchFamily="34" charset="-120"/>
              </a:rPr>
              <a:t>Littérature sur ce même dataset : R² généralement entre 0,5 et 0,65 sans variables textuelles/visuelles — confirme la limite structurelle attendue.</a:t>
            </a:r>
            <a:endParaRPr lang="en-US" sz="1250" dirty="0"/>
          </a:p>
        </p:txBody>
      </p:sp>
      <p:sp>
        <p:nvSpPr>
          <p:cNvPr id="6" name="Text 4"/>
          <p:cNvSpPr txBox="1"/>
          <p:nvPr/>
        </p:nvSpPr>
        <p:spPr>
          <a:xfrm>
            <a:off x="6263640" y="1691640"/>
            <a:ext cx="5394960" cy="320040"/>
          </a:xfrm>
          <a:prstGeom prst="rect">
            <a:avLst/>
          </a:prstGeom>
          <a:noFill/>
          <a:ln/>
        </p:spPr>
        <p:txBody>
          <a:bodyPr wrap="square" lIns="0" tIns="0" rIns="0" bIns="0" rtlCol="0" anchor="ctr"/>
          <a:lstStyle/>
          <a:p>
            <a:pPr indent="0" marL="0">
              <a:buNone/>
            </a:pPr>
            <a:r>
              <a:rPr lang="en-US" sz="1600" b="1" dirty="0">
                <a:solidFill>
                  <a:srgbClr val="2F3C7E"/>
                </a:solidFill>
                <a:latin typeface="Cambria" pitchFamily="34" charset="0"/>
                <a:ea typeface="Cambria" pitchFamily="34" charset="-122"/>
                <a:cs typeface="Cambria" pitchFamily="34" charset="-120"/>
              </a:rPr>
              <a:t>Technologies retenues</a:t>
            </a:r>
            <a:endParaRPr lang="en-US" sz="1600" dirty="0"/>
          </a:p>
        </p:txBody>
      </p:sp>
      <p:sp>
        <p:nvSpPr>
          <p:cNvPr id="7" name="Shape 5"/>
          <p:cNvSpPr/>
          <p:nvPr/>
        </p:nvSpPr>
        <p:spPr>
          <a:xfrm>
            <a:off x="6263640" y="2103120"/>
            <a:ext cx="384048" cy="384048"/>
          </a:xfrm>
          <a:prstGeom prst="ellipse">
            <a:avLst/>
          </a:prstGeom>
          <a:solidFill>
            <a:srgbClr val="F96167"/>
          </a:solidFill>
          <a:ln/>
        </p:spPr>
      </p:sp>
      <p:sp>
        <p:nvSpPr>
          <p:cNvPr id="8" name="Text 6"/>
          <p:cNvSpPr txBox="1"/>
          <p:nvPr/>
        </p:nvSpPr>
        <p:spPr>
          <a:xfrm>
            <a:off x="62636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Text 7"/>
          <p:cNvSpPr txBox="1"/>
          <p:nvPr/>
        </p:nvSpPr>
        <p:spPr>
          <a:xfrm>
            <a:off x="6812280" y="2075688"/>
            <a:ext cx="4846320" cy="320040"/>
          </a:xfrm>
          <a:prstGeom prst="rect">
            <a:avLst/>
          </a:prstGeom>
          <a:noFill/>
          <a:ln/>
        </p:spPr>
        <p:txBody>
          <a:bodyPr wrap="square" lIns="0" tIns="0" rIns="0" bIns="0" rtlCol="0" anchor="ctr"/>
          <a:lstStyle/>
          <a:p>
            <a:pPr indent="0" marL="0">
              <a:buNone/>
            </a:pPr>
            <a:r>
              <a:rPr lang="en-US" sz="1300" b="1" dirty="0">
                <a:solidFill>
                  <a:srgbClr val="1B1F3B"/>
                </a:solidFill>
                <a:latin typeface="Calibri" pitchFamily="34" charset="0"/>
                <a:ea typeface="Calibri" pitchFamily="34" charset="-122"/>
                <a:cs typeface="Calibri" pitchFamily="34" charset="-120"/>
              </a:rPr>
              <a:t>scikit-learn</a:t>
            </a:r>
            <a:endParaRPr lang="en-US" sz="1300" dirty="0"/>
          </a:p>
        </p:txBody>
      </p:sp>
      <p:sp>
        <p:nvSpPr>
          <p:cNvPr id="10" name="Text 8"/>
          <p:cNvSpPr txBox="1"/>
          <p:nvPr/>
        </p:nvSpPr>
        <p:spPr>
          <a:xfrm>
            <a:off x="6812280" y="2377440"/>
            <a:ext cx="484632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pipelines, 12 modeles, validation croisee — standard du secteur</a:t>
            </a:r>
            <a:endParaRPr lang="en-US" sz="1150" dirty="0"/>
          </a:p>
        </p:txBody>
      </p:sp>
      <p:sp>
        <p:nvSpPr>
          <p:cNvPr id="11" name="Shape 9"/>
          <p:cNvSpPr/>
          <p:nvPr/>
        </p:nvSpPr>
        <p:spPr>
          <a:xfrm>
            <a:off x="6263640" y="3063240"/>
            <a:ext cx="384048" cy="384048"/>
          </a:xfrm>
          <a:prstGeom prst="ellipse">
            <a:avLst/>
          </a:prstGeom>
          <a:solidFill>
            <a:srgbClr val="F96167"/>
          </a:solidFill>
          <a:ln/>
        </p:spPr>
      </p:sp>
      <p:sp>
        <p:nvSpPr>
          <p:cNvPr id="12" name="Text 10"/>
          <p:cNvSpPr txBox="1"/>
          <p:nvPr/>
        </p:nvSpPr>
        <p:spPr>
          <a:xfrm>
            <a:off x="6263640" y="3063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6812280" y="3035808"/>
            <a:ext cx="4846320" cy="320040"/>
          </a:xfrm>
          <a:prstGeom prst="rect">
            <a:avLst/>
          </a:prstGeom>
          <a:noFill/>
          <a:ln/>
        </p:spPr>
        <p:txBody>
          <a:bodyPr wrap="square" lIns="0" tIns="0" rIns="0" bIns="0" rtlCol="0" anchor="ctr"/>
          <a:lstStyle/>
          <a:p>
            <a:pPr indent="0" marL="0">
              <a:buNone/>
            </a:pPr>
            <a:r>
              <a:rPr lang="en-US" sz="1300" b="1" dirty="0">
                <a:solidFill>
                  <a:srgbClr val="1B1F3B"/>
                </a:solidFill>
                <a:latin typeface="Calibri" pitchFamily="34" charset="0"/>
                <a:ea typeface="Calibri" pitchFamily="34" charset="-122"/>
                <a:cs typeface="Calibri" pitchFamily="34" charset="-120"/>
              </a:rPr>
              <a:t>XGBoost</a:t>
            </a:r>
            <a:endParaRPr lang="en-US" sz="1300" dirty="0"/>
          </a:p>
        </p:txBody>
      </p:sp>
      <p:sp>
        <p:nvSpPr>
          <p:cNvPr id="14" name="Text 12"/>
          <p:cNvSpPr txBox="1"/>
          <p:nvPr/>
        </p:nvSpPr>
        <p:spPr>
          <a:xfrm>
            <a:off x="6812280" y="3337560"/>
            <a:ext cx="484632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boosting, etat de l'art sur donnees tabulaires</a:t>
            </a:r>
            <a:endParaRPr lang="en-US" sz="1150" dirty="0"/>
          </a:p>
        </p:txBody>
      </p:sp>
      <p:sp>
        <p:nvSpPr>
          <p:cNvPr id="15" name="Shape 13"/>
          <p:cNvSpPr/>
          <p:nvPr/>
        </p:nvSpPr>
        <p:spPr>
          <a:xfrm>
            <a:off x="6263640" y="4023360"/>
            <a:ext cx="384048" cy="384048"/>
          </a:xfrm>
          <a:prstGeom prst="ellipse">
            <a:avLst/>
          </a:prstGeom>
          <a:solidFill>
            <a:srgbClr val="F96167"/>
          </a:solidFill>
          <a:ln/>
        </p:spPr>
      </p:sp>
      <p:sp>
        <p:nvSpPr>
          <p:cNvPr id="16" name="Text 14"/>
          <p:cNvSpPr txBox="1"/>
          <p:nvPr/>
        </p:nvSpPr>
        <p:spPr>
          <a:xfrm>
            <a:off x="626364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12280" y="3995928"/>
            <a:ext cx="4846320" cy="320040"/>
          </a:xfrm>
          <a:prstGeom prst="rect">
            <a:avLst/>
          </a:prstGeom>
          <a:noFill/>
          <a:ln/>
        </p:spPr>
        <p:txBody>
          <a:bodyPr wrap="square" lIns="0" tIns="0" rIns="0" bIns="0" rtlCol="0" anchor="ctr"/>
          <a:lstStyle/>
          <a:p>
            <a:pPr indent="0" marL="0">
              <a:buNone/>
            </a:pPr>
            <a:r>
              <a:rPr lang="en-US" sz="1300" b="1" dirty="0">
                <a:solidFill>
                  <a:srgbClr val="1B1F3B"/>
                </a:solidFill>
                <a:latin typeface="Calibri" pitchFamily="34" charset="0"/>
                <a:ea typeface="Calibri" pitchFamily="34" charset="-122"/>
                <a:cs typeface="Calibri" pitchFamily="34" charset="-120"/>
              </a:rPr>
              <a:t>Streamlit</a:t>
            </a:r>
            <a:endParaRPr lang="en-US" sz="1300" dirty="0"/>
          </a:p>
        </p:txBody>
      </p:sp>
      <p:sp>
        <p:nvSpPr>
          <p:cNvPr id="18" name="Text 16"/>
          <p:cNvSpPr txBox="1"/>
          <p:nvPr/>
        </p:nvSpPr>
        <p:spPr>
          <a:xfrm>
            <a:off x="6812280" y="4297680"/>
            <a:ext cx="484632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interface interactive en pur Python, rapide a developper</a:t>
            </a:r>
            <a:endParaRPr lang="en-US" sz="1150" dirty="0"/>
          </a:p>
        </p:txBody>
      </p:sp>
      <p:sp>
        <p:nvSpPr>
          <p:cNvPr id="19" name="Shape 17"/>
          <p:cNvSpPr/>
          <p:nvPr/>
        </p:nvSpPr>
        <p:spPr>
          <a:xfrm>
            <a:off x="6263640" y="4983480"/>
            <a:ext cx="384048" cy="384048"/>
          </a:xfrm>
          <a:prstGeom prst="ellipse">
            <a:avLst/>
          </a:prstGeom>
          <a:solidFill>
            <a:srgbClr val="F96167"/>
          </a:solidFill>
          <a:ln/>
        </p:spPr>
      </p:sp>
      <p:sp>
        <p:nvSpPr>
          <p:cNvPr id="20" name="Text 18"/>
          <p:cNvSpPr txBox="1"/>
          <p:nvPr/>
        </p:nvSpPr>
        <p:spPr>
          <a:xfrm>
            <a:off x="6263640" y="4983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1" name="Text 19"/>
          <p:cNvSpPr txBox="1"/>
          <p:nvPr/>
        </p:nvSpPr>
        <p:spPr>
          <a:xfrm>
            <a:off x="6812280" y="4956048"/>
            <a:ext cx="4846320" cy="320040"/>
          </a:xfrm>
          <a:prstGeom prst="rect">
            <a:avLst/>
          </a:prstGeom>
          <a:noFill/>
          <a:ln/>
        </p:spPr>
        <p:txBody>
          <a:bodyPr wrap="square" lIns="0" tIns="0" rIns="0" bIns="0" rtlCol="0" anchor="ctr"/>
          <a:lstStyle/>
          <a:p>
            <a:pPr indent="0" marL="0">
              <a:buNone/>
            </a:pPr>
            <a:r>
              <a:rPr lang="en-US" sz="1300" b="1" dirty="0">
                <a:solidFill>
                  <a:srgbClr val="1B1F3B"/>
                </a:solidFill>
                <a:latin typeface="Calibri" pitchFamily="34" charset="0"/>
                <a:ea typeface="Calibri" pitchFamily="34" charset="-122"/>
                <a:cs typeface="Calibri" pitchFamily="34" charset="-120"/>
              </a:rPr>
              <a:t>Folium</a:t>
            </a:r>
            <a:endParaRPr lang="en-US" sz="1300" dirty="0"/>
          </a:p>
        </p:txBody>
      </p:sp>
      <p:sp>
        <p:nvSpPr>
          <p:cNvPr id="22" name="Text 20"/>
          <p:cNvSpPr txBox="1"/>
          <p:nvPr/>
        </p:nvSpPr>
        <p:spPr>
          <a:xfrm>
            <a:off x="6812280" y="5257800"/>
            <a:ext cx="484632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seule librairie testee permettant de capter un clic utilisateur sur la carte</a:t>
            </a:r>
            <a:endParaRPr lang="en-US" sz="1150" dirty="0"/>
          </a:p>
        </p:txBody>
      </p:sp>
      <p:sp>
        <p:nvSpPr>
          <p:cNvPr id="23" name="Text 21"/>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F3C7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E795"/>
                </a:solidFill>
                <a:latin typeface="Calibri" pitchFamily="34" charset="0"/>
                <a:ea typeface="Calibri" pitchFamily="34" charset="-122"/>
                <a:cs typeface="Calibri" pitchFamily="34" charset="-120"/>
              </a:rPr>
              <a:t>03 . DONNEES</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Le jeu de donnees</a:t>
            </a:r>
            <a:endParaRPr lang="en-US" sz="3200" dirty="0"/>
          </a:p>
        </p:txBody>
      </p:sp>
      <p:sp>
        <p:nvSpPr>
          <p:cNvPr id="4" name="Text 2"/>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400" i="1" dirty="0">
                <a:solidFill>
                  <a:srgbClr val="CFD5EE"/>
                </a:solidFill>
                <a:latin typeface="Calibri" pitchFamily="34" charset="0"/>
                <a:ea typeface="Calibri" pitchFamily="34" charset="-122"/>
                <a:cs typeface="Calibri" pitchFamily="34" charset="-120"/>
              </a:rPr>
              <a:t>New York City Airbnb Open Data - Kaggle</a:t>
            </a:r>
            <a:endParaRPr lang="en-US" sz="1400" dirty="0"/>
          </a:p>
        </p:txBody>
      </p:sp>
      <p:sp>
        <p:nvSpPr>
          <p:cNvPr id="5" name="Shape 3"/>
          <p:cNvSpPr/>
          <p:nvPr/>
        </p:nvSpPr>
        <p:spPr>
          <a:xfrm>
            <a:off x="548640" y="2194560"/>
            <a:ext cx="3520440" cy="1371600"/>
          </a:xfrm>
          <a:prstGeom prst="roundRect">
            <a:avLst>
              <a:gd name="adj" fmla="val 5333"/>
            </a:avLst>
          </a:prstGeom>
          <a:solidFill>
            <a:srgbClr val="232C5E"/>
          </a:solidFill>
          <a:ln/>
        </p:spPr>
      </p:sp>
      <p:sp>
        <p:nvSpPr>
          <p:cNvPr id="6" name="Text 4"/>
          <p:cNvSpPr txBox="1"/>
          <p:nvPr/>
        </p:nvSpPr>
        <p:spPr>
          <a:xfrm>
            <a:off x="731520" y="2331720"/>
            <a:ext cx="3154680" cy="685800"/>
          </a:xfrm>
          <a:prstGeom prst="rect">
            <a:avLst/>
          </a:prstGeom>
          <a:noFill/>
          <a:ln/>
        </p:spPr>
        <p:txBody>
          <a:bodyPr wrap="square" lIns="0" tIns="0" rIns="0" bIns="0" rtlCol="0" anchor="ctr"/>
          <a:lstStyle/>
          <a:p>
            <a:pPr indent="0" marL="0">
              <a:buNone/>
            </a:pPr>
            <a:r>
              <a:rPr lang="en-US" sz="3000" b="1" dirty="0">
                <a:solidFill>
                  <a:srgbClr val="F96167"/>
                </a:solidFill>
                <a:latin typeface="Cambria" pitchFamily="34" charset="0"/>
                <a:ea typeface="Cambria" pitchFamily="34" charset="-122"/>
                <a:cs typeface="Cambria" pitchFamily="34" charset="-120"/>
              </a:rPr>
              <a:t>48 895</a:t>
            </a:r>
            <a:endParaRPr lang="en-US" sz="3000" dirty="0"/>
          </a:p>
        </p:txBody>
      </p:sp>
      <p:sp>
        <p:nvSpPr>
          <p:cNvPr id="7" name="Text 5"/>
          <p:cNvSpPr txBox="1"/>
          <p:nvPr/>
        </p:nvSpPr>
        <p:spPr>
          <a:xfrm>
            <a:off x="731520" y="3035808"/>
            <a:ext cx="315468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annonces brutes</a:t>
            </a:r>
            <a:endParaRPr lang="en-US" sz="1300" dirty="0"/>
          </a:p>
        </p:txBody>
      </p:sp>
      <p:sp>
        <p:nvSpPr>
          <p:cNvPr id="8" name="Shape 6"/>
          <p:cNvSpPr/>
          <p:nvPr/>
        </p:nvSpPr>
        <p:spPr>
          <a:xfrm>
            <a:off x="4343400" y="2194560"/>
            <a:ext cx="3520440" cy="1371600"/>
          </a:xfrm>
          <a:prstGeom prst="roundRect">
            <a:avLst>
              <a:gd name="adj" fmla="val 5333"/>
            </a:avLst>
          </a:prstGeom>
          <a:solidFill>
            <a:srgbClr val="232C5E"/>
          </a:solidFill>
          <a:ln/>
        </p:spPr>
      </p:sp>
      <p:sp>
        <p:nvSpPr>
          <p:cNvPr id="9" name="Text 7"/>
          <p:cNvSpPr txBox="1"/>
          <p:nvPr/>
        </p:nvSpPr>
        <p:spPr>
          <a:xfrm>
            <a:off x="4526280" y="2331720"/>
            <a:ext cx="3154680" cy="685800"/>
          </a:xfrm>
          <a:prstGeom prst="rect">
            <a:avLst/>
          </a:prstGeom>
          <a:noFill/>
          <a:ln/>
        </p:spPr>
        <p:txBody>
          <a:bodyPr wrap="square" lIns="0" tIns="0" rIns="0" bIns="0" rtlCol="0" anchor="ctr"/>
          <a:lstStyle/>
          <a:p>
            <a:pPr indent="0" marL="0">
              <a:buNone/>
            </a:pPr>
            <a:r>
              <a:rPr lang="en-US" sz="3000" b="1" dirty="0">
                <a:solidFill>
                  <a:srgbClr val="F96167"/>
                </a:solidFill>
                <a:latin typeface="Cambria" pitchFamily="34" charset="0"/>
                <a:ea typeface="Cambria" pitchFamily="34" charset="-122"/>
                <a:cs typeface="Cambria" pitchFamily="34" charset="-120"/>
              </a:rPr>
              <a:t>16</a:t>
            </a:r>
            <a:endParaRPr lang="en-US" sz="3000" dirty="0"/>
          </a:p>
        </p:txBody>
      </p:sp>
      <p:sp>
        <p:nvSpPr>
          <p:cNvPr id="10" name="Text 8"/>
          <p:cNvSpPr txBox="1"/>
          <p:nvPr/>
        </p:nvSpPr>
        <p:spPr>
          <a:xfrm>
            <a:off x="4526280" y="3035808"/>
            <a:ext cx="315468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variables d'origine</a:t>
            </a:r>
            <a:endParaRPr lang="en-US" sz="1300" dirty="0"/>
          </a:p>
        </p:txBody>
      </p:sp>
      <p:sp>
        <p:nvSpPr>
          <p:cNvPr id="11" name="Shape 9"/>
          <p:cNvSpPr/>
          <p:nvPr/>
        </p:nvSpPr>
        <p:spPr>
          <a:xfrm>
            <a:off x="8138160" y="2194560"/>
            <a:ext cx="3520440" cy="1371600"/>
          </a:xfrm>
          <a:prstGeom prst="roundRect">
            <a:avLst>
              <a:gd name="adj" fmla="val 5333"/>
            </a:avLst>
          </a:prstGeom>
          <a:solidFill>
            <a:srgbClr val="232C5E"/>
          </a:solidFill>
          <a:ln/>
        </p:spPr>
      </p:sp>
      <p:sp>
        <p:nvSpPr>
          <p:cNvPr id="12" name="Text 10"/>
          <p:cNvSpPr txBox="1"/>
          <p:nvPr/>
        </p:nvSpPr>
        <p:spPr>
          <a:xfrm>
            <a:off x="8321040" y="2331720"/>
            <a:ext cx="3154680" cy="685800"/>
          </a:xfrm>
          <a:prstGeom prst="rect">
            <a:avLst/>
          </a:prstGeom>
          <a:noFill/>
          <a:ln/>
        </p:spPr>
        <p:txBody>
          <a:bodyPr wrap="square" lIns="0" tIns="0" rIns="0" bIns="0" rtlCol="0" anchor="ctr"/>
          <a:lstStyle/>
          <a:p>
            <a:pPr indent="0" marL="0">
              <a:buNone/>
            </a:pPr>
            <a:r>
              <a:rPr lang="en-US" sz="3000" b="1" dirty="0">
                <a:solidFill>
                  <a:srgbClr val="F96167"/>
                </a:solidFill>
                <a:latin typeface="Cambria" pitchFamily="34" charset="0"/>
                <a:ea typeface="Cambria" pitchFamily="34" charset="-122"/>
                <a:cs typeface="Cambria" pitchFamily="34" charset="-120"/>
              </a:rPr>
              <a:t>5</a:t>
            </a:r>
            <a:endParaRPr lang="en-US" sz="3000" dirty="0"/>
          </a:p>
        </p:txBody>
      </p:sp>
      <p:sp>
        <p:nvSpPr>
          <p:cNvPr id="13" name="Text 11"/>
          <p:cNvSpPr txBox="1"/>
          <p:nvPr/>
        </p:nvSpPr>
        <p:spPr>
          <a:xfrm>
            <a:off x="8321040" y="3035808"/>
            <a:ext cx="315468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arrondissements</a:t>
            </a:r>
            <a:endParaRPr lang="en-US" sz="1300" dirty="0"/>
          </a:p>
        </p:txBody>
      </p:sp>
      <p:sp>
        <p:nvSpPr>
          <p:cNvPr id="14" name="Shape 12"/>
          <p:cNvSpPr/>
          <p:nvPr/>
        </p:nvSpPr>
        <p:spPr>
          <a:xfrm>
            <a:off x="548640" y="3840480"/>
            <a:ext cx="3520440" cy="1371600"/>
          </a:xfrm>
          <a:prstGeom prst="roundRect">
            <a:avLst>
              <a:gd name="adj" fmla="val 5333"/>
            </a:avLst>
          </a:prstGeom>
          <a:solidFill>
            <a:srgbClr val="232C5E"/>
          </a:solidFill>
          <a:ln/>
        </p:spPr>
      </p:sp>
      <p:sp>
        <p:nvSpPr>
          <p:cNvPr id="15" name="Text 13"/>
          <p:cNvSpPr txBox="1"/>
          <p:nvPr/>
        </p:nvSpPr>
        <p:spPr>
          <a:xfrm>
            <a:off x="731520" y="3977640"/>
            <a:ext cx="3154680" cy="685800"/>
          </a:xfrm>
          <a:prstGeom prst="rect">
            <a:avLst/>
          </a:prstGeom>
          <a:noFill/>
          <a:ln/>
        </p:spPr>
        <p:txBody>
          <a:bodyPr wrap="square" lIns="0" tIns="0" rIns="0" bIns="0" rtlCol="0" anchor="ctr"/>
          <a:lstStyle/>
          <a:p>
            <a:pPr indent="0" marL="0">
              <a:buNone/>
            </a:pPr>
            <a:r>
              <a:rPr lang="en-US" sz="3000" b="1" dirty="0">
                <a:solidFill>
                  <a:srgbClr val="F96167"/>
                </a:solidFill>
                <a:latin typeface="Cambria" pitchFamily="34" charset="0"/>
                <a:ea typeface="Cambria" pitchFamily="34" charset="-122"/>
                <a:cs typeface="Cambria" pitchFamily="34" charset="-120"/>
              </a:rPr>
              <a:t>221</a:t>
            </a:r>
            <a:endParaRPr lang="en-US" sz="3000" dirty="0"/>
          </a:p>
        </p:txBody>
      </p:sp>
      <p:sp>
        <p:nvSpPr>
          <p:cNvPr id="16" name="Text 14"/>
          <p:cNvSpPr txBox="1"/>
          <p:nvPr/>
        </p:nvSpPr>
        <p:spPr>
          <a:xfrm>
            <a:off x="731520" y="4681728"/>
            <a:ext cx="315468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quartiers distincts</a:t>
            </a:r>
            <a:endParaRPr lang="en-US" sz="1300" dirty="0"/>
          </a:p>
        </p:txBody>
      </p:sp>
      <p:sp>
        <p:nvSpPr>
          <p:cNvPr id="17" name="Shape 15"/>
          <p:cNvSpPr/>
          <p:nvPr/>
        </p:nvSpPr>
        <p:spPr>
          <a:xfrm>
            <a:off x="4343400" y="3840480"/>
            <a:ext cx="3520440" cy="1371600"/>
          </a:xfrm>
          <a:prstGeom prst="roundRect">
            <a:avLst>
              <a:gd name="adj" fmla="val 5333"/>
            </a:avLst>
          </a:prstGeom>
          <a:solidFill>
            <a:srgbClr val="232C5E"/>
          </a:solidFill>
          <a:ln/>
        </p:spPr>
      </p:sp>
      <p:sp>
        <p:nvSpPr>
          <p:cNvPr id="18" name="Text 16"/>
          <p:cNvSpPr txBox="1"/>
          <p:nvPr/>
        </p:nvSpPr>
        <p:spPr>
          <a:xfrm>
            <a:off x="4526280" y="3977640"/>
            <a:ext cx="3154680" cy="685800"/>
          </a:xfrm>
          <a:prstGeom prst="rect">
            <a:avLst/>
          </a:prstGeom>
          <a:noFill/>
          <a:ln/>
        </p:spPr>
        <p:txBody>
          <a:bodyPr wrap="square" lIns="0" tIns="0" rIns="0" bIns="0" rtlCol="0" anchor="ctr"/>
          <a:lstStyle/>
          <a:p>
            <a:pPr indent="0" marL="0">
              <a:buNone/>
            </a:pPr>
            <a:r>
              <a:rPr lang="en-US" sz="3000" b="1" dirty="0">
                <a:solidFill>
                  <a:srgbClr val="F96167"/>
                </a:solidFill>
                <a:latin typeface="Cambria" pitchFamily="34" charset="0"/>
                <a:ea typeface="Cambria" pitchFamily="34" charset="-122"/>
                <a:cs typeface="Cambria" pitchFamily="34" charset="-120"/>
              </a:rPr>
              <a:t>48 389</a:t>
            </a:r>
            <a:endParaRPr lang="en-US" sz="3000" dirty="0"/>
          </a:p>
        </p:txBody>
      </p:sp>
      <p:sp>
        <p:nvSpPr>
          <p:cNvPr id="19" name="Text 17"/>
          <p:cNvSpPr txBox="1"/>
          <p:nvPr/>
        </p:nvSpPr>
        <p:spPr>
          <a:xfrm>
            <a:off x="4526280" y="4681728"/>
            <a:ext cx="315468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annonces apres nettoyage</a:t>
            </a:r>
            <a:endParaRPr lang="en-US" sz="1300" dirty="0"/>
          </a:p>
        </p:txBody>
      </p:sp>
      <p:sp>
        <p:nvSpPr>
          <p:cNvPr id="20" name="Shape 18"/>
          <p:cNvSpPr/>
          <p:nvPr/>
        </p:nvSpPr>
        <p:spPr>
          <a:xfrm>
            <a:off x="8138160" y="3840480"/>
            <a:ext cx="3520440" cy="1371600"/>
          </a:xfrm>
          <a:prstGeom prst="roundRect">
            <a:avLst>
              <a:gd name="adj" fmla="val 5333"/>
            </a:avLst>
          </a:prstGeom>
          <a:solidFill>
            <a:srgbClr val="232C5E"/>
          </a:solidFill>
          <a:ln/>
        </p:spPr>
      </p:sp>
      <p:sp>
        <p:nvSpPr>
          <p:cNvPr id="21" name="Text 19"/>
          <p:cNvSpPr txBox="1"/>
          <p:nvPr/>
        </p:nvSpPr>
        <p:spPr>
          <a:xfrm>
            <a:off x="8321040" y="3977640"/>
            <a:ext cx="3154680" cy="685800"/>
          </a:xfrm>
          <a:prstGeom prst="rect">
            <a:avLst/>
          </a:prstGeom>
          <a:noFill/>
          <a:ln/>
        </p:spPr>
        <p:txBody>
          <a:bodyPr wrap="square" lIns="0" tIns="0" rIns="0" bIns="0" rtlCol="0" anchor="ctr"/>
          <a:lstStyle/>
          <a:p>
            <a:pPr indent="0" marL="0">
              <a:buNone/>
            </a:pPr>
            <a:r>
              <a:rPr lang="en-US" sz="3000" b="1" dirty="0">
                <a:solidFill>
                  <a:srgbClr val="F96167"/>
                </a:solidFill>
                <a:latin typeface="Cambria" pitchFamily="34" charset="0"/>
                <a:ea typeface="Cambria" pitchFamily="34" charset="-122"/>
                <a:cs typeface="Cambria" pitchFamily="34" charset="-120"/>
              </a:rPr>
              <a:t>1,01 %</a:t>
            </a:r>
            <a:endParaRPr lang="en-US" sz="3000" dirty="0"/>
          </a:p>
        </p:txBody>
      </p:sp>
      <p:sp>
        <p:nvSpPr>
          <p:cNvPr id="22" name="Text 20"/>
          <p:cNvSpPr txBox="1"/>
          <p:nvPr/>
        </p:nvSpPr>
        <p:spPr>
          <a:xfrm>
            <a:off x="8321040" y="4681728"/>
            <a:ext cx="315468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de prix aberrants retires</a:t>
            </a:r>
            <a:endParaRPr lang="en-US" sz="1300" dirty="0"/>
          </a:p>
        </p:txBody>
      </p:sp>
      <p:sp>
        <p:nvSpPr>
          <p:cNvPr id="23" name="Text 21"/>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03 . DONNEES</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Analyse exploratoire : deux variables dominantes</a:t>
            </a:r>
            <a:endParaRPr lang="en-US" sz="3200" dirty="0"/>
          </a:p>
        </p:txBody>
      </p:sp>
      <p:pic>
        <p:nvPicPr>
          <p:cNvPr id="4" name="Image 0" descr="C:\Users\Asus\Downloads\Airbnb\reports\figures\02_boxplot_prix_arrondissement.png">    </p:cNvPr>
          <p:cNvPicPr>
            <a:picLocks noChangeAspect="1"/>
          </p:cNvPicPr>
          <p:nvPr/>
        </p:nvPicPr>
        <p:blipFill>
          <a:blip r:embed="rId1"/>
          <a:stretch>
            <a:fillRect/>
          </a:stretch>
        </p:blipFill>
        <p:spPr>
          <a:xfrm>
            <a:off x="548640" y="1691640"/>
            <a:ext cx="5394960" cy="3200400"/>
          </a:xfrm>
          <a:prstGeom prst="rect">
            <a:avLst/>
          </a:prstGeom>
        </p:spPr>
      </p:pic>
      <p:pic>
        <p:nvPicPr>
          <p:cNvPr id="5" name="Image 1" descr="C:\Users\Asus\Downloads\Airbnb\reports\figures\03_boxplot_prix_room_type.png">    </p:cNvPr>
          <p:cNvPicPr>
            <a:picLocks noChangeAspect="1"/>
          </p:cNvPicPr>
          <p:nvPr/>
        </p:nvPicPr>
        <p:blipFill>
          <a:blip r:embed="rId2"/>
          <a:stretch>
            <a:fillRect/>
          </a:stretch>
        </p:blipFill>
        <p:spPr>
          <a:xfrm>
            <a:off x="6172200" y="1691640"/>
            <a:ext cx="5394960" cy="3200400"/>
          </a:xfrm>
          <a:prstGeom prst="rect">
            <a:avLst/>
          </a:prstGeom>
        </p:spPr>
      </p:pic>
      <p:sp>
        <p:nvSpPr>
          <p:cNvPr id="6" name="Text 2"/>
          <p:cNvSpPr txBox="1"/>
          <p:nvPr/>
        </p:nvSpPr>
        <p:spPr>
          <a:xfrm>
            <a:off x="548640" y="5074920"/>
            <a:ext cx="10972800" cy="1097280"/>
          </a:xfrm>
          <a:prstGeom prst="rect">
            <a:avLst/>
          </a:prstGeom>
          <a:noFill/>
          <a:ln/>
        </p:spPr>
        <p:txBody>
          <a:bodyPr wrap="square" lIns="0" tIns="0" rIns="0" bIns="0" rtlCol="0" anchor="ctr"/>
          <a:lstStyle/>
          <a:p>
            <a:pPr indent="0" marL="0">
              <a:lnSpc>
                <a:spcPts val="2200"/>
              </a:lnSpc>
              <a:buNone/>
            </a:pPr>
            <a:r>
              <a:rPr lang="en-US" sz="1400" b="1" dirty="0">
                <a:solidFill>
                  <a:srgbClr val="2F3C7E"/>
                </a:solidFill>
                <a:latin typeface="Calibri" pitchFamily="34" charset="0"/>
                <a:ea typeface="Calibri" pitchFamily="34" charset="-122"/>
                <a:cs typeface="Calibri" pitchFamily="34" charset="-120"/>
              </a:rPr>
              <a:t>Arrondissement : </a:t>
            </a:r>
            <a:pPr indent="0" marL="0">
              <a:lnSpc>
                <a:spcPts val="2200"/>
              </a:lnSpc>
              <a:buNone/>
            </a:pPr>
            <a:r>
              <a:rPr lang="en-US" sz="1400" dirty="0">
                <a:solidFill>
                  <a:srgbClr val="1B1F3B"/>
                </a:solidFill>
                <a:latin typeface="Calibri" pitchFamily="34" charset="0"/>
                <a:ea typeface="Calibri" pitchFamily="34" charset="-122"/>
                <a:cs typeface="Calibri" pitchFamily="34" charset="-120"/>
              </a:rPr>
              <a:t>Manhattan (149,5 $ median) domine largement le Bronx (68 $).</a:t>
            </a:r>
            <a:endParaRPr lang="en-US" sz="1400" dirty="0"/>
          </a:p>
          <a:p>
            <a:pPr indent="0" marL="0">
              <a:lnSpc>
                <a:spcPts val="2200"/>
              </a:lnSpc>
              <a:buNone/>
            </a:pPr>
            <a:r>
              <a:rPr lang="en-US" sz="1400" b="1" dirty="0">
                <a:solidFill>
                  <a:srgbClr val="2F3C7E"/>
                </a:solidFill>
                <a:latin typeface="Calibri" pitchFamily="34" charset="0"/>
                <a:ea typeface="Calibri" pitchFamily="34" charset="-122"/>
                <a:cs typeface="Calibri" pitchFamily="34" charset="-120"/>
              </a:rPr>
              <a:t>Type de logement : </a:t>
            </a:r>
            <a:pPr indent="0" marL="0">
              <a:lnSpc>
                <a:spcPts val="2200"/>
              </a:lnSpc>
              <a:buNone/>
            </a:pPr>
            <a:r>
              <a:rPr lang="en-US" sz="1400" dirty="0">
                <a:solidFill>
                  <a:srgbClr val="1B1F3B"/>
                </a:solidFill>
                <a:latin typeface="Calibri" pitchFamily="34" charset="0"/>
                <a:ea typeface="Calibri" pitchFamily="34" charset="-122"/>
                <a:cs typeface="Calibri" pitchFamily="34" charset="-120"/>
              </a:rPr>
              <a:t>un logement entier coute 2 a 3 fois plus qu'une chambre privee ou partagee.</a:t>
            </a:r>
            <a:endParaRPr lang="en-US" sz="1400" dirty="0"/>
          </a:p>
        </p:txBody>
      </p:sp>
      <p:sp>
        <p:nvSpPr>
          <p:cNvPr id="7" name="Text 3"/>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04 . METHODOLOGIE</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Pretraitement et feature engineering</a:t>
            </a:r>
            <a:endParaRPr lang="en-US" sz="3200" dirty="0"/>
          </a:p>
        </p:txBody>
      </p:sp>
      <p:sp>
        <p:nvSpPr>
          <p:cNvPr id="4" name="Text 2"/>
          <p:cNvSpPr txBox="1"/>
          <p:nvPr/>
        </p:nvSpPr>
        <p:spPr>
          <a:xfrm>
            <a:off x="548640" y="1828800"/>
            <a:ext cx="6126480" cy="3931920"/>
          </a:xfrm>
          <a:prstGeom prst="rect">
            <a:avLst/>
          </a:prstGeom>
          <a:noFill/>
          <a:ln/>
        </p:spPr>
        <p:txBody>
          <a:bodyPr wrap="square" lIns="0" tIns="0" rIns="0" bIns="0" rtlCol="0" anchor="t"/>
          <a:lstStyle/>
          <a:p>
            <a:pPr marL="228600" indent="-228600">
              <a:spcAft>
                <a:spcPts val="1400"/>
              </a:spcAft>
              <a:buSzPct val="100000"/>
              <a:buChar char="●"/>
            </a:pPr>
            <a:r>
              <a:rPr lang="en-US" sz="1350" dirty="0">
                <a:solidFill>
                  <a:srgbClr val="1B1F3B"/>
                </a:solidFill>
                <a:latin typeface="Calibri" pitchFamily="34" charset="0"/>
                <a:ea typeface="Calibri" pitchFamily="34" charset="-122"/>
                <a:cs typeface="Calibri" pitchFamily="34" charset="-120"/>
              </a:rPr>
              <a:t>Suppression des prix nuls et extremes (percentiles 0,5% / 99,5%) : 492 lignes retirees.</a:t>
            </a:r>
            <a:endParaRPr lang="en-US" sz="1350" dirty="0"/>
          </a:p>
          <a:p>
            <a:pPr marL="228600" indent="-228600">
              <a:spcAft>
                <a:spcPts val="1400"/>
              </a:spcAft>
              <a:buSzPct val="100000"/>
              <a:buChar char="●"/>
            </a:pPr>
            <a:r>
              <a:rPr lang="en-US" sz="1350" dirty="0">
                <a:solidFill>
                  <a:srgbClr val="1B1F3B"/>
                </a:solidFill>
                <a:latin typeface="Calibri" pitchFamily="34" charset="0"/>
                <a:ea typeface="Calibri" pitchFamily="34" charset="-122"/>
                <a:cs typeface="Calibri" pitchFamily="34" charset="-120"/>
              </a:rPr>
              <a:t>Imputation : reviews_per_month a 0, ancienneté du dernier avis imputee pour les annonces sans avis.</a:t>
            </a:r>
            <a:endParaRPr lang="en-US" sz="1350" dirty="0"/>
          </a:p>
          <a:p>
            <a:pPr marL="228600" indent="-228600">
              <a:spcAft>
                <a:spcPts val="1400"/>
              </a:spcAft>
              <a:buSzPct val="100000"/>
              <a:buChar char="●"/>
            </a:pPr>
            <a:r>
              <a:rPr lang="en-US" sz="1350" dirty="0">
                <a:solidFill>
                  <a:srgbClr val="1B1F3B"/>
                </a:solidFill>
                <a:latin typeface="Calibri" pitchFamily="34" charset="0"/>
                <a:ea typeface="Calibri" pitchFamily="34" charset="-122"/>
                <a:cs typeface="Calibri" pitchFamily="34" charset="-120"/>
              </a:rPr>
              <a:t>distance_center_km : distance haversine au centre de Manhattan (feature la plus correlee au prix apres le type de logement).</a:t>
            </a:r>
            <a:endParaRPr lang="en-US" sz="1350" dirty="0"/>
          </a:p>
          <a:p>
            <a:pPr marL="228600" indent="-228600">
              <a:spcAft>
                <a:spcPts val="1400"/>
              </a:spcAft>
              <a:buSzPct val="100000"/>
              <a:buChar char="●"/>
            </a:pPr>
            <a:r>
              <a:rPr lang="en-US" sz="1350" dirty="0">
                <a:solidFill>
                  <a:srgbClr val="1B1F3B"/>
                </a:solidFill>
                <a:latin typeface="Calibri" pitchFamily="34" charset="0"/>
                <a:ea typeface="Calibri" pitchFamily="34" charset="-122"/>
                <a:cs typeface="Calibri" pitchFamily="34" charset="-120"/>
              </a:rPr>
              <a:t>neighbourhood_freq : encodage par frequence pour la variable a 221 modalites (evite l'explosion du one-hot).</a:t>
            </a:r>
            <a:endParaRPr lang="en-US" sz="1350" dirty="0"/>
          </a:p>
          <a:p>
            <a:pPr marL="228600" indent="-228600">
              <a:spcAft>
                <a:spcPts val="1400"/>
              </a:spcAft>
              <a:buSzPct val="100000"/>
              <a:buChar char="●"/>
            </a:pPr>
            <a:r>
              <a:rPr lang="en-US" sz="1350" dirty="0">
                <a:solidFill>
                  <a:srgbClr val="1B1F3B"/>
                </a:solidFill>
                <a:latin typeface="Calibri" pitchFamily="34" charset="0"/>
                <a:ea typeface="Calibri" pitchFamily="34" charset="-122"/>
                <a:cs typeface="Calibri" pitchFamily="34" charset="-120"/>
              </a:rPr>
              <a:t>one-hot sur neighbourhood_group et room_type ; StandardScaler sur les variables numeriques.</a:t>
            </a:r>
            <a:endParaRPr lang="en-US" sz="1350" dirty="0"/>
          </a:p>
        </p:txBody>
      </p:sp>
      <p:pic>
        <p:nvPicPr>
          <p:cNvPr id="5" name="Image 0" descr="C:\Users\Asus\Downloads\Airbnb\reports\figures\04_heatmap_correlations.png">    </p:cNvPr>
          <p:cNvPicPr>
            <a:picLocks noChangeAspect="1"/>
          </p:cNvPicPr>
          <p:nvPr/>
        </p:nvPicPr>
        <p:blipFill>
          <a:blip r:embed="rId1"/>
          <a:stretch>
            <a:fillRect/>
          </a:stretch>
        </p:blipFill>
        <p:spPr>
          <a:xfrm>
            <a:off x="6949440" y="1691640"/>
            <a:ext cx="4663440" cy="4480560"/>
          </a:xfrm>
          <a:prstGeom prst="rect">
            <a:avLst/>
          </a:prstGeom>
        </p:spPr>
      </p:pic>
      <p:sp>
        <p:nvSpPr>
          <p:cNvPr id="6" name="Text 3"/>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04 . METHODOLOGIE</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Architecture du pipeline</a:t>
            </a:r>
            <a:endParaRPr lang="en-US" sz="3200" dirty="0"/>
          </a:p>
        </p:txBody>
      </p:sp>
      <p:sp>
        <p:nvSpPr>
          <p:cNvPr id="4" name="Shape 2"/>
          <p:cNvSpPr/>
          <p:nvPr/>
        </p:nvSpPr>
        <p:spPr>
          <a:xfrm>
            <a:off x="402336" y="2651760"/>
            <a:ext cx="2468880" cy="1554480"/>
          </a:xfrm>
          <a:prstGeom prst="roundRect">
            <a:avLst>
              <a:gd name="adj" fmla="val 5882"/>
            </a:avLst>
          </a:prstGeom>
          <a:solidFill>
            <a:srgbClr val="2F3C7E"/>
          </a:solidFill>
          <a:ln/>
          <a:effectLst>
            <a:outerShdw sx="100000" sy="100000" kx="0" ky="0" algn="bl" rotWithShape="0" blurRad="101600" dist="38100" dir="5400000">
              <a:srgbClr val="000000">
                <a:alpha val="15000"/>
              </a:srgbClr>
            </a:outerShdw>
          </a:effectLst>
        </p:spPr>
      </p:sp>
      <p:sp>
        <p:nvSpPr>
          <p:cNvPr id="5" name="Text 3"/>
          <p:cNvSpPr txBox="1"/>
          <p:nvPr/>
        </p:nvSpPr>
        <p:spPr>
          <a:xfrm>
            <a:off x="539496" y="2834640"/>
            <a:ext cx="219456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AB_NYC_2019.csv</a:t>
            </a:r>
            <a:endParaRPr lang="en-US" sz="1300" dirty="0"/>
          </a:p>
        </p:txBody>
      </p:sp>
      <p:sp>
        <p:nvSpPr>
          <p:cNvPr id="6" name="Text 4"/>
          <p:cNvSpPr txBox="1"/>
          <p:nvPr/>
        </p:nvSpPr>
        <p:spPr>
          <a:xfrm>
            <a:off x="539496" y="3429000"/>
            <a:ext cx="2194560" cy="685800"/>
          </a:xfrm>
          <a:prstGeom prst="rect">
            <a:avLst/>
          </a:prstGeom>
          <a:noFill/>
          <a:ln/>
        </p:spPr>
        <p:txBody>
          <a:bodyPr wrap="square" lIns="0" tIns="0" rIns="0" bIns="0" rtlCol="0" anchor="ctr"/>
          <a:lstStyle/>
          <a:p>
            <a:pPr algn="ctr" indent="0" marL="0">
              <a:buNone/>
            </a:pPr>
            <a:r>
              <a:rPr lang="en-US" sz="1150" dirty="0">
                <a:solidFill>
                  <a:srgbClr val="E8EAF5"/>
                </a:solidFill>
                <a:latin typeface="Calibri" pitchFamily="34" charset="0"/>
                <a:ea typeface="Calibri" pitchFamily="34" charset="-122"/>
                <a:cs typeface="Calibri" pitchFamily="34" charset="-120"/>
              </a:rPr>
              <a:t>Donnees brutes</a:t>
            </a:r>
            <a:endParaRPr lang="en-US" sz="1150" dirty="0"/>
          </a:p>
          <a:p>
            <a:pPr algn="ctr" indent="0" marL="0">
              <a:buNone/>
            </a:pPr>
            <a:r>
              <a:rPr lang="en-US" sz="1150" dirty="0">
                <a:solidFill>
                  <a:srgbClr val="E8EAF5"/>
                </a:solidFill>
                <a:latin typeface="Calibri" pitchFamily="34" charset="0"/>
                <a:ea typeface="Calibri" pitchFamily="34" charset="-122"/>
                <a:cs typeface="Calibri" pitchFamily="34" charset="-120"/>
              </a:rPr>
              <a:t>(Kaggle)</a:t>
            </a:r>
            <a:endParaRPr lang="en-US" sz="1150" dirty="0"/>
          </a:p>
        </p:txBody>
      </p:sp>
      <p:sp>
        <p:nvSpPr>
          <p:cNvPr id="7" name="Text 5"/>
          <p:cNvSpPr txBox="1"/>
          <p:nvPr/>
        </p:nvSpPr>
        <p:spPr>
          <a:xfrm>
            <a:off x="2871216" y="3108960"/>
            <a:ext cx="502920" cy="640080"/>
          </a:xfrm>
          <a:prstGeom prst="rect">
            <a:avLst/>
          </a:prstGeom>
          <a:noFill/>
          <a:ln/>
        </p:spPr>
        <p:txBody>
          <a:bodyPr wrap="square" lIns="0" tIns="0" rIns="0" bIns="0" rtlCol="0" anchor="ctr"/>
          <a:lstStyle/>
          <a:p>
            <a:pPr algn="ctr" indent="0" marL="0">
              <a:buNone/>
            </a:pPr>
            <a:r>
              <a:rPr lang="en-US" sz="2800" b="1" dirty="0">
                <a:solidFill>
                  <a:srgbClr val="6B7280"/>
                </a:solidFill>
                <a:latin typeface="Calibri" pitchFamily="34" charset="0"/>
                <a:ea typeface="Calibri" pitchFamily="34" charset="-122"/>
                <a:cs typeface="Calibri" pitchFamily="34" charset="-120"/>
              </a:rPr>
              <a:t>→</a:t>
            </a:r>
            <a:endParaRPr lang="en-US" sz="2800" dirty="0"/>
          </a:p>
        </p:txBody>
      </p:sp>
      <p:sp>
        <p:nvSpPr>
          <p:cNvPr id="8" name="Shape 6"/>
          <p:cNvSpPr/>
          <p:nvPr/>
        </p:nvSpPr>
        <p:spPr>
          <a:xfrm>
            <a:off x="3374136" y="2651760"/>
            <a:ext cx="2468880" cy="1554480"/>
          </a:xfrm>
          <a:prstGeom prst="roundRect">
            <a:avLst>
              <a:gd name="adj" fmla="val 5882"/>
            </a:avLst>
          </a:prstGeom>
          <a:solidFill>
            <a:srgbClr val="2F3C7E"/>
          </a:solidFill>
          <a:ln/>
          <a:effectLst>
            <a:outerShdw sx="100000" sy="100000" kx="0" ky="0" algn="bl" rotWithShape="0" blurRad="101600" dist="38100" dir="5400000">
              <a:srgbClr val="000000">
                <a:alpha val="15000"/>
              </a:srgbClr>
            </a:outerShdw>
          </a:effectLst>
        </p:spPr>
      </p:sp>
      <p:sp>
        <p:nvSpPr>
          <p:cNvPr id="9" name="Text 7"/>
          <p:cNvSpPr txBox="1"/>
          <p:nvPr/>
        </p:nvSpPr>
        <p:spPr>
          <a:xfrm>
            <a:off x="3511296" y="2834640"/>
            <a:ext cx="219456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preprocessing.py</a:t>
            </a:r>
            <a:endParaRPr lang="en-US" sz="1300" dirty="0"/>
          </a:p>
        </p:txBody>
      </p:sp>
      <p:sp>
        <p:nvSpPr>
          <p:cNvPr id="10" name="Text 8"/>
          <p:cNvSpPr txBox="1"/>
          <p:nvPr/>
        </p:nvSpPr>
        <p:spPr>
          <a:xfrm>
            <a:off x="3511296" y="3429000"/>
            <a:ext cx="2194560" cy="685800"/>
          </a:xfrm>
          <a:prstGeom prst="rect">
            <a:avLst/>
          </a:prstGeom>
          <a:noFill/>
          <a:ln/>
        </p:spPr>
        <p:txBody>
          <a:bodyPr wrap="square" lIns="0" tIns="0" rIns="0" bIns="0" rtlCol="0" anchor="ctr"/>
          <a:lstStyle/>
          <a:p>
            <a:pPr algn="ctr" indent="0" marL="0">
              <a:buNone/>
            </a:pPr>
            <a:r>
              <a:rPr lang="en-US" sz="1150" dirty="0">
                <a:solidFill>
                  <a:srgbClr val="E8EAF5"/>
                </a:solidFill>
                <a:latin typeface="Calibri" pitchFamily="34" charset="0"/>
                <a:ea typeface="Calibri" pitchFamily="34" charset="-122"/>
                <a:cs typeface="Calibri" pitchFamily="34" charset="-120"/>
              </a:rPr>
              <a:t>Nettoyage,</a:t>
            </a:r>
            <a:endParaRPr lang="en-US" sz="1150" dirty="0"/>
          </a:p>
          <a:p>
            <a:pPr algn="ctr" indent="0" marL="0">
              <a:buNone/>
            </a:pPr>
            <a:r>
              <a:rPr lang="en-US" sz="1150" dirty="0">
                <a:solidFill>
                  <a:srgbClr val="E8EAF5"/>
                </a:solidFill>
                <a:latin typeface="Calibri" pitchFamily="34" charset="0"/>
                <a:ea typeface="Calibri" pitchFamily="34" charset="-122"/>
                <a:cs typeface="Calibri" pitchFamily="34" charset="-120"/>
              </a:rPr>
              <a:t>features, encodage</a:t>
            </a:r>
            <a:endParaRPr lang="en-US" sz="1150" dirty="0"/>
          </a:p>
        </p:txBody>
      </p:sp>
      <p:sp>
        <p:nvSpPr>
          <p:cNvPr id="11" name="Text 9"/>
          <p:cNvSpPr txBox="1"/>
          <p:nvPr/>
        </p:nvSpPr>
        <p:spPr>
          <a:xfrm>
            <a:off x="5843016" y="3108960"/>
            <a:ext cx="502920" cy="640080"/>
          </a:xfrm>
          <a:prstGeom prst="rect">
            <a:avLst/>
          </a:prstGeom>
          <a:noFill/>
          <a:ln/>
        </p:spPr>
        <p:txBody>
          <a:bodyPr wrap="square" lIns="0" tIns="0" rIns="0" bIns="0" rtlCol="0" anchor="ctr"/>
          <a:lstStyle/>
          <a:p>
            <a:pPr algn="ctr" indent="0" marL="0">
              <a:buNone/>
            </a:pPr>
            <a:r>
              <a:rPr lang="en-US" sz="2800" b="1" dirty="0">
                <a:solidFill>
                  <a:srgbClr val="6B7280"/>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6345936" y="2651760"/>
            <a:ext cx="2468880" cy="1554480"/>
          </a:xfrm>
          <a:prstGeom prst="roundRect">
            <a:avLst>
              <a:gd name="adj" fmla="val 5882"/>
            </a:avLst>
          </a:prstGeom>
          <a:solidFill>
            <a:srgbClr val="2F3C7E"/>
          </a:solidFill>
          <a:ln/>
          <a:effectLst>
            <a:outerShdw sx="100000" sy="100000" kx="0" ky="0" algn="bl" rotWithShape="0" blurRad="101600" dist="38100" dir="5400000">
              <a:srgbClr val="000000">
                <a:alpha val="15000"/>
              </a:srgbClr>
            </a:outerShdw>
          </a:effectLst>
        </p:spPr>
      </p:sp>
      <p:sp>
        <p:nvSpPr>
          <p:cNvPr id="13" name="Text 11"/>
          <p:cNvSpPr txBox="1"/>
          <p:nvPr/>
        </p:nvSpPr>
        <p:spPr>
          <a:xfrm>
            <a:off x="6483096" y="2834640"/>
            <a:ext cx="219456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eda.py /</a:t>
            </a:r>
            <a:endParaRPr lang="en-US" sz="1300" dirty="0"/>
          </a:p>
          <a:p>
            <a:pPr algn="ctr" indent="0" marL="0">
              <a:buNone/>
            </a:pPr>
            <a:r>
              <a:rPr lang="en-US" sz="1300" b="1" dirty="0">
                <a:solidFill>
                  <a:srgbClr val="FFFFFF"/>
                </a:solidFill>
                <a:latin typeface="Consolas" pitchFamily="34" charset="0"/>
                <a:ea typeface="Consolas" pitchFamily="34" charset="-122"/>
                <a:cs typeface="Consolas" pitchFamily="34" charset="-120"/>
              </a:rPr>
              <a:t>train_models.py</a:t>
            </a:r>
            <a:endParaRPr lang="en-US" sz="1300" dirty="0"/>
          </a:p>
        </p:txBody>
      </p:sp>
      <p:sp>
        <p:nvSpPr>
          <p:cNvPr id="14" name="Text 12"/>
          <p:cNvSpPr txBox="1"/>
          <p:nvPr/>
        </p:nvSpPr>
        <p:spPr>
          <a:xfrm>
            <a:off x="6483096" y="3429000"/>
            <a:ext cx="2194560" cy="685800"/>
          </a:xfrm>
          <a:prstGeom prst="rect">
            <a:avLst/>
          </a:prstGeom>
          <a:noFill/>
          <a:ln/>
        </p:spPr>
        <p:txBody>
          <a:bodyPr wrap="square" lIns="0" tIns="0" rIns="0" bIns="0" rtlCol="0" anchor="ctr"/>
          <a:lstStyle/>
          <a:p>
            <a:pPr algn="ctr" indent="0" marL="0">
              <a:buNone/>
            </a:pPr>
            <a:r>
              <a:rPr lang="en-US" sz="1150" dirty="0">
                <a:solidFill>
                  <a:srgbClr val="E8EAF5"/>
                </a:solidFill>
                <a:latin typeface="Calibri" pitchFamily="34" charset="0"/>
                <a:ea typeface="Calibri" pitchFamily="34" charset="-122"/>
                <a:cs typeface="Calibri" pitchFamily="34" charset="-120"/>
              </a:rPr>
              <a:t>Analyse +</a:t>
            </a:r>
            <a:endParaRPr lang="en-US" sz="1150" dirty="0"/>
          </a:p>
          <a:p>
            <a:pPr algn="ctr" indent="0" marL="0">
              <a:buNone/>
            </a:pPr>
            <a:r>
              <a:rPr lang="en-US" sz="1150" dirty="0">
                <a:solidFill>
                  <a:srgbClr val="E8EAF5"/>
                </a:solidFill>
                <a:latin typeface="Calibri" pitchFamily="34" charset="0"/>
                <a:ea typeface="Calibri" pitchFamily="34" charset="-122"/>
                <a:cs typeface="Calibri" pitchFamily="34" charset="-120"/>
              </a:rPr>
              <a:t>12 modeles compares</a:t>
            </a:r>
            <a:endParaRPr lang="en-US" sz="1150" dirty="0"/>
          </a:p>
        </p:txBody>
      </p:sp>
      <p:sp>
        <p:nvSpPr>
          <p:cNvPr id="15" name="Text 13"/>
          <p:cNvSpPr txBox="1"/>
          <p:nvPr/>
        </p:nvSpPr>
        <p:spPr>
          <a:xfrm>
            <a:off x="8814816" y="3108960"/>
            <a:ext cx="502920" cy="640080"/>
          </a:xfrm>
          <a:prstGeom prst="rect">
            <a:avLst/>
          </a:prstGeom>
          <a:noFill/>
          <a:ln/>
        </p:spPr>
        <p:txBody>
          <a:bodyPr wrap="square" lIns="0" tIns="0" rIns="0" bIns="0" rtlCol="0" anchor="ctr"/>
          <a:lstStyle/>
          <a:p>
            <a:pPr algn="ctr" indent="0" marL="0">
              <a:buNone/>
            </a:pPr>
            <a:r>
              <a:rPr lang="en-US" sz="2800" b="1" dirty="0">
                <a:solidFill>
                  <a:srgbClr val="6B7280"/>
                </a:solidFill>
                <a:latin typeface="Calibri" pitchFamily="34" charset="0"/>
                <a:ea typeface="Calibri" pitchFamily="34" charset="-122"/>
                <a:cs typeface="Calibri" pitchFamily="34" charset="-120"/>
              </a:rPr>
              <a:t>→</a:t>
            </a:r>
            <a:endParaRPr lang="en-US" sz="2800" dirty="0"/>
          </a:p>
        </p:txBody>
      </p:sp>
      <p:sp>
        <p:nvSpPr>
          <p:cNvPr id="16" name="Shape 14"/>
          <p:cNvSpPr/>
          <p:nvPr/>
        </p:nvSpPr>
        <p:spPr>
          <a:xfrm>
            <a:off x="9317736" y="2651760"/>
            <a:ext cx="2468880" cy="1554480"/>
          </a:xfrm>
          <a:prstGeom prst="roundRect">
            <a:avLst>
              <a:gd name="adj" fmla="val 5882"/>
            </a:avLst>
          </a:prstGeom>
          <a:solidFill>
            <a:srgbClr val="F96167"/>
          </a:solidFill>
          <a:ln/>
          <a:effectLst>
            <a:outerShdw sx="100000" sy="100000" kx="0" ky="0" algn="bl" rotWithShape="0" blurRad="101600" dist="38100" dir="5400000">
              <a:srgbClr val="000000">
                <a:alpha val="15000"/>
              </a:srgbClr>
            </a:outerShdw>
          </a:effectLst>
        </p:spPr>
      </p:sp>
      <p:sp>
        <p:nvSpPr>
          <p:cNvPr id="17" name="Text 15"/>
          <p:cNvSpPr txBox="1"/>
          <p:nvPr/>
        </p:nvSpPr>
        <p:spPr>
          <a:xfrm>
            <a:off x="9454896" y="2834640"/>
            <a:ext cx="219456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app.py</a:t>
            </a:r>
            <a:endParaRPr lang="en-US" sz="1300" dirty="0"/>
          </a:p>
          <a:p>
            <a:pPr algn="ctr" indent="0" marL="0">
              <a:buNone/>
            </a:pPr>
            <a:r>
              <a:rPr lang="en-US" sz="1300" b="1" dirty="0">
                <a:solidFill>
                  <a:srgbClr val="FFFFFF"/>
                </a:solidFill>
                <a:latin typeface="Consolas" pitchFamily="34" charset="0"/>
                <a:ea typeface="Consolas" pitchFamily="34" charset="-122"/>
                <a:cs typeface="Consolas" pitchFamily="34" charset="-120"/>
              </a:rPr>
              <a:t>(Streamlit)</a:t>
            </a:r>
            <a:endParaRPr lang="en-US" sz="1300" dirty="0"/>
          </a:p>
        </p:txBody>
      </p:sp>
      <p:sp>
        <p:nvSpPr>
          <p:cNvPr id="18" name="Text 16"/>
          <p:cNvSpPr txBox="1"/>
          <p:nvPr/>
        </p:nvSpPr>
        <p:spPr>
          <a:xfrm>
            <a:off x="9454896" y="3429000"/>
            <a:ext cx="2194560" cy="685800"/>
          </a:xfrm>
          <a:prstGeom prst="rect">
            <a:avLst/>
          </a:prstGeom>
          <a:noFill/>
          <a:ln/>
        </p:spPr>
        <p:txBody>
          <a:bodyPr wrap="square" lIns="0" tIns="0" rIns="0" bIns="0" rtlCol="0" anchor="ctr"/>
          <a:lstStyle/>
          <a:p>
            <a:pPr algn="ctr" indent="0" marL="0">
              <a:buNone/>
            </a:pPr>
            <a:r>
              <a:rPr lang="en-US" sz="1150" dirty="0">
                <a:solidFill>
                  <a:srgbClr val="E8EAF5"/>
                </a:solidFill>
                <a:latin typeface="Calibri" pitchFamily="34" charset="0"/>
                <a:ea typeface="Calibri" pitchFamily="34" charset="-122"/>
                <a:cs typeface="Calibri" pitchFamily="34" charset="-120"/>
              </a:rPr>
              <a:t>Interface</a:t>
            </a:r>
            <a:endParaRPr lang="en-US" sz="1150" dirty="0"/>
          </a:p>
          <a:p>
            <a:pPr algn="ctr" indent="0" marL="0">
              <a:buNone/>
            </a:pPr>
            <a:r>
              <a:rPr lang="en-US" sz="1150" dirty="0">
                <a:solidFill>
                  <a:srgbClr val="E8EAF5"/>
                </a:solidFill>
                <a:latin typeface="Calibri" pitchFamily="34" charset="0"/>
                <a:ea typeface="Calibri" pitchFamily="34" charset="-122"/>
                <a:cs typeface="Calibri" pitchFamily="34" charset="-120"/>
              </a:rPr>
              <a:t>interactive</a:t>
            </a:r>
            <a:endParaRPr lang="en-US" sz="1150" dirty="0"/>
          </a:p>
        </p:txBody>
      </p:sp>
      <p:sp>
        <p:nvSpPr>
          <p:cNvPr id="19" name="Text 17"/>
          <p:cNvSpPr txBox="1"/>
          <p:nvPr/>
        </p:nvSpPr>
        <p:spPr>
          <a:xfrm>
            <a:off x="548640" y="4846320"/>
            <a:ext cx="10972800" cy="457200"/>
          </a:xfrm>
          <a:prstGeom prst="rect">
            <a:avLst/>
          </a:prstGeom>
          <a:noFill/>
          <a:ln/>
        </p:spPr>
        <p:txBody>
          <a:bodyPr wrap="square" lIns="0" tIns="0" rIns="0" bIns="0"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Meme protocole pour tous les modeles : 80/20 train-test, validation croisee a 5 plis, graine fixee (42)</a:t>
            </a:r>
            <a:endParaRPr lang="en-US" sz="1300" dirty="0"/>
          </a:p>
        </p:txBody>
      </p:sp>
      <p:sp>
        <p:nvSpPr>
          <p:cNvPr id="20" name="Text 18"/>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05 . RESULTATS</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Comparaison de 12 algorithmes (RMSE test)</a:t>
            </a:r>
            <a:endParaRPr lang="en-US" sz="3200" dirty="0"/>
          </a:p>
        </p:txBody>
      </p:sp>
      <p:graphicFrame>
        <p:nvGraphicFramePr>
          <p:cNvPr id="4" name="Chart 0" descr=""/>
          <p:cNvGraphicFramePr/>
          <p:nvPr/>
        </p:nvGraphicFramePr>
        <p:xfrm>
          <a:off x="457200" y="1737360"/>
          <a:ext cx="11247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309360"/>
            <a:ext cx="1097280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Les methodes d'ensemble a base d'arbres (coral) dominent nettement les modeles lineaires</a:t>
            </a:r>
            <a:endParaRPr lang="en-US" sz="1200" dirty="0"/>
          </a:p>
        </p:txBody>
      </p:sp>
      <p:sp>
        <p:nvSpPr>
          <p:cNvPr id="6" name="Text 3"/>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05 . RESULTATS</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Modele final : XGBoost optimise</a:t>
            </a:r>
            <a:endParaRPr lang="en-US" sz="3200" dirty="0"/>
          </a:p>
        </p:txBody>
      </p:sp>
      <p:sp>
        <p:nvSpPr>
          <p:cNvPr id="4" name="Shape 2"/>
          <p:cNvSpPr/>
          <p:nvPr/>
        </p:nvSpPr>
        <p:spPr>
          <a:xfrm>
            <a:off x="548640" y="1737360"/>
            <a:ext cx="2788920" cy="1188720"/>
          </a:xfrm>
          <a:prstGeom prst="roundRect">
            <a:avLst>
              <a:gd name="adj" fmla="val 6154"/>
            </a:avLst>
          </a:prstGeom>
          <a:solidFill>
            <a:srgbClr val="F5F6FA"/>
          </a:solidFill>
          <a:ln/>
          <a:effectLst>
            <a:outerShdw sx="100000" sy="100000" kx="0" ky="0" algn="bl" rotWithShape="0" blurRad="76200" dist="25400" dir="5400000">
              <a:srgbClr val="000000">
                <a:alpha val="12000"/>
              </a:srgbClr>
            </a:outerShdw>
          </a:effectLst>
        </p:spPr>
      </p:sp>
      <p:sp>
        <p:nvSpPr>
          <p:cNvPr id="5" name="Text 3"/>
          <p:cNvSpPr txBox="1"/>
          <p:nvPr/>
        </p:nvSpPr>
        <p:spPr>
          <a:xfrm>
            <a:off x="685800" y="1847088"/>
            <a:ext cx="2514600" cy="653796"/>
          </a:xfrm>
          <a:prstGeom prst="rect">
            <a:avLst/>
          </a:prstGeom>
          <a:noFill/>
          <a:ln/>
        </p:spPr>
        <p:txBody>
          <a:bodyPr wrap="square" lIns="0" tIns="0" rIns="0" bIns="0" rtlCol="0" anchor="b"/>
          <a:lstStyle/>
          <a:p>
            <a:pPr algn="l" indent="0" marL="0">
              <a:buNone/>
            </a:pPr>
            <a:r>
              <a:rPr lang="en-US" sz="2600" b="1" dirty="0">
                <a:solidFill>
                  <a:srgbClr val="F96167"/>
                </a:solidFill>
                <a:latin typeface="Cambria" pitchFamily="34" charset="0"/>
                <a:ea typeface="Cambria" pitchFamily="34" charset="-122"/>
                <a:cs typeface="Cambria" pitchFamily="34" charset="-120"/>
              </a:rPr>
              <a:t>84,49 $</a:t>
            </a:r>
            <a:endParaRPr lang="en-US" sz="2600" dirty="0"/>
          </a:p>
        </p:txBody>
      </p:sp>
      <p:sp>
        <p:nvSpPr>
          <p:cNvPr id="6" name="Text 4"/>
          <p:cNvSpPr txBox="1"/>
          <p:nvPr/>
        </p:nvSpPr>
        <p:spPr>
          <a:xfrm>
            <a:off x="685800" y="2450592"/>
            <a:ext cx="2514600" cy="451714"/>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RMSE (test)</a:t>
            </a:r>
            <a:endParaRPr lang="en-US" sz="1200" dirty="0"/>
          </a:p>
        </p:txBody>
      </p:sp>
      <p:sp>
        <p:nvSpPr>
          <p:cNvPr id="7" name="Shape 5"/>
          <p:cNvSpPr/>
          <p:nvPr/>
        </p:nvSpPr>
        <p:spPr>
          <a:xfrm>
            <a:off x="3520440" y="1737360"/>
            <a:ext cx="2788920" cy="1188720"/>
          </a:xfrm>
          <a:prstGeom prst="roundRect">
            <a:avLst>
              <a:gd name="adj" fmla="val 6154"/>
            </a:avLst>
          </a:prstGeom>
          <a:solidFill>
            <a:srgbClr val="F5F6FA"/>
          </a:solidFill>
          <a:ln/>
          <a:effectLst>
            <a:outerShdw sx="100000" sy="100000" kx="0" ky="0" algn="bl" rotWithShape="0" blurRad="76200" dist="25400" dir="5400000">
              <a:srgbClr val="000000">
                <a:alpha val="12000"/>
              </a:srgbClr>
            </a:outerShdw>
          </a:effectLst>
        </p:spPr>
      </p:sp>
      <p:sp>
        <p:nvSpPr>
          <p:cNvPr id="8" name="Text 6"/>
          <p:cNvSpPr txBox="1"/>
          <p:nvPr/>
        </p:nvSpPr>
        <p:spPr>
          <a:xfrm>
            <a:off x="3657600" y="1847088"/>
            <a:ext cx="2514600" cy="653796"/>
          </a:xfrm>
          <a:prstGeom prst="rect">
            <a:avLst/>
          </a:prstGeom>
          <a:noFill/>
          <a:ln/>
        </p:spPr>
        <p:txBody>
          <a:bodyPr wrap="square" lIns="0" tIns="0" rIns="0" bIns="0" rtlCol="0" anchor="b"/>
          <a:lstStyle/>
          <a:p>
            <a:pPr algn="l" indent="0" marL="0">
              <a:buNone/>
            </a:pPr>
            <a:r>
              <a:rPr lang="en-US" sz="2600" b="1" dirty="0">
                <a:solidFill>
                  <a:srgbClr val="2F3C7E"/>
                </a:solidFill>
                <a:latin typeface="Cambria" pitchFamily="34" charset="0"/>
                <a:ea typeface="Cambria" pitchFamily="34" charset="-122"/>
                <a:cs typeface="Cambria" pitchFamily="34" charset="-120"/>
              </a:rPr>
              <a:t>48,35 $</a:t>
            </a:r>
            <a:endParaRPr lang="en-US" sz="2600" dirty="0"/>
          </a:p>
        </p:txBody>
      </p:sp>
      <p:sp>
        <p:nvSpPr>
          <p:cNvPr id="9" name="Text 7"/>
          <p:cNvSpPr txBox="1"/>
          <p:nvPr/>
        </p:nvSpPr>
        <p:spPr>
          <a:xfrm>
            <a:off x="3657600" y="2450592"/>
            <a:ext cx="2514600" cy="451714"/>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MAE (test)</a:t>
            </a:r>
            <a:endParaRPr lang="en-US" sz="1200" dirty="0"/>
          </a:p>
        </p:txBody>
      </p:sp>
      <p:sp>
        <p:nvSpPr>
          <p:cNvPr id="10" name="Shape 8"/>
          <p:cNvSpPr/>
          <p:nvPr/>
        </p:nvSpPr>
        <p:spPr>
          <a:xfrm>
            <a:off x="548640" y="3063240"/>
            <a:ext cx="2788920" cy="1188720"/>
          </a:xfrm>
          <a:prstGeom prst="roundRect">
            <a:avLst>
              <a:gd name="adj" fmla="val 6154"/>
            </a:avLst>
          </a:prstGeom>
          <a:solidFill>
            <a:srgbClr val="F5F6FA"/>
          </a:solidFill>
          <a:ln/>
          <a:effectLst>
            <a:outerShdw sx="100000" sy="100000" kx="0" ky="0" algn="bl" rotWithShape="0" blurRad="76200" dist="25400" dir="5400000">
              <a:srgbClr val="000000">
                <a:alpha val="12000"/>
              </a:srgbClr>
            </a:outerShdw>
          </a:effectLst>
        </p:spPr>
      </p:sp>
      <p:sp>
        <p:nvSpPr>
          <p:cNvPr id="11" name="Text 9"/>
          <p:cNvSpPr txBox="1"/>
          <p:nvPr/>
        </p:nvSpPr>
        <p:spPr>
          <a:xfrm>
            <a:off x="685800" y="3172968"/>
            <a:ext cx="2514600" cy="653796"/>
          </a:xfrm>
          <a:prstGeom prst="rect">
            <a:avLst/>
          </a:prstGeom>
          <a:noFill/>
          <a:ln/>
        </p:spPr>
        <p:txBody>
          <a:bodyPr wrap="square" lIns="0" tIns="0" rIns="0" bIns="0" rtlCol="0" anchor="b"/>
          <a:lstStyle/>
          <a:p>
            <a:pPr algn="l" indent="0" marL="0">
              <a:buNone/>
            </a:pPr>
            <a:r>
              <a:rPr lang="en-US" sz="2600" b="1" dirty="0">
                <a:solidFill>
                  <a:srgbClr val="2F3C7E"/>
                </a:solidFill>
                <a:latin typeface="Cambria" pitchFamily="34" charset="0"/>
                <a:ea typeface="Cambria" pitchFamily="34" charset="-122"/>
                <a:cs typeface="Cambria" pitchFamily="34" charset="-120"/>
              </a:rPr>
              <a:t>0,453</a:t>
            </a:r>
            <a:endParaRPr lang="en-US" sz="2600" dirty="0"/>
          </a:p>
        </p:txBody>
      </p:sp>
      <p:sp>
        <p:nvSpPr>
          <p:cNvPr id="12" name="Text 10"/>
          <p:cNvSpPr txBox="1"/>
          <p:nvPr/>
        </p:nvSpPr>
        <p:spPr>
          <a:xfrm>
            <a:off x="685800" y="3776472"/>
            <a:ext cx="2514600" cy="451714"/>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R² (test)</a:t>
            </a:r>
            <a:endParaRPr lang="en-US" sz="1200" dirty="0"/>
          </a:p>
        </p:txBody>
      </p:sp>
      <p:sp>
        <p:nvSpPr>
          <p:cNvPr id="13" name="Shape 11"/>
          <p:cNvSpPr/>
          <p:nvPr/>
        </p:nvSpPr>
        <p:spPr>
          <a:xfrm>
            <a:off x="3520440" y="3063240"/>
            <a:ext cx="2788920" cy="1188720"/>
          </a:xfrm>
          <a:prstGeom prst="roundRect">
            <a:avLst>
              <a:gd name="adj" fmla="val 6154"/>
            </a:avLst>
          </a:prstGeom>
          <a:solidFill>
            <a:srgbClr val="F5F6FA"/>
          </a:solidFill>
          <a:ln/>
          <a:effectLst>
            <a:outerShdw sx="100000" sy="100000" kx="0" ky="0" algn="bl" rotWithShape="0" blurRad="76200" dist="25400" dir="5400000">
              <a:srgbClr val="000000">
                <a:alpha val="12000"/>
              </a:srgbClr>
            </a:outerShdw>
          </a:effectLst>
        </p:spPr>
      </p:sp>
      <p:sp>
        <p:nvSpPr>
          <p:cNvPr id="14" name="Text 12"/>
          <p:cNvSpPr txBox="1"/>
          <p:nvPr/>
        </p:nvSpPr>
        <p:spPr>
          <a:xfrm>
            <a:off x="3657600" y="3172968"/>
            <a:ext cx="2514600" cy="653796"/>
          </a:xfrm>
          <a:prstGeom prst="rect">
            <a:avLst/>
          </a:prstGeom>
          <a:noFill/>
          <a:ln/>
        </p:spPr>
        <p:txBody>
          <a:bodyPr wrap="square" lIns="0" tIns="0" rIns="0" bIns="0" rtlCol="0" anchor="b"/>
          <a:lstStyle/>
          <a:p>
            <a:pPr algn="l" indent="0" marL="0">
              <a:buNone/>
            </a:pPr>
            <a:r>
              <a:rPr lang="en-US" sz="2600" b="1" dirty="0">
                <a:solidFill>
                  <a:srgbClr val="2F3C7E"/>
                </a:solidFill>
                <a:latin typeface="Cambria" pitchFamily="34" charset="0"/>
                <a:ea typeface="Cambria" pitchFamily="34" charset="-122"/>
                <a:cs typeface="Cambria" pitchFamily="34" charset="-120"/>
              </a:rPr>
              <a:t>36,1 %</a:t>
            </a:r>
            <a:endParaRPr lang="en-US" sz="2600" dirty="0"/>
          </a:p>
        </p:txBody>
      </p:sp>
      <p:sp>
        <p:nvSpPr>
          <p:cNvPr id="15" name="Text 13"/>
          <p:cNvSpPr txBox="1"/>
          <p:nvPr/>
        </p:nvSpPr>
        <p:spPr>
          <a:xfrm>
            <a:off x="3657600" y="3776472"/>
            <a:ext cx="2514600" cy="451714"/>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MAPE (test)</a:t>
            </a:r>
            <a:endParaRPr lang="en-US" sz="1200" dirty="0"/>
          </a:p>
        </p:txBody>
      </p:sp>
      <p:sp>
        <p:nvSpPr>
          <p:cNvPr id="16" name="Text 14"/>
          <p:cNvSpPr txBox="1"/>
          <p:nvPr/>
        </p:nvSpPr>
        <p:spPr>
          <a:xfrm>
            <a:off x="548640" y="4480560"/>
            <a:ext cx="5760720" cy="320040"/>
          </a:xfrm>
          <a:prstGeom prst="rect">
            <a:avLst/>
          </a:prstGeom>
          <a:noFill/>
          <a:ln/>
        </p:spPr>
        <p:txBody>
          <a:bodyPr wrap="square" lIns="0" tIns="0" rIns="0" bIns="0" rtlCol="0" anchor="ctr"/>
          <a:lstStyle/>
          <a:p>
            <a:pPr indent="0" marL="0">
              <a:buNone/>
            </a:pPr>
            <a:r>
              <a:rPr lang="en-US" sz="1300" b="1" dirty="0">
                <a:solidFill>
                  <a:srgbClr val="1B1F3B"/>
                </a:solidFill>
                <a:latin typeface="Calibri" pitchFamily="34" charset="0"/>
                <a:ea typeface="Calibri" pitchFamily="34" charset="-122"/>
                <a:cs typeface="Calibri" pitchFamily="34" charset="-120"/>
              </a:rPr>
              <a:t>Hyperparametres retenus (RandomizedSearchCV, cv=3) :</a:t>
            </a:r>
            <a:endParaRPr lang="en-US" sz="1300" dirty="0"/>
          </a:p>
        </p:txBody>
      </p:sp>
      <p:sp>
        <p:nvSpPr>
          <p:cNvPr id="17" name="Text 15"/>
          <p:cNvSpPr txBox="1"/>
          <p:nvPr/>
        </p:nvSpPr>
        <p:spPr>
          <a:xfrm>
            <a:off x="548640" y="4846320"/>
            <a:ext cx="5760720" cy="1371600"/>
          </a:xfrm>
          <a:prstGeom prst="rect">
            <a:avLst/>
          </a:prstGeom>
          <a:noFill/>
          <a:ln/>
        </p:spPr>
        <p:txBody>
          <a:bodyPr wrap="square" lIns="0" tIns="0" rIns="0" bIns="0" rtlCol="0" anchor="t"/>
          <a:lstStyle/>
          <a:p>
            <a:pPr marL="228600" indent="-228600">
              <a:spcAft>
                <a:spcPts val="1000"/>
              </a:spcAft>
              <a:buSzPct val="100000"/>
              <a:buChar char="●"/>
            </a:pPr>
            <a:r>
              <a:rPr lang="en-US" sz="1250" dirty="0">
                <a:solidFill>
                  <a:srgbClr val="1B1F3B"/>
                </a:solidFill>
                <a:latin typeface="Calibri" pitchFamily="34" charset="0"/>
                <a:ea typeface="Calibri" pitchFamily="34" charset="-122"/>
                <a:cs typeface="Calibri" pitchFamily="34" charset="-120"/>
              </a:rPr>
              <a:t>n_estimators = 400, max_depth = 6, learning_rate = 0,03, subsample = 0,7</a:t>
            </a:r>
            <a:endParaRPr lang="en-US" sz="1250" dirty="0"/>
          </a:p>
          <a:p>
            <a:pPr marL="228600" indent="-228600">
              <a:spcAft>
                <a:spcPts val="1000"/>
              </a:spcAft>
              <a:buSzPct val="100000"/>
              <a:buChar char="●"/>
            </a:pPr>
            <a:r>
              <a:rPr lang="en-US" sz="1250" dirty="0">
                <a:solidFill>
                  <a:srgbClr val="1B1F3B"/>
                </a:solidFill>
                <a:latin typeface="Calibri" pitchFamily="34" charset="0"/>
                <a:ea typeface="Calibri" pitchFamily="34" charset="-122"/>
                <a:cs typeface="Calibri" pitchFamily="34" charset="-120"/>
              </a:rPr>
              <a:t>Gain vs version par defaut : RMSE 85,05 $ → 84,49 $ (-0,66 %)</a:t>
            </a:r>
            <a:endParaRPr lang="en-US" sz="1250" dirty="0"/>
          </a:p>
        </p:txBody>
      </p:sp>
      <p:pic>
        <p:nvPicPr>
          <p:cNvPr id="18" name="Image 0" descr="C:\Users\Asus\Downloads\Airbnb\reports\figures\07_feature_importance.png">    </p:cNvPr>
          <p:cNvPicPr>
            <a:picLocks noChangeAspect="1"/>
          </p:cNvPicPr>
          <p:nvPr/>
        </p:nvPicPr>
        <p:blipFill>
          <a:blip r:embed="rId1"/>
          <a:stretch>
            <a:fillRect/>
          </a:stretch>
        </p:blipFill>
        <p:spPr>
          <a:xfrm>
            <a:off x="6629400" y="1737360"/>
            <a:ext cx="5029200" cy="4526280"/>
          </a:xfrm>
          <a:prstGeom prst="rect">
            <a:avLst/>
          </a:prstGeom>
        </p:spPr>
      </p:pic>
      <p:sp>
        <p:nvSpPr>
          <p:cNvPr id="19" name="Text 16"/>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06 . ANALYSE CRITIQUE</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Points forts et limites</a:t>
            </a:r>
            <a:endParaRPr lang="en-US" sz="3200" dirty="0"/>
          </a:p>
        </p:txBody>
      </p:sp>
      <p:sp>
        <p:nvSpPr>
          <p:cNvPr id="4" name="Shape 2"/>
          <p:cNvSpPr/>
          <p:nvPr/>
        </p:nvSpPr>
        <p:spPr>
          <a:xfrm>
            <a:off x="548640" y="1783080"/>
            <a:ext cx="5440680" cy="4206240"/>
          </a:xfrm>
          <a:prstGeom prst="roundRect">
            <a:avLst>
              <a:gd name="adj" fmla="val 1739"/>
            </a:avLst>
          </a:prstGeom>
          <a:solidFill>
            <a:srgbClr val="EAF6EE"/>
          </a:solidFill>
          <a:ln/>
        </p:spPr>
      </p:sp>
      <p:sp>
        <p:nvSpPr>
          <p:cNvPr id="5" name="Text 3"/>
          <p:cNvSpPr txBox="1"/>
          <p:nvPr/>
        </p:nvSpPr>
        <p:spPr>
          <a:xfrm>
            <a:off x="822960" y="1965960"/>
            <a:ext cx="4937760" cy="365760"/>
          </a:xfrm>
          <a:prstGeom prst="rect">
            <a:avLst/>
          </a:prstGeom>
          <a:noFill/>
          <a:ln/>
        </p:spPr>
        <p:txBody>
          <a:bodyPr wrap="square" lIns="0" tIns="0" rIns="0" bIns="0" rtlCol="0" anchor="ctr"/>
          <a:lstStyle/>
          <a:p>
            <a:pPr indent="0" marL="0">
              <a:buNone/>
            </a:pPr>
            <a:r>
              <a:rPr lang="en-US" sz="1800" b="1" dirty="0">
                <a:solidFill>
                  <a:srgbClr val="1E7A3E"/>
                </a:solidFill>
                <a:latin typeface="Cambria" pitchFamily="34" charset="0"/>
                <a:ea typeface="Cambria" pitchFamily="34" charset="-122"/>
                <a:cs typeface="Cambria" pitchFamily="34" charset="-120"/>
              </a:rPr>
              <a:t>Points forts</a:t>
            </a:r>
            <a:endParaRPr lang="en-US" sz="1800" dirty="0"/>
          </a:p>
        </p:txBody>
      </p:sp>
      <p:sp>
        <p:nvSpPr>
          <p:cNvPr id="6" name="Text 4"/>
          <p:cNvSpPr txBox="1"/>
          <p:nvPr/>
        </p:nvSpPr>
        <p:spPr>
          <a:xfrm>
            <a:off x="822960" y="2423160"/>
            <a:ext cx="4937760" cy="3383280"/>
          </a:xfrm>
          <a:prstGeom prst="rect">
            <a:avLst/>
          </a:prstGeom>
          <a:noFill/>
          <a:ln/>
        </p:spPr>
        <p:txBody>
          <a:bodyPr wrap="square" lIns="0" tIns="0" rIns="0" bIns="0" rtlCol="0" anchor="t"/>
          <a:lstStyle/>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Chaine complete : donnees -&gt; pretraitement -&gt; 12 modeles -&gt; optimisation -&gt; app</a:t>
            </a:r>
            <a:endParaRPr lang="en-US" sz="1300" dirty="0"/>
          </a:p>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Protocole identique et reproductible pour tous les modeles</a:t>
            </a:r>
            <a:endParaRPr lang="en-US" sz="1300" dirty="0"/>
          </a:p>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Feature engineering geographique original (distance haversine)</a:t>
            </a:r>
            <a:endParaRPr lang="en-US" sz="1300" dirty="0"/>
          </a:p>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Interface graphique fonctionnelle au-dela du simple notebook</a:t>
            </a:r>
            <a:endParaRPr lang="en-US" sz="1300" dirty="0"/>
          </a:p>
        </p:txBody>
      </p:sp>
      <p:sp>
        <p:nvSpPr>
          <p:cNvPr id="7" name="Shape 5"/>
          <p:cNvSpPr/>
          <p:nvPr/>
        </p:nvSpPr>
        <p:spPr>
          <a:xfrm>
            <a:off x="6217920" y="1783080"/>
            <a:ext cx="5440680" cy="4206240"/>
          </a:xfrm>
          <a:prstGeom prst="roundRect">
            <a:avLst>
              <a:gd name="adj" fmla="val 1739"/>
            </a:avLst>
          </a:prstGeom>
          <a:solidFill>
            <a:srgbClr val="FDECEC"/>
          </a:solidFill>
          <a:ln/>
        </p:spPr>
      </p:sp>
      <p:sp>
        <p:nvSpPr>
          <p:cNvPr id="8" name="Text 6"/>
          <p:cNvSpPr txBox="1"/>
          <p:nvPr/>
        </p:nvSpPr>
        <p:spPr>
          <a:xfrm>
            <a:off x="6492240" y="1965960"/>
            <a:ext cx="4937760" cy="365760"/>
          </a:xfrm>
          <a:prstGeom prst="rect">
            <a:avLst/>
          </a:prstGeom>
          <a:noFill/>
          <a:ln/>
        </p:spPr>
        <p:txBody>
          <a:bodyPr wrap="square" lIns="0" tIns="0" rIns="0" bIns="0" rtlCol="0" anchor="ctr"/>
          <a:lstStyle/>
          <a:p>
            <a:pPr indent="0" marL="0">
              <a:buNone/>
            </a:pPr>
            <a:r>
              <a:rPr lang="en-US" sz="1800" b="1" dirty="0">
                <a:solidFill>
                  <a:srgbClr val="B23A48"/>
                </a:solidFill>
                <a:latin typeface="Cambria" pitchFamily="34" charset="0"/>
                <a:ea typeface="Cambria" pitchFamily="34" charset="-122"/>
                <a:cs typeface="Cambria" pitchFamily="34" charset="-120"/>
              </a:rPr>
              <a:t>Limites assumees</a:t>
            </a:r>
            <a:endParaRPr lang="en-US" sz="1800" dirty="0"/>
          </a:p>
        </p:txBody>
      </p:sp>
      <p:sp>
        <p:nvSpPr>
          <p:cNvPr id="9" name="Text 7"/>
          <p:cNvSpPr txBox="1"/>
          <p:nvPr/>
        </p:nvSpPr>
        <p:spPr>
          <a:xfrm>
            <a:off x="6492240" y="2423160"/>
            <a:ext cx="4937760" cy="3383280"/>
          </a:xfrm>
          <a:prstGeom prst="rect">
            <a:avLst/>
          </a:prstGeom>
          <a:noFill/>
          <a:ln/>
        </p:spPr>
        <p:txBody>
          <a:bodyPr wrap="square" lIns="0" tIns="0" rIns="0" bIns="0" rtlCol="0" anchor="t"/>
          <a:lstStyle/>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R² ≈ 0,45 : pas de photos/texte -&gt; variance structurellement inexpliquee</a:t>
            </a:r>
            <a:endParaRPr lang="en-US" sz="1300" dirty="0"/>
          </a:p>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SVR entraine sur un sous-echantillon (6000 lignes) pour le temps de calcul</a:t>
            </a:r>
            <a:endParaRPr lang="en-US" sz="1300" dirty="0"/>
          </a:p>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Donnees de 2019 : prix absolus non actualises</a:t>
            </a:r>
            <a:endParaRPr lang="en-US" sz="1300" dirty="0"/>
          </a:p>
          <a:p>
            <a:pPr marL="228600" indent="-228600">
              <a:spcAft>
                <a:spcPts val="1200"/>
              </a:spcAft>
              <a:buSzPct val="100000"/>
              <a:buChar char="●"/>
            </a:pPr>
            <a:r>
              <a:rPr lang="en-US" sz="1300" dirty="0">
                <a:solidFill>
                  <a:srgbClr val="1B1F3B"/>
                </a:solidFill>
                <a:latin typeface="Calibri" pitchFamily="34" charset="0"/>
                <a:ea typeface="Calibri" pitchFamily="34" charset="-122"/>
                <a:cs typeface="Calibri" pitchFamily="34" charset="-120"/>
              </a:rPr>
              <a:t>Pas de base de donnees persistante pour l'app (limite de portee du TP)</a:t>
            </a:r>
            <a:endParaRPr lang="en-US" sz="1300" dirty="0"/>
          </a:p>
        </p:txBody>
      </p:sp>
      <p:sp>
        <p:nvSpPr>
          <p:cNvPr id="10" name="Text 8"/>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06 . DEMONSTRATION</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L'application Streamlit</a:t>
            </a:r>
            <a:endParaRPr lang="en-US" sz="3200" dirty="0"/>
          </a:p>
        </p:txBody>
      </p:sp>
      <p:sp>
        <p:nvSpPr>
          <p:cNvPr id="4" name="Shape 2"/>
          <p:cNvSpPr/>
          <p:nvPr/>
        </p:nvSpPr>
        <p:spPr>
          <a:xfrm>
            <a:off x="548640" y="1783080"/>
            <a:ext cx="3566160" cy="1554480"/>
          </a:xfrm>
          <a:prstGeom prst="roundRect">
            <a:avLst>
              <a:gd name="adj" fmla="val 4706"/>
            </a:avLst>
          </a:prstGeom>
          <a:solidFill>
            <a:srgbClr val="F5F6FA"/>
          </a:solidFill>
          <a:ln/>
        </p:spPr>
      </p:sp>
      <p:sp>
        <p:nvSpPr>
          <p:cNvPr id="5" name="Shape 3"/>
          <p:cNvSpPr/>
          <p:nvPr/>
        </p:nvSpPr>
        <p:spPr>
          <a:xfrm>
            <a:off x="777240" y="1965960"/>
            <a:ext cx="457200" cy="457200"/>
          </a:xfrm>
          <a:prstGeom prst="ellipse">
            <a:avLst/>
          </a:prstGeom>
          <a:solidFill>
            <a:srgbClr val="2F3C7E"/>
          </a:solidFill>
          <a:ln/>
        </p:spPr>
      </p:sp>
      <p:sp>
        <p:nvSpPr>
          <p:cNvPr id="6" name="Text 4"/>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71600" y="1947672"/>
            <a:ext cx="2606040" cy="502920"/>
          </a:xfrm>
          <a:prstGeom prst="rect">
            <a:avLst/>
          </a:prstGeom>
          <a:noFill/>
          <a:ln/>
        </p:spPr>
        <p:txBody>
          <a:bodyPr wrap="square" lIns="0" tIns="0" rIns="0" bIns="0" rtlCol="0" anchor="ctr"/>
          <a:lstStyle/>
          <a:p>
            <a:pPr indent="0" marL="0">
              <a:buNone/>
            </a:pPr>
            <a:r>
              <a:rPr lang="en-US" sz="1250" b="1" dirty="0">
                <a:solidFill>
                  <a:srgbClr val="1B1F3B"/>
                </a:solidFill>
                <a:latin typeface="Calibri" pitchFamily="34" charset="0"/>
                <a:ea typeface="Calibri" pitchFamily="34" charset="-122"/>
                <a:cs typeface="Calibri" pitchFamily="34" charset="-120"/>
              </a:rPr>
              <a:t>Exploration des donnees</a:t>
            </a:r>
            <a:endParaRPr lang="en-US" sz="1250" dirty="0"/>
          </a:p>
        </p:txBody>
      </p:sp>
      <p:sp>
        <p:nvSpPr>
          <p:cNvPr id="8" name="Text 6"/>
          <p:cNvSpPr txBox="1"/>
          <p:nvPr/>
        </p:nvSpPr>
        <p:spPr>
          <a:xfrm>
            <a:off x="777240" y="2606040"/>
            <a:ext cx="3154680" cy="64008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Statistiques, distribution des prix, carte des annonces</a:t>
            </a:r>
            <a:endParaRPr lang="en-US" sz="1050" dirty="0"/>
          </a:p>
        </p:txBody>
      </p:sp>
      <p:sp>
        <p:nvSpPr>
          <p:cNvPr id="9" name="Shape 7"/>
          <p:cNvSpPr/>
          <p:nvPr/>
        </p:nvSpPr>
        <p:spPr>
          <a:xfrm>
            <a:off x="4343400" y="1783080"/>
            <a:ext cx="3566160" cy="1554480"/>
          </a:xfrm>
          <a:prstGeom prst="roundRect">
            <a:avLst>
              <a:gd name="adj" fmla="val 4706"/>
            </a:avLst>
          </a:prstGeom>
          <a:solidFill>
            <a:srgbClr val="F5F6FA"/>
          </a:solidFill>
          <a:ln/>
        </p:spPr>
      </p:sp>
      <p:sp>
        <p:nvSpPr>
          <p:cNvPr id="10" name="Shape 8"/>
          <p:cNvSpPr/>
          <p:nvPr/>
        </p:nvSpPr>
        <p:spPr>
          <a:xfrm>
            <a:off x="4572000" y="1965960"/>
            <a:ext cx="457200" cy="457200"/>
          </a:xfrm>
          <a:prstGeom prst="ellipse">
            <a:avLst/>
          </a:prstGeom>
          <a:solidFill>
            <a:srgbClr val="2F3C7E"/>
          </a:solidFill>
          <a:ln/>
        </p:spPr>
      </p:sp>
      <p:sp>
        <p:nvSpPr>
          <p:cNvPr id="11" name="Text 9"/>
          <p:cNvSpPr txBox="1"/>
          <p:nvPr/>
        </p:nvSpPr>
        <p:spPr>
          <a:xfrm>
            <a:off x="457200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166360" y="1947672"/>
            <a:ext cx="2606040" cy="502920"/>
          </a:xfrm>
          <a:prstGeom prst="rect">
            <a:avLst/>
          </a:prstGeom>
          <a:noFill/>
          <a:ln/>
        </p:spPr>
        <p:txBody>
          <a:bodyPr wrap="square" lIns="0" tIns="0" rIns="0" bIns="0" rtlCol="0" anchor="ctr"/>
          <a:lstStyle/>
          <a:p>
            <a:pPr indent="0" marL="0">
              <a:buNone/>
            </a:pPr>
            <a:r>
              <a:rPr lang="en-US" sz="1250" b="1" dirty="0">
                <a:solidFill>
                  <a:srgbClr val="1B1F3B"/>
                </a:solidFill>
                <a:latin typeface="Calibri" pitchFamily="34" charset="0"/>
                <a:ea typeface="Calibri" pitchFamily="34" charset="-122"/>
                <a:cs typeface="Calibri" pitchFamily="34" charset="-120"/>
              </a:rPr>
              <a:t>Entrainement / choix du modele</a:t>
            </a:r>
            <a:endParaRPr lang="en-US" sz="1250" dirty="0"/>
          </a:p>
        </p:txBody>
      </p:sp>
      <p:sp>
        <p:nvSpPr>
          <p:cNvPr id="13" name="Text 11"/>
          <p:cNvSpPr txBox="1"/>
          <p:nvPr/>
        </p:nvSpPr>
        <p:spPr>
          <a:xfrm>
            <a:off x="4572000" y="2606040"/>
            <a:ext cx="3154680" cy="64008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9 modeles parametrables, metriques en temps reel</a:t>
            </a:r>
            <a:endParaRPr lang="en-US" sz="1050" dirty="0"/>
          </a:p>
        </p:txBody>
      </p:sp>
      <p:sp>
        <p:nvSpPr>
          <p:cNvPr id="14" name="Shape 12"/>
          <p:cNvSpPr/>
          <p:nvPr/>
        </p:nvSpPr>
        <p:spPr>
          <a:xfrm>
            <a:off x="8138160" y="1783080"/>
            <a:ext cx="3566160" cy="1554480"/>
          </a:xfrm>
          <a:prstGeom prst="roundRect">
            <a:avLst>
              <a:gd name="adj" fmla="val 4706"/>
            </a:avLst>
          </a:prstGeom>
          <a:solidFill>
            <a:srgbClr val="F5F6FA"/>
          </a:solidFill>
          <a:ln/>
        </p:spPr>
      </p:sp>
      <p:sp>
        <p:nvSpPr>
          <p:cNvPr id="15" name="Shape 13"/>
          <p:cNvSpPr/>
          <p:nvPr/>
        </p:nvSpPr>
        <p:spPr>
          <a:xfrm>
            <a:off x="8366760" y="1965960"/>
            <a:ext cx="457200" cy="457200"/>
          </a:xfrm>
          <a:prstGeom prst="ellipse">
            <a:avLst/>
          </a:prstGeom>
          <a:solidFill>
            <a:srgbClr val="2F3C7E"/>
          </a:solidFill>
          <a:ln/>
        </p:spPr>
      </p:sp>
      <p:sp>
        <p:nvSpPr>
          <p:cNvPr id="16" name="Text 14"/>
          <p:cNvSpPr txBox="1"/>
          <p:nvPr/>
        </p:nvSpPr>
        <p:spPr>
          <a:xfrm>
            <a:off x="836676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8961120" y="1947672"/>
            <a:ext cx="2606040" cy="502920"/>
          </a:xfrm>
          <a:prstGeom prst="rect">
            <a:avLst/>
          </a:prstGeom>
          <a:noFill/>
          <a:ln/>
        </p:spPr>
        <p:txBody>
          <a:bodyPr wrap="square" lIns="0" tIns="0" rIns="0" bIns="0" rtlCol="0" anchor="ctr"/>
          <a:lstStyle/>
          <a:p>
            <a:pPr indent="0" marL="0">
              <a:buNone/>
            </a:pPr>
            <a:r>
              <a:rPr lang="en-US" sz="1250" b="1" dirty="0">
                <a:solidFill>
                  <a:srgbClr val="1B1F3B"/>
                </a:solidFill>
                <a:latin typeface="Calibri" pitchFamily="34" charset="0"/>
                <a:ea typeface="Calibri" pitchFamily="34" charset="-122"/>
                <a:cs typeface="Calibri" pitchFamily="34" charset="-120"/>
              </a:rPr>
              <a:t>Test / Prediction</a:t>
            </a:r>
            <a:endParaRPr lang="en-US" sz="1250" dirty="0"/>
          </a:p>
        </p:txBody>
      </p:sp>
      <p:sp>
        <p:nvSpPr>
          <p:cNvPr id="18" name="Text 16"/>
          <p:cNvSpPr txBox="1"/>
          <p:nvPr/>
        </p:nvSpPr>
        <p:spPr>
          <a:xfrm>
            <a:off x="8366760" y="2606040"/>
            <a:ext cx="3154680" cy="64008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Saisie utilisateur, prediction, carte, comparaison</a:t>
            </a:r>
            <a:endParaRPr lang="en-US" sz="1050" dirty="0"/>
          </a:p>
        </p:txBody>
      </p:sp>
      <p:sp>
        <p:nvSpPr>
          <p:cNvPr id="19" name="Text 17"/>
          <p:cNvSpPr txBox="1"/>
          <p:nvPr/>
        </p:nvSpPr>
        <p:spPr>
          <a:xfrm>
            <a:off x="548640" y="3611880"/>
            <a:ext cx="5486400" cy="320040"/>
          </a:xfrm>
          <a:prstGeom prst="rect">
            <a:avLst/>
          </a:prstGeom>
          <a:noFill/>
          <a:ln/>
        </p:spPr>
        <p:txBody>
          <a:bodyPr wrap="square" lIns="0" tIns="0" rIns="0" bIns="0" rtlCol="0" anchor="ctr"/>
          <a:lstStyle/>
          <a:p>
            <a:pPr indent="0" marL="0">
              <a:buNone/>
            </a:pPr>
            <a:r>
              <a:rPr lang="en-US" sz="1300" b="1" dirty="0">
                <a:solidFill>
                  <a:srgbClr val="1B1F3B"/>
                </a:solidFill>
                <a:latin typeface="Calibri" pitchFamily="34" charset="0"/>
                <a:ea typeface="Calibri" pitchFamily="34" charset="-122"/>
                <a:cs typeface="Calibri" pitchFamily="34" charset="-120"/>
              </a:rPr>
              <a:t>Exemple reel de prediction (onglet Test)</a:t>
            </a:r>
            <a:endParaRPr lang="en-US" sz="1300" dirty="0"/>
          </a:p>
        </p:txBody>
      </p:sp>
      <p:sp>
        <p:nvSpPr>
          <p:cNvPr id="20" name="Shape 18"/>
          <p:cNvSpPr/>
          <p:nvPr/>
        </p:nvSpPr>
        <p:spPr>
          <a:xfrm>
            <a:off x="548640" y="3977640"/>
            <a:ext cx="10972800" cy="1737360"/>
          </a:xfrm>
          <a:prstGeom prst="roundRect">
            <a:avLst>
              <a:gd name="adj" fmla="val 4211"/>
            </a:avLst>
          </a:prstGeom>
          <a:solidFill>
            <a:srgbClr val="2F3C7E"/>
          </a:solidFill>
          <a:ln/>
        </p:spPr>
      </p:sp>
      <p:sp>
        <p:nvSpPr>
          <p:cNvPr id="21" name="Text 19"/>
          <p:cNvSpPr txBox="1"/>
          <p:nvPr/>
        </p:nvSpPr>
        <p:spPr>
          <a:xfrm>
            <a:off x="822960" y="4160520"/>
            <a:ext cx="2606040" cy="6400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Bronx, Entire home/apt</a:t>
            </a:r>
            <a:endParaRPr lang="en-US" sz="1900" dirty="0"/>
          </a:p>
        </p:txBody>
      </p:sp>
      <p:sp>
        <p:nvSpPr>
          <p:cNvPr id="22" name="Text 20"/>
          <p:cNvSpPr txBox="1"/>
          <p:nvPr/>
        </p:nvSpPr>
        <p:spPr>
          <a:xfrm>
            <a:off x="822960" y="4800600"/>
            <a:ext cx="2606040" cy="457200"/>
          </a:xfrm>
          <a:prstGeom prst="rect">
            <a:avLst/>
          </a:prstGeom>
          <a:noFill/>
          <a:ln/>
        </p:spPr>
        <p:txBody>
          <a:bodyPr wrap="square" lIns="0" tIns="0" rIns="0" bIns="0" rtlCol="0" anchor="ctr"/>
          <a:lstStyle/>
          <a:p>
            <a:pPr indent="0" marL="0">
              <a:buNone/>
            </a:pPr>
            <a:r>
              <a:rPr lang="en-US" sz="1100" dirty="0">
                <a:solidFill>
                  <a:srgbClr val="CFD5EE"/>
                </a:solidFill>
                <a:latin typeface="Calibri" pitchFamily="34" charset="0"/>
                <a:ea typeface="Calibri" pitchFamily="34" charset="-122"/>
                <a:cs typeface="Calibri" pitchFamily="34" charset="-120"/>
              </a:rPr>
              <a:t>Logement</a:t>
            </a:r>
            <a:endParaRPr lang="en-US" sz="1100" dirty="0"/>
          </a:p>
        </p:txBody>
      </p:sp>
      <p:sp>
        <p:nvSpPr>
          <p:cNvPr id="23" name="Text 21"/>
          <p:cNvSpPr txBox="1"/>
          <p:nvPr/>
        </p:nvSpPr>
        <p:spPr>
          <a:xfrm>
            <a:off x="3520440" y="4160520"/>
            <a:ext cx="2606040" cy="640080"/>
          </a:xfrm>
          <a:prstGeom prst="rect">
            <a:avLst/>
          </a:prstGeom>
          <a:noFill/>
          <a:ln/>
        </p:spPr>
        <p:txBody>
          <a:bodyPr wrap="square" lIns="0" tIns="0" rIns="0" bIns="0" rtlCol="0" anchor="ctr"/>
          <a:lstStyle/>
          <a:p>
            <a:pPr indent="0" marL="0">
              <a:buNone/>
            </a:pPr>
            <a:r>
              <a:rPr lang="en-US" sz="1900" b="1" dirty="0">
                <a:solidFill>
                  <a:srgbClr val="F96167"/>
                </a:solidFill>
                <a:latin typeface="Cambria" pitchFamily="34" charset="0"/>
                <a:ea typeface="Cambria" pitchFamily="34" charset="-122"/>
                <a:cs typeface="Cambria" pitchFamily="34" charset="-120"/>
              </a:rPr>
              <a:t>166 $ / nuit</a:t>
            </a:r>
            <a:endParaRPr lang="en-US" sz="1900" dirty="0"/>
          </a:p>
        </p:txBody>
      </p:sp>
      <p:sp>
        <p:nvSpPr>
          <p:cNvPr id="24" name="Text 22"/>
          <p:cNvSpPr txBox="1"/>
          <p:nvPr/>
        </p:nvSpPr>
        <p:spPr>
          <a:xfrm>
            <a:off x="3520440" y="4800600"/>
            <a:ext cx="2606040" cy="457200"/>
          </a:xfrm>
          <a:prstGeom prst="rect">
            <a:avLst/>
          </a:prstGeom>
          <a:noFill/>
          <a:ln/>
        </p:spPr>
        <p:txBody>
          <a:bodyPr wrap="square" lIns="0" tIns="0" rIns="0" bIns="0" rtlCol="0" anchor="ctr"/>
          <a:lstStyle/>
          <a:p>
            <a:pPr indent="0" marL="0">
              <a:buNone/>
            </a:pPr>
            <a:r>
              <a:rPr lang="en-US" sz="1100" dirty="0">
                <a:solidFill>
                  <a:srgbClr val="CFD5EE"/>
                </a:solidFill>
                <a:latin typeface="Calibri" pitchFamily="34" charset="0"/>
                <a:ea typeface="Calibri" pitchFamily="34" charset="-122"/>
                <a:cs typeface="Calibri" pitchFamily="34" charset="-120"/>
              </a:rPr>
              <a:t>Prix predit</a:t>
            </a:r>
            <a:endParaRPr lang="en-US" sz="1100" dirty="0"/>
          </a:p>
        </p:txBody>
      </p:sp>
      <p:sp>
        <p:nvSpPr>
          <p:cNvPr id="25" name="Text 23"/>
          <p:cNvSpPr txBox="1"/>
          <p:nvPr/>
        </p:nvSpPr>
        <p:spPr>
          <a:xfrm>
            <a:off x="6217920" y="4160520"/>
            <a:ext cx="2606040" cy="6400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87 $</a:t>
            </a:r>
            <a:endParaRPr lang="en-US" sz="1900" dirty="0"/>
          </a:p>
        </p:txBody>
      </p:sp>
      <p:sp>
        <p:nvSpPr>
          <p:cNvPr id="26" name="Text 24"/>
          <p:cNvSpPr txBox="1"/>
          <p:nvPr/>
        </p:nvSpPr>
        <p:spPr>
          <a:xfrm>
            <a:off x="6217920" y="4800600"/>
            <a:ext cx="2606040" cy="457200"/>
          </a:xfrm>
          <a:prstGeom prst="rect">
            <a:avLst/>
          </a:prstGeom>
          <a:noFill/>
          <a:ln/>
        </p:spPr>
        <p:txBody>
          <a:bodyPr wrap="square" lIns="0" tIns="0" rIns="0" bIns="0" rtlCol="0" anchor="ctr"/>
          <a:lstStyle/>
          <a:p>
            <a:pPr indent="0" marL="0">
              <a:buNone/>
            </a:pPr>
            <a:r>
              <a:rPr lang="en-US" sz="1100" dirty="0">
                <a:solidFill>
                  <a:srgbClr val="CFD5EE"/>
                </a:solidFill>
                <a:latin typeface="Calibri" pitchFamily="34" charset="0"/>
                <a:ea typeface="Calibri" pitchFamily="34" charset="-122"/>
                <a:cs typeface="Calibri" pitchFamily="34" charset="-120"/>
              </a:rPr>
              <a:t>Prix moyen (Bronx)</a:t>
            </a:r>
            <a:endParaRPr lang="en-US" sz="1100" dirty="0"/>
          </a:p>
        </p:txBody>
      </p:sp>
      <p:sp>
        <p:nvSpPr>
          <p:cNvPr id="27" name="Text 25"/>
          <p:cNvSpPr txBox="1"/>
          <p:nvPr/>
        </p:nvSpPr>
        <p:spPr>
          <a:xfrm>
            <a:off x="8915400" y="4160520"/>
            <a:ext cx="2606040" cy="6400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+79 $</a:t>
            </a:r>
            <a:endParaRPr lang="en-US" sz="1900" dirty="0"/>
          </a:p>
        </p:txBody>
      </p:sp>
      <p:sp>
        <p:nvSpPr>
          <p:cNvPr id="28" name="Text 26"/>
          <p:cNvSpPr txBox="1"/>
          <p:nvPr/>
        </p:nvSpPr>
        <p:spPr>
          <a:xfrm>
            <a:off x="8915400" y="4800600"/>
            <a:ext cx="2606040" cy="457200"/>
          </a:xfrm>
          <a:prstGeom prst="rect">
            <a:avLst/>
          </a:prstGeom>
          <a:noFill/>
          <a:ln/>
        </p:spPr>
        <p:txBody>
          <a:bodyPr wrap="square" lIns="0" tIns="0" rIns="0" bIns="0" rtlCol="0" anchor="ctr"/>
          <a:lstStyle/>
          <a:p>
            <a:pPr indent="0" marL="0">
              <a:buNone/>
            </a:pPr>
            <a:r>
              <a:rPr lang="en-US" sz="1100" dirty="0">
                <a:solidFill>
                  <a:srgbClr val="CFD5EE"/>
                </a:solidFill>
                <a:latin typeface="Calibri" pitchFamily="34" charset="0"/>
                <a:ea typeface="Calibri" pitchFamily="34" charset="-122"/>
                <a:cs typeface="Calibri" pitchFamily="34" charset="-120"/>
              </a:rPr>
              <a:t>Ecart vs moyenne</a:t>
            </a:r>
            <a:endParaRPr lang="en-US" sz="1100" dirty="0"/>
          </a:p>
        </p:txBody>
      </p:sp>
      <p:sp>
        <p:nvSpPr>
          <p:cNvPr id="29" name="Text 27"/>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6167"/>
                </a:solidFill>
                <a:latin typeface="Calibri" pitchFamily="34" charset="0"/>
                <a:ea typeface="Calibri" pitchFamily="34" charset="-122"/>
                <a:cs typeface="Calibri" pitchFamily="34" charset="-120"/>
              </a:rPr>
              <a:t>07 . BILAN</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1B1F3B"/>
                </a:solidFill>
                <a:latin typeface="Cambria" pitchFamily="34" charset="0"/>
                <a:ea typeface="Cambria" pitchFamily="34" charset="-122"/>
                <a:cs typeface="Cambria" pitchFamily="34" charset="-120"/>
              </a:rPr>
              <a:t>Difficultes rencontrees et solutions</a:t>
            </a:r>
            <a:endParaRPr lang="en-US" sz="3200" dirty="0"/>
          </a:p>
        </p:txBody>
      </p:sp>
      <p:sp>
        <p:nvSpPr>
          <p:cNvPr id="4" name="Shape 2"/>
          <p:cNvSpPr/>
          <p:nvPr/>
        </p:nvSpPr>
        <p:spPr>
          <a:xfrm>
            <a:off x="548640" y="1828800"/>
            <a:ext cx="11064240" cy="777240"/>
          </a:xfrm>
          <a:prstGeom prst="roundRect">
            <a:avLst>
              <a:gd name="adj" fmla="val 5882"/>
            </a:avLst>
          </a:prstGeom>
          <a:solidFill>
            <a:srgbClr val="F5F6FA"/>
          </a:solidFill>
          <a:ln/>
        </p:spPr>
      </p:sp>
      <p:sp>
        <p:nvSpPr>
          <p:cNvPr id="5" name="Text 3"/>
          <p:cNvSpPr txBox="1"/>
          <p:nvPr/>
        </p:nvSpPr>
        <p:spPr>
          <a:xfrm>
            <a:off x="777240" y="1828800"/>
            <a:ext cx="5212080" cy="777240"/>
          </a:xfrm>
          <a:prstGeom prst="rect">
            <a:avLst/>
          </a:prstGeom>
          <a:noFill/>
          <a:ln/>
        </p:spPr>
        <p:txBody>
          <a:bodyPr wrap="square" lIns="0" tIns="0" rIns="0" bIns="0" rtlCol="0" anchor="ctr"/>
          <a:lstStyle/>
          <a:p>
            <a:pPr indent="0" marL="0">
              <a:buNone/>
            </a:pPr>
            <a:r>
              <a:rPr lang="en-US" sz="1250" dirty="0">
                <a:solidFill>
                  <a:srgbClr val="B23A48"/>
                </a:solidFill>
                <a:latin typeface="Calibri" pitchFamily="34" charset="0"/>
                <a:ea typeface="Calibri" pitchFamily="34" charset="-122"/>
                <a:cs typeface="Calibri" pitchFamily="34" charset="-120"/>
              </a:rPr>
              <a:t>Encodage de neighbourhood (221 modalites)</a:t>
            </a:r>
            <a:endParaRPr lang="en-US" sz="1250" dirty="0"/>
          </a:p>
        </p:txBody>
      </p:sp>
      <p:sp>
        <p:nvSpPr>
          <p:cNvPr id="6" name="Text 4"/>
          <p:cNvSpPr txBox="1"/>
          <p:nvPr/>
        </p:nvSpPr>
        <p:spPr>
          <a:xfrm>
            <a:off x="5989320" y="1828800"/>
            <a:ext cx="457200" cy="777240"/>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sp>
        <p:nvSpPr>
          <p:cNvPr id="7" name="Text 5"/>
          <p:cNvSpPr txBox="1"/>
          <p:nvPr/>
        </p:nvSpPr>
        <p:spPr>
          <a:xfrm>
            <a:off x="6492240" y="1828800"/>
            <a:ext cx="4937760" cy="777240"/>
          </a:xfrm>
          <a:prstGeom prst="rect">
            <a:avLst/>
          </a:prstGeom>
          <a:noFill/>
          <a:ln/>
        </p:spPr>
        <p:txBody>
          <a:bodyPr wrap="square" lIns="0" tIns="0" rIns="0" bIns="0" rtlCol="0" anchor="ctr"/>
          <a:lstStyle/>
          <a:p>
            <a:pPr indent="0" marL="0">
              <a:buNone/>
            </a:pPr>
            <a:r>
              <a:rPr lang="en-US" sz="1250" dirty="0">
                <a:solidFill>
                  <a:srgbClr val="1E7A3E"/>
                </a:solidFill>
                <a:latin typeface="Calibri" pitchFamily="34" charset="0"/>
                <a:ea typeface="Calibri" pitchFamily="34" charset="-122"/>
                <a:cs typeface="Calibri" pitchFamily="34" charset="-120"/>
              </a:rPr>
              <a:t>Encodage par frequence plutot que one-hot</a:t>
            </a:r>
            <a:endParaRPr lang="en-US" sz="1250" dirty="0"/>
          </a:p>
        </p:txBody>
      </p:sp>
      <p:sp>
        <p:nvSpPr>
          <p:cNvPr id="8" name="Shape 6"/>
          <p:cNvSpPr/>
          <p:nvPr/>
        </p:nvSpPr>
        <p:spPr>
          <a:xfrm>
            <a:off x="548640" y="2743200"/>
            <a:ext cx="11064240" cy="777240"/>
          </a:xfrm>
          <a:prstGeom prst="roundRect">
            <a:avLst>
              <a:gd name="adj" fmla="val 5882"/>
            </a:avLst>
          </a:prstGeom>
          <a:solidFill>
            <a:srgbClr val="F5F6FA"/>
          </a:solidFill>
          <a:ln/>
        </p:spPr>
      </p:sp>
      <p:sp>
        <p:nvSpPr>
          <p:cNvPr id="9" name="Text 7"/>
          <p:cNvSpPr txBox="1"/>
          <p:nvPr/>
        </p:nvSpPr>
        <p:spPr>
          <a:xfrm>
            <a:off x="777240" y="2743200"/>
            <a:ext cx="5212080" cy="777240"/>
          </a:xfrm>
          <a:prstGeom prst="rect">
            <a:avLst/>
          </a:prstGeom>
          <a:noFill/>
          <a:ln/>
        </p:spPr>
        <p:txBody>
          <a:bodyPr wrap="square" lIns="0" tIns="0" rIns="0" bIns="0" rtlCol="0" anchor="ctr"/>
          <a:lstStyle/>
          <a:p>
            <a:pPr indent="0" marL="0">
              <a:buNone/>
            </a:pPr>
            <a:r>
              <a:rPr lang="en-US" sz="1250" dirty="0">
                <a:solidFill>
                  <a:srgbClr val="B23A48"/>
                </a:solidFill>
                <a:latin typeface="Calibri" pitchFamily="34" charset="0"/>
                <a:ea typeface="Calibri" pitchFamily="34" charset="-122"/>
                <a:cs typeface="Calibri" pitchFamily="34" charset="-120"/>
              </a:rPr>
              <a:t>Temps d'entrainement du SVR (O(n²)-O(n³))</a:t>
            </a:r>
            <a:endParaRPr lang="en-US" sz="1250" dirty="0"/>
          </a:p>
        </p:txBody>
      </p:sp>
      <p:sp>
        <p:nvSpPr>
          <p:cNvPr id="10" name="Text 8"/>
          <p:cNvSpPr txBox="1"/>
          <p:nvPr/>
        </p:nvSpPr>
        <p:spPr>
          <a:xfrm>
            <a:off x="5989320" y="2743200"/>
            <a:ext cx="457200" cy="777240"/>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6492240" y="2743200"/>
            <a:ext cx="4937760" cy="777240"/>
          </a:xfrm>
          <a:prstGeom prst="rect">
            <a:avLst/>
          </a:prstGeom>
          <a:noFill/>
          <a:ln/>
        </p:spPr>
        <p:txBody>
          <a:bodyPr wrap="square" lIns="0" tIns="0" rIns="0" bIns="0" rtlCol="0" anchor="ctr"/>
          <a:lstStyle/>
          <a:p>
            <a:pPr indent="0" marL="0">
              <a:buNone/>
            </a:pPr>
            <a:r>
              <a:rPr lang="en-US" sz="1250" dirty="0">
                <a:solidFill>
                  <a:srgbClr val="1E7A3E"/>
                </a:solidFill>
                <a:latin typeface="Calibri" pitchFamily="34" charset="0"/>
                <a:ea typeface="Calibri" pitchFamily="34" charset="-122"/>
                <a:cs typeface="Calibri" pitchFamily="34" charset="-120"/>
              </a:rPr>
              <a:t>Entrainement sur un sous-echantillon de 6000 lignes, documente</a:t>
            </a:r>
            <a:endParaRPr lang="en-US" sz="1250" dirty="0"/>
          </a:p>
        </p:txBody>
      </p:sp>
      <p:sp>
        <p:nvSpPr>
          <p:cNvPr id="12" name="Shape 10"/>
          <p:cNvSpPr/>
          <p:nvPr/>
        </p:nvSpPr>
        <p:spPr>
          <a:xfrm>
            <a:off x="548640" y="3657600"/>
            <a:ext cx="11064240" cy="777240"/>
          </a:xfrm>
          <a:prstGeom prst="roundRect">
            <a:avLst>
              <a:gd name="adj" fmla="val 5882"/>
            </a:avLst>
          </a:prstGeom>
          <a:solidFill>
            <a:srgbClr val="F5F6FA"/>
          </a:solidFill>
          <a:ln/>
        </p:spPr>
      </p:sp>
      <p:sp>
        <p:nvSpPr>
          <p:cNvPr id="13" name="Text 11"/>
          <p:cNvSpPr txBox="1"/>
          <p:nvPr/>
        </p:nvSpPr>
        <p:spPr>
          <a:xfrm>
            <a:off x="777240" y="3657600"/>
            <a:ext cx="5212080" cy="777240"/>
          </a:xfrm>
          <a:prstGeom prst="rect">
            <a:avLst/>
          </a:prstGeom>
          <a:noFill/>
          <a:ln/>
        </p:spPr>
        <p:txBody>
          <a:bodyPr wrap="square" lIns="0" tIns="0" rIns="0" bIns="0" rtlCol="0" anchor="ctr"/>
          <a:lstStyle/>
          <a:p>
            <a:pPr indent="0" marL="0">
              <a:buNone/>
            </a:pPr>
            <a:r>
              <a:rPr lang="en-US" sz="1250" dirty="0">
                <a:solidFill>
                  <a:srgbClr val="B23A48"/>
                </a:solidFill>
                <a:latin typeface="Calibri" pitchFamily="34" charset="0"/>
                <a:ea typeface="Calibri" pitchFamily="34" charset="-122"/>
                <a:cs typeface="Calibri" pitchFamily="34" charset="-120"/>
              </a:rPr>
              <a:t>Python 3.14 alpha : numpy/scikit-learn casses</a:t>
            </a:r>
            <a:endParaRPr lang="en-US" sz="1250" dirty="0"/>
          </a:p>
        </p:txBody>
      </p:sp>
      <p:sp>
        <p:nvSpPr>
          <p:cNvPr id="14" name="Text 12"/>
          <p:cNvSpPr txBox="1"/>
          <p:nvPr/>
        </p:nvSpPr>
        <p:spPr>
          <a:xfrm>
            <a:off x="5989320" y="3657600"/>
            <a:ext cx="457200" cy="777240"/>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sp>
        <p:nvSpPr>
          <p:cNvPr id="15" name="Text 13"/>
          <p:cNvSpPr txBox="1"/>
          <p:nvPr/>
        </p:nvSpPr>
        <p:spPr>
          <a:xfrm>
            <a:off x="6492240" y="3657600"/>
            <a:ext cx="4937760" cy="777240"/>
          </a:xfrm>
          <a:prstGeom prst="rect">
            <a:avLst/>
          </a:prstGeom>
          <a:noFill/>
          <a:ln/>
        </p:spPr>
        <p:txBody>
          <a:bodyPr wrap="square" lIns="0" tIns="0" rIns="0" bIns="0" rtlCol="0" anchor="ctr"/>
          <a:lstStyle/>
          <a:p>
            <a:pPr indent="0" marL="0">
              <a:buNone/>
            </a:pPr>
            <a:r>
              <a:rPr lang="en-US" sz="1250" dirty="0">
                <a:solidFill>
                  <a:srgbClr val="1E7A3E"/>
                </a:solidFill>
                <a:latin typeface="Calibri" pitchFamily="34" charset="0"/>
                <a:ea typeface="Calibri" pitchFamily="34" charset="-122"/>
                <a:cs typeface="Calibri" pitchFamily="34" charset="-120"/>
              </a:rPr>
              <a:t>Environnement virtuel dedie en Python 3.12 (stable)</a:t>
            </a:r>
            <a:endParaRPr lang="en-US" sz="1250" dirty="0"/>
          </a:p>
        </p:txBody>
      </p:sp>
      <p:sp>
        <p:nvSpPr>
          <p:cNvPr id="16" name="Shape 14"/>
          <p:cNvSpPr/>
          <p:nvPr/>
        </p:nvSpPr>
        <p:spPr>
          <a:xfrm>
            <a:off x="548640" y="4572000"/>
            <a:ext cx="11064240" cy="777240"/>
          </a:xfrm>
          <a:prstGeom prst="roundRect">
            <a:avLst>
              <a:gd name="adj" fmla="val 5882"/>
            </a:avLst>
          </a:prstGeom>
          <a:solidFill>
            <a:srgbClr val="F5F6FA"/>
          </a:solidFill>
          <a:ln/>
        </p:spPr>
      </p:sp>
      <p:sp>
        <p:nvSpPr>
          <p:cNvPr id="17" name="Text 15"/>
          <p:cNvSpPr txBox="1"/>
          <p:nvPr/>
        </p:nvSpPr>
        <p:spPr>
          <a:xfrm>
            <a:off x="777240" y="4572000"/>
            <a:ext cx="5212080" cy="777240"/>
          </a:xfrm>
          <a:prstGeom prst="rect">
            <a:avLst/>
          </a:prstGeom>
          <a:noFill/>
          <a:ln/>
        </p:spPr>
        <p:txBody>
          <a:bodyPr wrap="square" lIns="0" tIns="0" rIns="0" bIns="0" rtlCol="0" anchor="ctr"/>
          <a:lstStyle/>
          <a:p>
            <a:pPr indent="0" marL="0">
              <a:buNone/>
            </a:pPr>
            <a:r>
              <a:rPr lang="en-US" sz="1250" dirty="0">
                <a:solidFill>
                  <a:srgbClr val="B23A48"/>
                </a:solidFill>
                <a:latin typeface="Calibri" pitchFamily="34" charset="0"/>
                <a:ea typeface="Calibri" pitchFamily="34" charset="-122"/>
                <a:cs typeface="Calibri" pitchFamily="34" charset="-120"/>
              </a:rPr>
              <a:t>Selection interactive d'un point sur la carte</a:t>
            </a:r>
            <a:endParaRPr lang="en-US" sz="1250" dirty="0"/>
          </a:p>
        </p:txBody>
      </p:sp>
      <p:sp>
        <p:nvSpPr>
          <p:cNvPr id="18" name="Text 16"/>
          <p:cNvSpPr txBox="1"/>
          <p:nvPr/>
        </p:nvSpPr>
        <p:spPr>
          <a:xfrm>
            <a:off x="5989320" y="4572000"/>
            <a:ext cx="457200" cy="777240"/>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sp>
        <p:nvSpPr>
          <p:cNvPr id="19" name="Text 17"/>
          <p:cNvSpPr txBox="1"/>
          <p:nvPr/>
        </p:nvSpPr>
        <p:spPr>
          <a:xfrm>
            <a:off x="6492240" y="4572000"/>
            <a:ext cx="4937760" cy="777240"/>
          </a:xfrm>
          <a:prstGeom prst="rect">
            <a:avLst/>
          </a:prstGeom>
          <a:noFill/>
          <a:ln/>
        </p:spPr>
        <p:txBody>
          <a:bodyPr wrap="square" lIns="0" tIns="0" rIns="0" bIns="0" rtlCol="0" anchor="ctr"/>
          <a:lstStyle/>
          <a:p>
            <a:pPr indent="0" marL="0">
              <a:buNone/>
            </a:pPr>
            <a:r>
              <a:rPr lang="en-US" sz="1250" dirty="0">
                <a:solidFill>
                  <a:srgbClr val="1E7A3E"/>
                </a:solidFill>
                <a:latin typeface="Calibri" pitchFamily="34" charset="0"/>
                <a:ea typeface="Calibri" pitchFamily="34" charset="-122"/>
                <a:cs typeface="Calibri" pitchFamily="34" charset="-120"/>
              </a:rPr>
              <a:t>streamlit-folium pour capter l'evenement de clic</a:t>
            </a:r>
            <a:endParaRPr lang="en-US" sz="1250" dirty="0"/>
          </a:p>
        </p:txBody>
      </p:sp>
      <p:sp>
        <p:nvSpPr>
          <p:cNvPr id="20" name="Shape 18"/>
          <p:cNvSpPr/>
          <p:nvPr/>
        </p:nvSpPr>
        <p:spPr>
          <a:xfrm>
            <a:off x="548640" y="5486400"/>
            <a:ext cx="11064240" cy="777240"/>
          </a:xfrm>
          <a:prstGeom prst="roundRect">
            <a:avLst>
              <a:gd name="adj" fmla="val 5882"/>
            </a:avLst>
          </a:prstGeom>
          <a:solidFill>
            <a:srgbClr val="F5F6FA"/>
          </a:solidFill>
          <a:ln/>
        </p:spPr>
      </p:sp>
      <p:sp>
        <p:nvSpPr>
          <p:cNvPr id="21" name="Text 19"/>
          <p:cNvSpPr txBox="1"/>
          <p:nvPr/>
        </p:nvSpPr>
        <p:spPr>
          <a:xfrm>
            <a:off x="777240" y="5486400"/>
            <a:ext cx="5212080" cy="777240"/>
          </a:xfrm>
          <a:prstGeom prst="rect">
            <a:avLst/>
          </a:prstGeom>
          <a:noFill/>
          <a:ln/>
        </p:spPr>
        <p:txBody>
          <a:bodyPr wrap="square" lIns="0" tIns="0" rIns="0" bIns="0" rtlCol="0" anchor="ctr"/>
          <a:lstStyle/>
          <a:p>
            <a:pPr indent="0" marL="0">
              <a:buNone/>
            </a:pPr>
            <a:r>
              <a:rPr lang="en-US" sz="1250" dirty="0">
                <a:solidFill>
                  <a:srgbClr val="B23A48"/>
                </a:solidFill>
                <a:latin typeface="Calibri" pitchFamily="34" charset="0"/>
                <a:ea typeface="Calibri" pitchFamily="34" charset="-122"/>
                <a:cs typeface="Calibri" pitchFamily="34" charset="-120"/>
              </a:rPr>
              <a:t>Import du module src/ depuis l'app Streamlit</a:t>
            </a:r>
            <a:endParaRPr lang="en-US" sz="1250" dirty="0"/>
          </a:p>
        </p:txBody>
      </p:sp>
      <p:sp>
        <p:nvSpPr>
          <p:cNvPr id="22" name="Text 20"/>
          <p:cNvSpPr txBox="1"/>
          <p:nvPr/>
        </p:nvSpPr>
        <p:spPr>
          <a:xfrm>
            <a:off x="5989320" y="5486400"/>
            <a:ext cx="457200" cy="777240"/>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sp>
        <p:nvSpPr>
          <p:cNvPr id="23" name="Text 21"/>
          <p:cNvSpPr txBox="1"/>
          <p:nvPr/>
        </p:nvSpPr>
        <p:spPr>
          <a:xfrm>
            <a:off x="6492240" y="5486400"/>
            <a:ext cx="4937760" cy="777240"/>
          </a:xfrm>
          <a:prstGeom prst="rect">
            <a:avLst/>
          </a:prstGeom>
          <a:noFill/>
          <a:ln/>
        </p:spPr>
        <p:txBody>
          <a:bodyPr wrap="square" lIns="0" tIns="0" rIns="0" bIns="0" rtlCol="0" anchor="ctr"/>
          <a:lstStyle/>
          <a:p>
            <a:pPr indent="0" marL="0">
              <a:buNone/>
            </a:pPr>
            <a:r>
              <a:rPr lang="en-US" sz="1250" dirty="0">
                <a:solidFill>
                  <a:srgbClr val="1E7A3E"/>
                </a:solidFill>
                <a:latin typeface="Calibri" pitchFamily="34" charset="0"/>
                <a:ea typeface="Calibri" pitchFamily="34" charset="-122"/>
                <a:cs typeface="Calibri" pitchFamily="34" charset="-120"/>
              </a:rPr>
              <a:t>Ajout explicite de la racine du projet a sys.path</a:t>
            </a:r>
            <a:endParaRPr lang="en-US" sz="1250" dirty="0"/>
          </a:p>
        </p:txBody>
      </p:sp>
      <p:sp>
        <p:nvSpPr>
          <p:cNvPr id="24" name="Text 22"/>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F3C7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ctr"/>
          <a:lstStyle/>
          <a:p>
            <a:pPr indent="0" marL="0">
              <a:buNone/>
            </a:pPr>
            <a:r>
              <a:rPr lang="en-US" sz="1300" b="1" spc="200" kern="0" dirty="0">
                <a:solidFill>
                  <a:srgbClr val="F9E795"/>
                </a:solidFill>
                <a:latin typeface="Calibri" pitchFamily="34" charset="0"/>
                <a:ea typeface="Calibri" pitchFamily="34" charset="-122"/>
                <a:cs typeface="Calibri" pitchFamily="34" charset="-120"/>
              </a:rPr>
              <a:t>CONCLUSION</a:t>
            </a:r>
            <a:endParaRPr lang="en-US" sz="1300" dirty="0"/>
          </a:p>
        </p:txBody>
      </p:sp>
      <p:sp>
        <p:nvSpPr>
          <p:cNvPr id="3" name="Text 1"/>
          <p:cNvSpPr txBox="1"/>
          <p:nvPr/>
        </p:nvSpPr>
        <p:spPr>
          <a:xfrm>
            <a:off x="548640" y="685800"/>
            <a:ext cx="105156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Bilan et perspectives</a:t>
            </a:r>
            <a:endParaRPr lang="en-US" sz="3200" dirty="0"/>
          </a:p>
        </p:txBody>
      </p:sp>
      <p:sp>
        <p:nvSpPr>
          <p:cNvPr id="4" name="Text 2"/>
          <p:cNvSpPr txBox="1"/>
          <p:nvPr/>
        </p:nvSpPr>
        <p:spPr>
          <a:xfrm>
            <a:off x="548640" y="1554480"/>
            <a:ext cx="10515600" cy="365760"/>
          </a:xfrm>
          <a:prstGeom prst="rect">
            <a:avLst/>
          </a:prstGeom>
          <a:noFill/>
          <a:ln/>
        </p:spPr>
        <p:txBody>
          <a:bodyPr wrap="square" lIns="0" tIns="0" rIns="0" bIns="0" rtlCol="0" anchor="ctr"/>
          <a:lstStyle/>
          <a:p>
            <a:pPr indent="0" marL="0">
              <a:buNone/>
            </a:pPr>
            <a:r>
              <a:rPr lang="en-US" sz="1400" dirty="0">
                <a:solidFill>
                  <a:srgbClr val="CFD5EE"/>
                </a:solidFill>
                <a:latin typeface="Calibri" pitchFamily="34" charset="0"/>
                <a:ea typeface="Calibri" pitchFamily="34" charset="-122"/>
                <a:cs typeface="Calibri" pitchFamily="34" charset="-120"/>
              </a:rPr>
              <a:t>Tous les objectifs du cahier des charges ont ete atteints ou depasses :</a:t>
            </a:r>
            <a:endParaRPr lang="en-US" sz="1400" dirty="0"/>
          </a:p>
        </p:txBody>
      </p:sp>
      <p:sp>
        <p:nvSpPr>
          <p:cNvPr id="5" name="Text 3"/>
          <p:cNvSpPr txBox="1"/>
          <p:nvPr/>
        </p:nvSpPr>
        <p:spPr>
          <a:xfrm>
            <a:off x="548640" y="2011680"/>
            <a:ext cx="5486400" cy="2743200"/>
          </a:xfrm>
          <a:prstGeom prst="rect">
            <a:avLst/>
          </a:prstGeom>
          <a:noFill/>
          <a:ln/>
        </p:spPr>
        <p:txBody>
          <a:bodyPr wrap="square" lIns="0" tIns="0" rIns="0" bIns="0" rtlCol="0" anchor="t"/>
          <a:lstStyle/>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12 modeles compares (objectif : 10) avec un protocole identique</a:t>
            </a:r>
            <a:endParaRPr lang="en-US" sz="1300" dirty="0"/>
          </a:p>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4 metriques + validation croisee a 5 plis</a:t>
            </a:r>
            <a:endParaRPr lang="en-US" sz="1300" dirty="0"/>
          </a:p>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Hyperparametres optimises, modele final XGBoost (R² = 0,453)</a:t>
            </a:r>
            <a:endParaRPr lang="en-US" sz="1300" dirty="0"/>
          </a:p>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Interface graphique complete (exploration, entrainement, prediction + carte)</a:t>
            </a:r>
            <a:endParaRPr lang="en-US" sz="1300" dirty="0"/>
          </a:p>
        </p:txBody>
      </p:sp>
      <p:sp>
        <p:nvSpPr>
          <p:cNvPr id="6" name="Text 4"/>
          <p:cNvSpPr txBox="1"/>
          <p:nvPr/>
        </p:nvSpPr>
        <p:spPr>
          <a:xfrm>
            <a:off x="6492240" y="2011680"/>
            <a:ext cx="4572000" cy="365760"/>
          </a:xfrm>
          <a:prstGeom prst="rect">
            <a:avLst/>
          </a:prstGeom>
          <a:noFill/>
          <a:ln/>
        </p:spPr>
        <p:txBody>
          <a:bodyPr wrap="square" lIns="0" tIns="0" rIns="0" bIns="0" rtlCol="0" anchor="ctr"/>
          <a:lstStyle/>
          <a:p>
            <a:pPr indent="0" marL="0">
              <a:buNone/>
            </a:pPr>
            <a:r>
              <a:rPr lang="en-US" sz="1600" b="1" dirty="0">
                <a:solidFill>
                  <a:srgbClr val="F9E795"/>
                </a:solidFill>
                <a:latin typeface="Cambria" pitchFamily="34" charset="0"/>
                <a:ea typeface="Cambria" pitchFamily="34" charset="-122"/>
                <a:cs typeface="Cambria" pitchFamily="34" charset="-120"/>
              </a:rPr>
              <a:t>Perspectives</a:t>
            </a:r>
            <a:endParaRPr lang="en-US" sz="1600" dirty="0"/>
          </a:p>
        </p:txBody>
      </p:sp>
      <p:sp>
        <p:nvSpPr>
          <p:cNvPr id="7" name="Text 5"/>
          <p:cNvSpPr txBox="1"/>
          <p:nvPr/>
        </p:nvSpPr>
        <p:spPr>
          <a:xfrm>
            <a:off x="6492240" y="2423160"/>
            <a:ext cx="4572000" cy="2468880"/>
          </a:xfrm>
          <a:prstGeom prst="rect">
            <a:avLst/>
          </a:prstGeom>
          <a:noFill/>
          <a:ln/>
        </p:spPr>
        <p:txBody>
          <a:bodyPr wrap="square" lIns="0" tIns="0" rIns="0" bIns="0" rtlCol="0" anchor="t"/>
          <a:lstStyle/>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Enrichir avec les avis textuels et les photos</a:t>
            </a:r>
            <a:endParaRPr lang="en-US" sz="1300" dirty="0"/>
          </a:p>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Target encoding avec validation croisee imbriquee</a:t>
            </a:r>
            <a:endParaRPr lang="en-US" sz="1300" dirty="0"/>
          </a:p>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Stacking XGBoost + Extra Trees + Random Forest</a:t>
            </a:r>
            <a:endParaRPr lang="en-US" sz="1300" dirty="0"/>
          </a:p>
          <a:p>
            <a:pPr marL="228600" indent="-2286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Deploiement cloud avec base de donnees persistante</a:t>
            </a:r>
            <a:endParaRPr lang="en-US" sz="1300" dirty="0"/>
          </a:p>
        </p:txBody>
      </p:sp>
      <p:sp>
        <p:nvSpPr>
          <p:cNvPr id="8" name="Text 6"/>
          <p:cNvSpPr txBox="1"/>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F3C7E"/>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232C5E"/>
          </a:solidFill>
          <a:ln/>
        </p:spPr>
      </p:sp>
      <p:sp>
        <p:nvSpPr>
          <p:cNvPr id="3" name="Shape 1"/>
          <p:cNvSpPr/>
          <p:nvPr/>
        </p:nvSpPr>
        <p:spPr>
          <a:xfrm>
            <a:off x="9144000" y="3657600"/>
            <a:ext cx="5486400" cy="5486400"/>
          </a:xfrm>
          <a:prstGeom prst="ellipse">
            <a:avLst/>
          </a:prstGeom>
          <a:solidFill>
            <a:srgbClr val="232C5E"/>
          </a:solidFill>
          <a:ln/>
        </p:spPr>
      </p:sp>
      <p:sp>
        <p:nvSpPr>
          <p:cNvPr id="4" name="Text 2"/>
          <p:cNvSpPr txBox="1"/>
          <p:nvPr/>
        </p:nvSpPr>
        <p:spPr>
          <a:xfrm>
            <a:off x="548640" y="2377440"/>
            <a:ext cx="1097280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Merci pour votre attention</a:t>
            </a:r>
            <a:endParaRPr lang="en-US" sz="4000" dirty="0"/>
          </a:p>
        </p:txBody>
      </p:sp>
      <p:sp>
        <p:nvSpPr>
          <p:cNvPr id="5" name="Text 3"/>
          <p:cNvSpPr txBox="1"/>
          <p:nvPr/>
        </p:nvSpPr>
        <p:spPr>
          <a:xfrm>
            <a:off x="548640" y="3291840"/>
            <a:ext cx="10972800" cy="640080"/>
          </a:xfrm>
          <a:prstGeom prst="rect">
            <a:avLst/>
          </a:prstGeom>
          <a:noFill/>
          <a:ln/>
        </p:spPr>
        <p:txBody>
          <a:bodyPr wrap="square" lIns="0" tIns="0" rIns="0" bIns="0" rtlCol="0" anchor="ctr"/>
          <a:lstStyle/>
          <a:p>
            <a:pPr algn="ctr" indent="0" marL="0">
              <a:buNone/>
            </a:pPr>
            <a:r>
              <a:rPr lang="en-US" sz="2200" i="1" dirty="0">
                <a:solidFill>
                  <a:srgbClr val="F96167"/>
                </a:solidFill>
                <a:latin typeface="Cambria" pitchFamily="34" charset="0"/>
                <a:ea typeface="Cambria" pitchFamily="34" charset="-122"/>
                <a:cs typeface="Cambria" pitchFamily="34" charset="-120"/>
              </a:rPr>
              <a:t>Questions ?</a:t>
            </a:r>
            <a:endParaRPr lang="en-US" sz="2200" dirty="0"/>
          </a:p>
        </p:txBody>
      </p:sp>
      <p:sp>
        <p:nvSpPr>
          <p:cNvPr id="6" name="Text 4"/>
          <p:cNvSpPr txBox="1"/>
          <p:nvPr/>
        </p:nvSpPr>
        <p:spPr>
          <a:xfrm>
            <a:off x="548640" y="4846320"/>
            <a:ext cx="10972800" cy="457200"/>
          </a:xfrm>
          <a:prstGeom prst="rect">
            <a:avLst/>
          </a:prstGeom>
          <a:noFill/>
          <a:ln/>
        </p:spPr>
        <p:txBody>
          <a:bodyPr wrap="square" lIns="0" tIns="0" rIns="0" bIns="0" rtlCol="0" anchor="ctr"/>
          <a:lstStyle/>
          <a:p>
            <a:pPr algn="ctr" indent="0" marL="0">
              <a:buNone/>
            </a:pPr>
            <a:r>
              <a:rPr lang="en-US" sz="1400" dirty="0">
                <a:solidFill>
                  <a:srgbClr val="F9E795"/>
                </a:solidFill>
                <a:latin typeface="Calibri" pitchFamily="34" charset="0"/>
                <a:ea typeface="Calibri" pitchFamily="34" charset="-122"/>
                <a:cs typeface="Calibri" pitchFamily="34" charset="-120"/>
              </a:rPr>
              <a:t>github.com/kasdiines/airbnb-nyc-price-prediction</a:t>
            </a:r>
            <a:endParaRPr lang="en-US" sz="1400" dirty="0"/>
          </a:p>
        </p:txBody>
      </p:sp>
      <p:sp>
        <p:nvSpPr>
          <p:cNvPr id="7" name="Text 5"/>
          <p:cNvSpPr txBox="1"/>
          <p:nvPr/>
        </p:nvSpPr>
        <p:spPr>
          <a:xfrm>
            <a:off x="548640" y="5303520"/>
            <a:ext cx="10972800" cy="365760"/>
          </a:xfrm>
          <a:prstGeom prst="rect">
            <a:avLst/>
          </a:prstGeom>
          <a:noFill/>
          <a:ln/>
        </p:spPr>
        <p:txBody>
          <a:bodyPr wrap="square" lIns="0" tIns="0" rIns="0" bIns="0" rtlCol="0" anchor="ctr"/>
          <a:lstStyle/>
          <a:p>
            <a:pPr algn="ctr" indent="0" marL="0">
              <a:buNone/>
            </a:pPr>
            <a:r>
              <a:rPr lang="en-US" sz="1200" dirty="0">
                <a:solidFill>
                  <a:srgbClr val="CFD5EE"/>
                </a:solidFill>
                <a:latin typeface="Calibri" pitchFamily="34" charset="0"/>
                <a:ea typeface="Calibri" pitchFamily="34" charset="-122"/>
                <a:cs typeface="Calibri" pitchFamily="34" charset="-120"/>
              </a:rPr>
              <a:t>Ines Kasdi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Universite - Projet Machine Learning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Ines Kasdi</dc:creator>
  <cp:lastModifiedBy>Ines Kasdi</cp:lastModifiedBy>
  <cp:revision>1</cp:revision>
  <dcterms:created xsi:type="dcterms:W3CDTF">2026-09-07T09:06:56Z</dcterms:created>
  <dcterms:modified xsi:type="dcterms:W3CDTF">2026-09-07T09:06:56Z</dcterms:modified>
</cp:coreProperties>
</file>